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9" r:id="rId3"/>
    <p:sldId id="263" r:id="rId4"/>
    <p:sldId id="265" r:id="rId5"/>
    <p:sldId id="257" r:id="rId6"/>
    <p:sldId id="262" r:id="rId7"/>
    <p:sldId id="267" r:id="rId8"/>
    <p:sldId id="260" r:id="rId9"/>
    <p:sldId id="261" r:id="rId10"/>
    <p:sldId id="266" r:id="rId11"/>
    <p:sldId id="269" r:id="rId12"/>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4" d="100"/>
          <a:sy n="64" d="100"/>
        </p:scale>
        <p:origin x="450" y="28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0D38294-B890-0C09-555F-978317C68011}"/>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16DBD99C-A751-E79C-0E54-367DF1308C7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E6AC9BD6-A52A-3004-BF02-CA4E0DCBF2DD}"/>
              </a:ext>
            </a:extLst>
          </p:cNvPr>
          <p:cNvSpPr>
            <a:spLocks noGrp="1"/>
          </p:cNvSpPr>
          <p:nvPr>
            <p:ph type="dt" sz="half" idx="10"/>
          </p:nvPr>
        </p:nvSpPr>
        <p:spPr/>
        <p:txBody>
          <a:bodyPr/>
          <a:lstStyle/>
          <a:p>
            <a:fld id="{B0518848-E628-4826-8FF2-35808C85F00A}" type="datetimeFigureOut">
              <a:rPr kumimoji="1" lang="ja-JP" altLang="en-US" smtClean="0"/>
              <a:t>2025/12/25</a:t>
            </a:fld>
            <a:endParaRPr kumimoji="1" lang="ja-JP" altLang="en-US"/>
          </a:p>
        </p:txBody>
      </p:sp>
      <p:sp>
        <p:nvSpPr>
          <p:cNvPr id="5" name="フッター プレースホルダー 4">
            <a:extLst>
              <a:ext uri="{FF2B5EF4-FFF2-40B4-BE49-F238E27FC236}">
                <a16:creationId xmlns:a16="http://schemas.microsoft.com/office/drawing/2014/main" id="{4D10A046-FF9C-9348-B097-CCFE3DC07844}"/>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4D823BDD-7755-9A5D-DA34-94A979891312}"/>
              </a:ext>
            </a:extLst>
          </p:cNvPr>
          <p:cNvSpPr>
            <a:spLocks noGrp="1"/>
          </p:cNvSpPr>
          <p:nvPr>
            <p:ph type="sldNum" sz="quarter" idx="12"/>
          </p:nvPr>
        </p:nvSpPr>
        <p:spPr/>
        <p:txBody>
          <a:bodyPr/>
          <a:lstStyle/>
          <a:p>
            <a:fld id="{F5ABACDA-0557-4DC9-9101-16427DEE9152}" type="slidenum">
              <a:rPr kumimoji="1" lang="ja-JP" altLang="en-US" smtClean="0"/>
              <a:t>‹#›</a:t>
            </a:fld>
            <a:endParaRPr kumimoji="1" lang="ja-JP" altLang="en-US"/>
          </a:p>
        </p:txBody>
      </p:sp>
    </p:spTree>
    <p:extLst>
      <p:ext uri="{BB962C8B-B14F-4D97-AF65-F5344CB8AC3E}">
        <p14:creationId xmlns:p14="http://schemas.microsoft.com/office/powerpoint/2010/main" val="9474623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C9E2AD9-E519-2622-7D17-D5B531B090F3}"/>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C8CCBA3A-621F-D431-95B5-766E03AE25E6}"/>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883DD827-0D59-FE1E-4709-13D39F910FD4}"/>
              </a:ext>
            </a:extLst>
          </p:cNvPr>
          <p:cNvSpPr>
            <a:spLocks noGrp="1"/>
          </p:cNvSpPr>
          <p:nvPr>
            <p:ph type="dt" sz="half" idx="10"/>
          </p:nvPr>
        </p:nvSpPr>
        <p:spPr/>
        <p:txBody>
          <a:bodyPr/>
          <a:lstStyle/>
          <a:p>
            <a:fld id="{B0518848-E628-4826-8FF2-35808C85F00A}" type="datetimeFigureOut">
              <a:rPr kumimoji="1" lang="ja-JP" altLang="en-US" smtClean="0"/>
              <a:t>2025/12/25</a:t>
            </a:fld>
            <a:endParaRPr kumimoji="1" lang="ja-JP" altLang="en-US"/>
          </a:p>
        </p:txBody>
      </p:sp>
      <p:sp>
        <p:nvSpPr>
          <p:cNvPr id="5" name="フッター プレースホルダー 4">
            <a:extLst>
              <a:ext uri="{FF2B5EF4-FFF2-40B4-BE49-F238E27FC236}">
                <a16:creationId xmlns:a16="http://schemas.microsoft.com/office/drawing/2014/main" id="{DDAC3C6F-B32F-0067-5FD1-DF73A9EAC8DA}"/>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B9ECF99B-AB61-4498-EBA5-0C61EA0FD4CC}"/>
              </a:ext>
            </a:extLst>
          </p:cNvPr>
          <p:cNvSpPr>
            <a:spLocks noGrp="1"/>
          </p:cNvSpPr>
          <p:nvPr>
            <p:ph type="sldNum" sz="quarter" idx="12"/>
          </p:nvPr>
        </p:nvSpPr>
        <p:spPr/>
        <p:txBody>
          <a:bodyPr/>
          <a:lstStyle/>
          <a:p>
            <a:fld id="{F5ABACDA-0557-4DC9-9101-16427DEE9152}" type="slidenum">
              <a:rPr kumimoji="1" lang="ja-JP" altLang="en-US" smtClean="0"/>
              <a:t>‹#›</a:t>
            </a:fld>
            <a:endParaRPr kumimoji="1" lang="ja-JP" altLang="en-US"/>
          </a:p>
        </p:txBody>
      </p:sp>
    </p:spTree>
    <p:extLst>
      <p:ext uri="{BB962C8B-B14F-4D97-AF65-F5344CB8AC3E}">
        <p14:creationId xmlns:p14="http://schemas.microsoft.com/office/powerpoint/2010/main" val="7497727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C651ECF-E838-C77F-8D26-408CBA51F18A}"/>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408DE609-5476-8CF6-8CAB-658B5A9A478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56BC17BA-2FC6-F090-F2E9-51AFC0C70FB4}"/>
              </a:ext>
            </a:extLst>
          </p:cNvPr>
          <p:cNvSpPr>
            <a:spLocks noGrp="1"/>
          </p:cNvSpPr>
          <p:nvPr>
            <p:ph type="dt" sz="half" idx="10"/>
          </p:nvPr>
        </p:nvSpPr>
        <p:spPr/>
        <p:txBody>
          <a:bodyPr/>
          <a:lstStyle/>
          <a:p>
            <a:fld id="{B0518848-E628-4826-8FF2-35808C85F00A}" type="datetimeFigureOut">
              <a:rPr kumimoji="1" lang="ja-JP" altLang="en-US" smtClean="0"/>
              <a:t>2025/12/25</a:t>
            </a:fld>
            <a:endParaRPr kumimoji="1" lang="ja-JP" altLang="en-US"/>
          </a:p>
        </p:txBody>
      </p:sp>
      <p:sp>
        <p:nvSpPr>
          <p:cNvPr id="5" name="フッター プレースホルダー 4">
            <a:extLst>
              <a:ext uri="{FF2B5EF4-FFF2-40B4-BE49-F238E27FC236}">
                <a16:creationId xmlns:a16="http://schemas.microsoft.com/office/drawing/2014/main" id="{01A3B611-6930-51E1-EAA4-DBAB3C468D7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48AD6FB7-0C77-4C89-54FA-2DC52B2E003E}"/>
              </a:ext>
            </a:extLst>
          </p:cNvPr>
          <p:cNvSpPr>
            <a:spLocks noGrp="1"/>
          </p:cNvSpPr>
          <p:nvPr>
            <p:ph type="sldNum" sz="quarter" idx="12"/>
          </p:nvPr>
        </p:nvSpPr>
        <p:spPr/>
        <p:txBody>
          <a:bodyPr/>
          <a:lstStyle/>
          <a:p>
            <a:fld id="{F5ABACDA-0557-4DC9-9101-16427DEE9152}" type="slidenum">
              <a:rPr kumimoji="1" lang="ja-JP" altLang="en-US" smtClean="0"/>
              <a:t>‹#›</a:t>
            </a:fld>
            <a:endParaRPr kumimoji="1" lang="ja-JP" altLang="en-US"/>
          </a:p>
        </p:txBody>
      </p:sp>
    </p:spTree>
    <p:extLst>
      <p:ext uri="{BB962C8B-B14F-4D97-AF65-F5344CB8AC3E}">
        <p14:creationId xmlns:p14="http://schemas.microsoft.com/office/powerpoint/2010/main" val="42827821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1BA8AB4-6EC2-4EC2-EFEA-6115CD5BBDFD}"/>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A752C8AF-DB5C-249A-14D6-756A75F9D8C7}"/>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55FA7894-7ECC-84D6-497A-0D6480597DC0}"/>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BC1B5878-B005-5C68-9CDA-FE949E110209}"/>
              </a:ext>
            </a:extLst>
          </p:cNvPr>
          <p:cNvSpPr>
            <a:spLocks noGrp="1"/>
          </p:cNvSpPr>
          <p:nvPr>
            <p:ph type="dt" sz="half" idx="10"/>
          </p:nvPr>
        </p:nvSpPr>
        <p:spPr/>
        <p:txBody>
          <a:bodyPr/>
          <a:lstStyle/>
          <a:p>
            <a:fld id="{B0518848-E628-4826-8FF2-35808C85F00A}" type="datetimeFigureOut">
              <a:rPr kumimoji="1" lang="ja-JP" altLang="en-US" smtClean="0"/>
              <a:t>2025/12/25</a:t>
            </a:fld>
            <a:endParaRPr kumimoji="1" lang="ja-JP" altLang="en-US"/>
          </a:p>
        </p:txBody>
      </p:sp>
      <p:sp>
        <p:nvSpPr>
          <p:cNvPr id="6" name="フッター プレースホルダー 5">
            <a:extLst>
              <a:ext uri="{FF2B5EF4-FFF2-40B4-BE49-F238E27FC236}">
                <a16:creationId xmlns:a16="http://schemas.microsoft.com/office/drawing/2014/main" id="{F33CC519-529A-2F4E-1D44-F47EF9BC133C}"/>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A79BDC06-0BC5-FE98-283B-84F76BFAC0C6}"/>
              </a:ext>
            </a:extLst>
          </p:cNvPr>
          <p:cNvSpPr>
            <a:spLocks noGrp="1"/>
          </p:cNvSpPr>
          <p:nvPr>
            <p:ph type="sldNum" sz="quarter" idx="12"/>
          </p:nvPr>
        </p:nvSpPr>
        <p:spPr/>
        <p:txBody>
          <a:bodyPr/>
          <a:lstStyle/>
          <a:p>
            <a:fld id="{F5ABACDA-0557-4DC9-9101-16427DEE9152}" type="slidenum">
              <a:rPr kumimoji="1" lang="ja-JP" altLang="en-US" smtClean="0"/>
              <a:t>‹#›</a:t>
            </a:fld>
            <a:endParaRPr kumimoji="1" lang="ja-JP" altLang="en-US"/>
          </a:p>
        </p:txBody>
      </p:sp>
    </p:spTree>
    <p:extLst>
      <p:ext uri="{BB962C8B-B14F-4D97-AF65-F5344CB8AC3E}">
        <p14:creationId xmlns:p14="http://schemas.microsoft.com/office/powerpoint/2010/main" val="6939949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B8185D8-ADD5-5953-3405-6D2BD33AFCB7}"/>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5F6DEEDD-2914-EC3E-BF84-C1DADDC56B2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4176781F-2885-1B6E-F85F-3E5AB13B9CFC}"/>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4072362E-3F23-23DC-0E4C-9DEB5BF7EE3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0566680F-9905-21A4-CD17-6B52AF1C1790}"/>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9FBE7B95-EE33-83F6-0058-F37E301BE747}"/>
              </a:ext>
            </a:extLst>
          </p:cNvPr>
          <p:cNvSpPr>
            <a:spLocks noGrp="1"/>
          </p:cNvSpPr>
          <p:nvPr>
            <p:ph type="dt" sz="half" idx="10"/>
          </p:nvPr>
        </p:nvSpPr>
        <p:spPr/>
        <p:txBody>
          <a:bodyPr/>
          <a:lstStyle/>
          <a:p>
            <a:fld id="{B0518848-E628-4826-8FF2-35808C85F00A}" type="datetimeFigureOut">
              <a:rPr kumimoji="1" lang="ja-JP" altLang="en-US" smtClean="0"/>
              <a:t>2025/12/25</a:t>
            </a:fld>
            <a:endParaRPr kumimoji="1" lang="ja-JP" altLang="en-US"/>
          </a:p>
        </p:txBody>
      </p:sp>
      <p:sp>
        <p:nvSpPr>
          <p:cNvPr id="8" name="フッター プレースホルダー 7">
            <a:extLst>
              <a:ext uri="{FF2B5EF4-FFF2-40B4-BE49-F238E27FC236}">
                <a16:creationId xmlns:a16="http://schemas.microsoft.com/office/drawing/2014/main" id="{0D686654-EC6D-1C9B-EF85-A31BDA3DA6D5}"/>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0631D2B4-F52A-61DE-71BD-02D94BC768B7}"/>
              </a:ext>
            </a:extLst>
          </p:cNvPr>
          <p:cNvSpPr>
            <a:spLocks noGrp="1"/>
          </p:cNvSpPr>
          <p:nvPr>
            <p:ph type="sldNum" sz="quarter" idx="12"/>
          </p:nvPr>
        </p:nvSpPr>
        <p:spPr/>
        <p:txBody>
          <a:bodyPr/>
          <a:lstStyle/>
          <a:p>
            <a:fld id="{F5ABACDA-0557-4DC9-9101-16427DEE9152}" type="slidenum">
              <a:rPr kumimoji="1" lang="ja-JP" altLang="en-US" smtClean="0"/>
              <a:t>‹#›</a:t>
            </a:fld>
            <a:endParaRPr kumimoji="1" lang="ja-JP" altLang="en-US"/>
          </a:p>
        </p:txBody>
      </p:sp>
    </p:spTree>
    <p:extLst>
      <p:ext uri="{BB962C8B-B14F-4D97-AF65-F5344CB8AC3E}">
        <p14:creationId xmlns:p14="http://schemas.microsoft.com/office/powerpoint/2010/main" val="22196455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92A818C-296C-A064-F39A-F5C9076DD653}"/>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A4C9909D-675F-6655-2040-0339555B8F0D}"/>
              </a:ext>
            </a:extLst>
          </p:cNvPr>
          <p:cNvSpPr>
            <a:spLocks noGrp="1"/>
          </p:cNvSpPr>
          <p:nvPr>
            <p:ph type="dt" sz="half" idx="10"/>
          </p:nvPr>
        </p:nvSpPr>
        <p:spPr/>
        <p:txBody>
          <a:bodyPr/>
          <a:lstStyle/>
          <a:p>
            <a:fld id="{B0518848-E628-4826-8FF2-35808C85F00A}" type="datetimeFigureOut">
              <a:rPr kumimoji="1" lang="ja-JP" altLang="en-US" smtClean="0"/>
              <a:t>2025/12/25</a:t>
            </a:fld>
            <a:endParaRPr kumimoji="1" lang="ja-JP" altLang="en-US"/>
          </a:p>
        </p:txBody>
      </p:sp>
      <p:sp>
        <p:nvSpPr>
          <p:cNvPr id="4" name="フッター プレースホルダー 3">
            <a:extLst>
              <a:ext uri="{FF2B5EF4-FFF2-40B4-BE49-F238E27FC236}">
                <a16:creationId xmlns:a16="http://schemas.microsoft.com/office/drawing/2014/main" id="{E89FB9D5-092E-7F8E-2C59-A74883CAE38B}"/>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C8B0E383-A545-2D01-4A06-3B0F35497345}"/>
              </a:ext>
            </a:extLst>
          </p:cNvPr>
          <p:cNvSpPr>
            <a:spLocks noGrp="1"/>
          </p:cNvSpPr>
          <p:nvPr>
            <p:ph type="sldNum" sz="quarter" idx="12"/>
          </p:nvPr>
        </p:nvSpPr>
        <p:spPr/>
        <p:txBody>
          <a:bodyPr/>
          <a:lstStyle/>
          <a:p>
            <a:fld id="{F5ABACDA-0557-4DC9-9101-16427DEE9152}" type="slidenum">
              <a:rPr kumimoji="1" lang="ja-JP" altLang="en-US" smtClean="0"/>
              <a:t>‹#›</a:t>
            </a:fld>
            <a:endParaRPr kumimoji="1" lang="ja-JP" altLang="en-US"/>
          </a:p>
        </p:txBody>
      </p:sp>
    </p:spTree>
    <p:extLst>
      <p:ext uri="{BB962C8B-B14F-4D97-AF65-F5344CB8AC3E}">
        <p14:creationId xmlns:p14="http://schemas.microsoft.com/office/powerpoint/2010/main" val="1821670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253F32D0-1707-B581-04AB-09E783048D47}"/>
              </a:ext>
            </a:extLst>
          </p:cNvPr>
          <p:cNvSpPr>
            <a:spLocks noGrp="1"/>
          </p:cNvSpPr>
          <p:nvPr>
            <p:ph type="dt" sz="half" idx="10"/>
          </p:nvPr>
        </p:nvSpPr>
        <p:spPr/>
        <p:txBody>
          <a:bodyPr/>
          <a:lstStyle/>
          <a:p>
            <a:fld id="{B0518848-E628-4826-8FF2-35808C85F00A}" type="datetimeFigureOut">
              <a:rPr kumimoji="1" lang="ja-JP" altLang="en-US" smtClean="0"/>
              <a:t>2025/12/25</a:t>
            </a:fld>
            <a:endParaRPr kumimoji="1" lang="ja-JP" altLang="en-US"/>
          </a:p>
        </p:txBody>
      </p:sp>
      <p:sp>
        <p:nvSpPr>
          <p:cNvPr id="3" name="フッター プレースホルダー 2">
            <a:extLst>
              <a:ext uri="{FF2B5EF4-FFF2-40B4-BE49-F238E27FC236}">
                <a16:creationId xmlns:a16="http://schemas.microsoft.com/office/drawing/2014/main" id="{3D466141-8345-F2E4-E0FC-50677706B90A}"/>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21D26F56-A7E7-6E1A-AF3A-B79EEA51FF0B}"/>
              </a:ext>
            </a:extLst>
          </p:cNvPr>
          <p:cNvSpPr>
            <a:spLocks noGrp="1"/>
          </p:cNvSpPr>
          <p:nvPr>
            <p:ph type="sldNum" sz="quarter" idx="12"/>
          </p:nvPr>
        </p:nvSpPr>
        <p:spPr/>
        <p:txBody>
          <a:bodyPr/>
          <a:lstStyle/>
          <a:p>
            <a:fld id="{F5ABACDA-0557-4DC9-9101-16427DEE9152}" type="slidenum">
              <a:rPr kumimoji="1" lang="ja-JP" altLang="en-US" smtClean="0"/>
              <a:t>‹#›</a:t>
            </a:fld>
            <a:endParaRPr kumimoji="1" lang="ja-JP" altLang="en-US"/>
          </a:p>
        </p:txBody>
      </p:sp>
    </p:spTree>
    <p:extLst>
      <p:ext uri="{BB962C8B-B14F-4D97-AF65-F5344CB8AC3E}">
        <p14:creationId xmlns:p14="http://schemas.microsoft.com/office/powerpoint/2010/main" val="27301704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E12FE21-C982-FC81-9694-4083ED931A41}"/>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A46AD031-C0B6-F428-73BD-4ACF8997BC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E945A1BC-DC3E-2350-2311-34620FFAD13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D64E6141-3DB3-B126-6B6B-776C8A28E498}"/>
              </a:ext>
            </a:extLst>
          </p:cNvPr>
          <p:cNvSpPr>
            <a:spLocks noGrp="1"/>
          </p:cNvSpPr>
          <p:nvPr>
            <p:ph type="dt" sz="half" idx="10"/>
          </p:nvPr>
        </p:nvSpPr>
        <p:spPr/>
        <p:txBody>
          <a:bodyPr/>
          <a:lstStyle/>
          <a:p>
            <a:fld id="{B0518848-E628-4826-8FF2-35808C85F00A}" type="datetimeFigureOut">
              <a:rPr kumimoji="1" lang="ja-JP" altLang="en-US" smtClean="0"/>
              <a:t>2025/12/25</a:t>
            </a:fld>
            <a:endParaRPr kumimoji="1" lang="ja-JP" altLang="en-US"/>
          </a:p>
        </p:txBody>
      </p:sp>
      <p:sp>
        <p:nvSpPr>
          <p:cNvPr id="6" name="フッター プレースホルダー 5">
            <a:extLst>
              <a:ext uri="{FF2B5EF4-FFF2-40B4-BE49-F238E27FC236}">
                <a16:creationId xmlns:a16="http://schemas.microsoft.com/office/drawing/2014/main" id="{79F13A36-F2A9-D2B8-B9B6-1C253AAC8DCC}"/>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16130BC8-080A-39FD-6883-5566074F8155}"/>
              </a:ext>
            </a:extLst>
          </p:cNvPr>
          <p:cNvSpPr>
            <a:spLocks noGrp="1"/>
          </p:cNvSpPr>
          <p:nvPr>
            <p:ph type="sldNum" sz="quarter" idx="12"/>
          </p:nvPr>
        </p:nvSpPr>
        <p:spPr/>
        <p:txBody>
          <a:bodyPr/>
          <a:lstStyle/>
          <a:p>
            <a:fld id="{F5ABACDA-0557-4DC9-9101-16427DEE9152}" type="slidenum">
              <a:rPr kumimoji="1" lang="ja-JP" altLang="en-US" smtClean="0"/>
              <a:t>‹#›</a:t>
            </a:fld>
            <a:endParaRPr kumimoji="1" lang="ja-JP" altLang="en-US"/>
          </a:p>
        </p:txBody>
      </p:sp>
    </p:spTree>
    <p:extLst>
      <p:ext uri="{BB962C8B-B14F-4D97-AF65-F5344CB8AC3E}">
        <p14:creationId xmlns:p14="http://schemas.microsoft.com/office/powerpoint/2010/main" val="6226056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FBB6F56-FB92-6D09-0995-9582FDB37CEF}"/>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EBF73027-12BA-245A-FEFA-9A2DAA6160D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4FB4B4B1-7009-05AC-11F2-174106A7089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ADAA6BD0-FA4B-477B-FA24-B19998682100}"/>
              </a:ext>
            </a:extLst>
          </p:cNvPr>
          <p:cNvSpPr>
            <a:spLocks noGrp="1"/>
          </p:cNvSpPr>
          <p:nvPr>
            <p:ph type="dt" sz="half" idx="10"/>
          </p:nvPr>
        </p:nvSpPr>
        <p:spPr/>
        <p:txBody>
          <a:bodyPr/>
          <a:lstStyle/>
          <a:p>
            <a:fld id="{B0518848-E628-4826-8FF2-35808C85F00A}" type="datetimeFigureOut">
              <a:rPr kumimoji="1" lang="ja-JP" altLang="en-US" smtClean="0"/>
              <a:t>2025/12/25</a:t>
            </a:fld>
            <a:endParaRPr kumimoji="1" lang="ja-JP" altLang="en-US"/>
          </a:p>
        </p:txBody>
      </p:sp>
      <p:sp>
        <p:nvSpPr>
          <p:cNvPr id="6" name="フッター プレースホルダー 5">
            <a:extLst>
              <a:ext uri="{FF2B5EF4-FFF2-40B4-BE49-F238E27FC236}">
                <a16:creationId xmlns:a16="http://schemas.microsoft.com/office/drawing/2014/main" id="{51022D31-6A2A-7D32-DA88-0BC36587D5FA}"/>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EB1E31AC-1767-63D7-1333-80554E5F5C8A}"/>
              </a:ext>
            </a:extLst>
          </p:cNvPr>
          <p:cNvSpPr>
            <a:spLocks noGrp="1"/>
          </p:cNvSpPr>
          <p:nvPr>
            <p:ph type="sldNum" sz="quarter" idx="12"/>
          </p:nvPr>
        </p:nvSpPr>
        <p:spPr/>
        <p:txBody>
          <a:bodyPr/>
          <a:lstStyle/>
          <a:p>
            <a:fld id="{F5ABACDA-0557-4DC9-9101-16427DEE9152}" type="slidenum">
              <a:rPr kumimoji="1" lang="ja-JP" altLang="en-US" smtClean="0"/>
              <a:t>‹#›</a:t>
            </a:fld>
            <a:endParaRPr kumimoji="1" lang="ja-JP" altLang="en-US"/>
          </a:p>
        </p:txBody>
      </p:sp>
    </p:spTree>
    <p:extLst>
      <p:ext uri="{BB962C8B-B14F-4D97-AF65-F5344CB8AC3E}">
        <p14:creationId xmlns:p14="http://schemas.microsoft.com/office/powerpoint/2010/main" val="14018400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A73091E-367F-EC48-7D49-260B3EC21DC6}"/>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5FA5F7D1-8585-031B-9B29-3B8058B2C6BC}"/>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24EEE9AA-1F9F-9D27-C34C-6C89EA1035D5}"/>
              </a:ext>
            </a:extLst>
          </p:cNvPr>
          <p:cNvSpPr>
            <a:spLocks noGrp="1"/>
          </p:cNvSpPr>
          <p:nvPr>
            <p:ph type="dt" sz="half" idx="10"/>
          </p:nvPr>
        </p:nvSpPr>
        <p:spPr/>
        <p:txBody>
          <a:bodyPr/>
          <a:lstStyle/>
          <a:p>
            <a:fld id="{B0518848-E628-4826-8FF2-35808C85F00A}" type="datetimeFigureOut">
              <a:rPr kumimoji="1" lang="ja-JP" altLang="en-US" smtClean="0"/>
              <a:t>2025/12/25</a:t>
            </a:fld>
            <a:endParaRPr kumimoji="1" lang="ja-JP" altLang="en-US"/>
          </a:p>
        </p:txBody>
      </p:sp>
      <p:sp>
        <p:nvSpPr>
          <p:cNvPr id="5" name="フッター プレースホルダー 4">
            <a:extLst>
              <a:ext uri="{FF2B5EF4-FFF2-40B4-BE49-F238E27FC236}">
                <a16:creationId xmlns:a16="http://schemas.microsoft.com/office/drawing/2014/main" id="{352E06F4-32F2-0D6C-F9B5-ED5EFB10C993}"/>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5264F363-FB38-D33B-449E-CDA9904E7A64}"/>
              </a:ext>
            </a:extLst>
          </p:cNvPr>
          <p:cNvSpPr>
            <a:spLocks noGrp="1"/>
          </p:cNvSpPr>
          <p:nvPr>
            <p:ph type="sldNum" sz="quarter" idx="12"/>
          </p:nvPr>
        </p:nvSpPr>
        <p:spPr/>
        <p:txBody>
          <a:bodyPr/>
          <a:lstStyle/>
          <a:p>
            <a:fld id="{F5ABACDA-0557-4DC9-9101-16427DEE9152}" type="slidenum">
              <a:rPr kumimoji="1" lang="ja-JP" altLang="en-US" smtClean="0"/>
              <a:t>‹#›</a:t>
            </a:fld>
            <a:endParaRPr kumimoji="1" lang="ja-JP" altLang="en-US"/>
          </a:p>
        </p:txBody>
      </p:sp>
    </p:spTree>
    <p:extLst>
      <p:ext uri="{BB962C8B-B14F-4D97-AF65-F5344CB8AC3E}">
        <p14:creationId xmlns:p14="http://schemas.microsoft.com/office/powerpoint/2010/main" val="33650304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8F929D10-DC61-A0D0-A991-A2BD53570E70}"/>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4C38ECFE-290C-1061-C064-11E55C3CC8BA}"/>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51F77FC3-B3F3-FCB9-5ECC-C0E30D4631FD}"/>
              </a:ext>
            </a:extLst>
          </p:cNvPr>
          <p:cNvSpPr>
            <a:spLocks noGrp="1"/>
          </p:cNvSpPr>
          <p:nvPr>
            <p:ph type="dt" sz="half" idx="10"/>
          </p:nvPr>
        </p:nvSpPr>
        <p:spPr/>
        <p:txBody>
          <a:bodyPr/>
          <a:lstStyle/>
          <a:p>
            <a:fld id="{B0518848-E628-4826-8FF2-35808C85F00A}" type="datetimeFigureOut">
              <a:rPr kumimoji="1" lang="ja-JP" altLang="en-US" smtClean="0"/>
              <a:t>2025/12/25</a:t>
            </a:fld>
            <a:endParaRPr kumimoji="1" lang="ja-JP" altLang="en-US"/>
          </a:p>
        </p:txBody>
      </p:sp>
      <p:sp>
        <p:nvSpPr>
          <p:cNvPr id="5" name="フッター プレースホルダー 4">
            <a:extLst>
              <a:ext uri="{FF2B5EF4-FFF2-40B4-BE49-F238E27FC236}">
                <a16:creationId xmlns:a16="http://schemas.microsoft.com/office/drawing/2014/main" id="{3DE98E1A-EACD-424A-E640-8A3460B8354D}"/>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FCDA8C18-580F-2A98-22AC-CD3A31889330}"/>
              </a:ext>
            </a:extLst>
          </p:cNvPr>
          <p:cNvSpPr>
            <a:spLocks noGrp="1"/>
          </p:cNvSpPr>
          <p:nvPr>
            <p:ph type="sldNum" sz="quarter" idx="12"/>
          </p:nvPr>
        </p:nvSpPr>
        <p:spPr/>
        <p:txBody>
          <a:bodyPr/>
          <a:lstStyle/>
          <a:p>
            <a:fld id="{F5ABACDA-0557-4DC9-9101-16427DEE9152}" type="slidenum">
              <a:rPr kumimoji="1" lang="ja-JP" altLang="en-US" smtClean="0"/>
              <a:t>‹#›</a:t>
            </a:fld>
            <a:endParaRPr kumimoji="1" lang="ja-JP" altLang="en-US"/>
          </a:p>
        </p:txBody>
      </p:sp>
    </p:spTree>
    <p:extLst>
      <p:ext uri="{BB962C8B-B14F-4D97-AF65-F5344CB8AC3E}">
        <p14:creationId xmlns:p14="http://schemas.microsoft.com/office/powerpoint/2010/main" val="15003737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07C4D0AA-6E1F-97B1-2A4D-6F997E798DE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2A6A7B0B-8D4E-3F3F-52AE-315F4A9BA6E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B5EAFF01-920E-02FA-B92E-BAC65054DB2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0518848-E628-4826-8FF2-35808C85F00A}" type="datetimeFigureOut">
              <a:rPr kumimoji="1" lang="ja-JP" altLang="en-US" smtClean="0"/>
              <a:t>2025/12/25</a:t>
            </a:fld>
            <a:endParaRPr kumimoji="1" lang="ja-JP" altLang="en-US"/>
          </a:p>
        </p:txBody>
      </p:sp>
      <p:sp>
        <p:nvSpPr>
          <p:cNvPr id="5" name="フッター プレースホルダー 4">
            <a:extLst>
              <a:ext uri="{FF2B5EF4-FFF2-40B4-BE49-F238E27FC236}">
                <a16:creationId xmlns:a16="http://schemas.microsoft.com/office/drawing/2014/main" id="{3EFA4C3B-6171-0163-FA91-E8B9537D7CD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D0549E49-A0FA-0835-4634-71438B62F50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5ABACDA-0557-4DC9-9101-16427DEE9152}" type="slidenum">
              <a:rPr kumimoji="1" lang="ja-JP" altLang="en-US" smtClean="0"/>
              <a:t>‹#›</a:t>
            </a:fld>
            <a:endParaRPr kumimoji="1" lang="ja-JP" altLang="en-US"/>
          </a:p>
        </p:txBody>
      </p:sp>
    </p:spTree>
    <p:extLst>
      <p:ext uri="{BB962C8B-B14F-4D97-AF65-F5344CB8AC3E}">
        <p14:creationId xmlns:p14="http://schemas.microsoft.com/office/powerpoint/2010/main" val="39605483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sv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sv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sv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s://tailscale.com/pricing"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s://jp.vcube.com/sdk/blog/webrtc-general-server-configuration-signaling-turn-sfu.html#section2"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jami.net/ja/"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14882D8-922C-3E60-362B-8E05193F443E}"/>
              </a:ext>
            </a:extLst>
          </p:cNvPr>
          <p:cNvSpPr>
            <a:spLocks noGrp="1"/>
          </p:cNvSpPr>
          <p:nvPr>
            <p:ph type="ctrTitle"/>
          </p:nvPr>
        </p:nvSpPr>
        <p:spPr/>
        <p:txBody>
          <a:bodyPr/>
          <a:lstStyle/>
          <a:p>
            <a:r>
              <a:rPr kumimoji="1" lang="en-US" altLang="ja-JP" dirty="0"/>
              <a:t>VPN</a:t>
            </a:r>
            <a:r>
              <a:rPr kumimoji="1" lang="ja-JP" altLang="en-US" dirty="0"/>
              <a:t>上での映像共有案</a:t>
            </a:r>
          </a:p>
        </p:txBody>
      </p:sp>
      <p:sp>
        <p:nvSpPr>
          <p:cNvPr id="3" name="字幕 2">
            <a:extLst>
              <a:ext uri="{FF2B5EF4-FFF2-40B4-BE49-F238E27FC236}">
                <a16:creationId xmlns:a16="http://schemas.microsoft.com/office/drawing/2014/main" id="{113A69F7-965E-BBE5-727C-82BE3A6DC54B}"/>
              </a:ext>
            </a:extLst>
          </p:cNvPr>
          <p:cNvSpPr>
            <a:spLocks noGrp="1"/>
          </p:cNvSpPr>
          <p:nvPr>
            <p:ph type="subTitle" idx="1"/>
          </p:nvPr>
        </p:nvSpPr>
        <p:spPr/>
        <p:txBody>
          <a:bodyPr/>
          <a:lstStyle/>
          <a:p>
            <a:r>
              <a:rPr kumimoji="1" lang="en-US" altLang="ja-JP"/>
              <a:t>2025/12/25</a:t>
            </a:r>
            <a:endParaRPr kumimoji="1" lang="ja-JP" altLang="en-US"/>
          </a:p>
        </p:txBody>
      </p:sp>
    </p:spTree>
    <p:extLst>
      <p:ext uri="{BB962C8B-B14F-4D97-AF65-F5344CB8AC3E}">
        <p14:creationId xmlns:p14="http://schemas.microsoft.com/office/powerpoint/2010/main" val="32204962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7C2604-9773-DF2E-AB2F-1EDC35113A43}"/>
            </a:ext>
          </a:extLst>
        </p:cNvPr>
        <p:cNvGrpSpPr/>
        <p:nvPr/>
      </p:nvGrpSpPr>
      <p:grpSpPr>
        <a:xfrm>
          <a:off x="0" y="0"/>
          <a:ext cx="0" cy="0"/>
          <a:chOff x="0" y="0"/>
          <a:chExt cx="0" cy="0"/>
        </a:xfrm>
      </p:grpSpPr>
      <p:sp>
        <p:nvSpPr>
          <p:cNvPr id="38" name="四角形: 角を丸くする 37">
            <a:extLst>
              <a:ext uri="{FF2B5EF4-FFF2-40B4-BE49-F238E27FC236}">
                <a16:creationId xmlns:a16="http://schemas.microsoft.com/office/drawing/2014/main" id="{8090A0EA-CE23-0B5A-136B-69E812AF370C}"/>
              </a:ext>
            </a:extLst>
          </p:cNvPr>
          <p:cNvSpPr/>
          <p:nvPr/>
        </p:nvSpPr>
        <p:spPr>
          <a:xfrm>
            <a:off x="7638855" y="1809946"/>
            <a:ext cx="4512538" cy="4308050"/>
          </a:xfrm>
          <a:prstGeom prst="roundRect">
            <a:avLst/>
          </a:prstGeom>
        </p:spPr>
        <p:style>
          <a:lnRef idx="2">
            <a:schemeClr val="accent1"/>
          </a:lnRef>
          <a:fillRef idx="1">
            <a:schemeClr val="lt1"/>
          </a:fillRef>
          <a:effectRef idx="0">
            <a:schemeClr val="accent1"/>
          </a:effectRef>
          <a:fontRef idx="minor">
            <a:schemeClr val="dk1"/>
          </a:fontRef>
        </p:style>
        <p:txBody>
          <a:bodyPr rtlCol="0" anchor="b"/>
          <a:lstStyle/>
          <a:p>
            <a:pPr algn="ctr"/>
            <a:r>
              <a:rPr lang="ja-JP" altLang="en-US" dirty="0"/>
              <a:t>ローカルネットワーク（</a:t>
            </a:r>
            <a:r>
              <a:rPr lang="en-US" altLang="ja-JP" dirty="0"/>
              <a:t>LAN</a:t>
            </a:r>
            <a:r>
              <a:rPr lang="ja-JP" altLang="en-US" dirty="0"/>
              <a:t>）</a:t>
            </a:r>
            <a:endParaRPr kumimoji="1" lang="ja-JP" altLang="en-US" dirty="0"/>
          </a:p>
        </p:txBody>
      </p:sp>
      <p:sp>
        <p:nvSpPr>
          <p:cNvPr id="37" name="四角形: 角を丸くする 36">
            <a:extLst>
              <a:ext uri="{FF2B5EF4-FFF2-40B4-BE49-F238E27FC236}">
                <a16:creationId xmlns:a16="http://schemas.microsoft.com/office/drawing/2014/main" id="{AB2F3304-F72D-638D-AD72-E00F1A4AE66C}"/>
              </a:ext>
            </a:extLst>
          </p:cNvPr>
          <p:cNvSpPr/>
          <p:nvPr/>
        </p:nvSpPr>
        <p:spPr>
          <a:xfrm>
            <a:off x="125450" y="1809946"/>
            <a:ext cx="4512538" cy="4308050"/>
          </a:xfrm>
          <a:prstGeom prst="roundRect">
            <a:avLst/>
          </a:prstGeom>
        </p:spPr>
        <p:style>
          <a:lnRef idx="2">
            <a:schemeClr val="accent1"/>
          </a:lnRef>
          <a:fillRef idx="1">
            <a:schemeClr val="lt1"/>
          </a:fillRef>
          <a:effectRef idx="0">
            <a:schemeClr val="accent1"/>
          </a:effectRef>
          <a:fontRef idx="minor">
            <a:schemeClr val="dk1"/>
          </a:fontRef>
        </p:style>
        <p:txBody>
          <a:bodyPr rtlCol="0" anchor="b"/>
          <a:lstStyle/>
          <a:p>
            <a:pPr algn="ctr"/>
            <a:r>
              <a:rPr lang="ja-JP" altLang="en-US" dirty="0"/>
              <a:t>ローカルネットワーク（</a:t>
            </a:r>
            <a:r>
              <a:rPr lang="en-US" altLang="ja-JP" dirty="0"/>
              <a:t>LAN</a:t>
            </a:r>
            <a:r>
              <a:rPr lang="ja-JP" altLang="en-US" dirty="0"/>
              <a:t>）</a:t>
            </a:r>
            <a:endParaRPr kumimoji="1" lang="ja-JP" altLang="en-US" dirty="0"/>
          </a:p>
        </p:txBody>
      </p:sp>
      <p:sp>
        <p:nvSpPr>
          <p:cNvPr id="2" name="タイトル 1">
            <a:extLst>
              <a:ext uri="{FF2B5EF4-FFF2-40B4-BE49-F238E27FC236}">
                <a16:creationId xmlns:a16="http://schemas.microsoft.com/office/drawing/2014/main" id="{10C16BC7-EBF1-D8FD-DCB0-EFF666F0CA2B}"/>
              </a:ext>
            </a:extLst>
          </p:cNvPr>
          <p:cNvSpPr>
            <a:spLocks noGrp="1"/>
          </p:cNvSpPr>
          <p:nvPr>
            <p:ph type="title"/>
          </p:nvPr>
        </p:nvSpPr>
        <p:spPr/>
        <p:txBody>
          <a:bodyPr/>
          <a:lstStyle/>
          <a:p>
            <a:r>
              <a:rPr lang="ja-JP" altLang="en-US" dirty="0"/>
              <a:t>前提（ネットワークのイメージ）</a:t>
            </a:r>
            <a:endParaRPr kumimoji="1" lang="ja-JP" altLang="en-US" dirty="0"/>
          </a:p>
        </p:txBody>
      </p:sp>
      <p:sp>
        <p:nvSpPr>
          <p:cNvPr id="5" name="四角形: 角を丸くする 4">
            <a:extLst>
              <a:ext uri="{FF2B5EF4-FFF2-40B4-BE49-F238E27FC236}">
                <a16:creationId xmlns:a16="http://schemas.microsoft.com/office/drawing/2014/main" id="{281B7DBB-0799-8002-E641-D240FCD374A4}"/>
              </a:ext>
            </a:extLst>
          </p:cNvPr>
          <p:cNvSpPr/>
          <p:nvPr/>
        </p:nvSpPr>
        <p:spPr>
          <a:xfrm>
            <a:off x="2609372" y="3564993"/>
            <a:ext cx="1451727" cy="678729"/>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dirty="0"/>
              <a:t>専用</a:t>
            </a:r>
            <a:r>
              <a:rPr kumimoji="1" lang="en-US" altLang="ja-JP" dirty="0"/>
              <a:t>PC</a:t>
            </a:r>
            <a:endParaRPr kumimoji="1" lang="ja-JP" altLang="en-US" dirty="0"/>
          </a:p>
        </p:txBody>
      </p:sp>
      <p:sp>
        <p:nvSpPr>
          <p:cNvPr id="6" name="四角形: 角を丸くする 5">
            <a:extLst>
              <a:ext uri="{FF2B5EF4-FFF2-40B4-BE49-F238E27FC236}">
                <a16:creationId xmlns:a16="http://schemas.microsoft.com/office/drawing/2014/main" id="{FBEC4B14-39BD-88E1-88A6-259D441ACDCC}"/>
              </a:ext>
            </a:extLst>
          </p:cNvPr>
          <p:cNvSpPr/>
          <p:nvPr/>
        </p:nvSpPr>
        <p:spPr>
          <a:xfrm>
            <a:off x="8337395" y="3564993"/>
            <a:ext cx="1451727" cy="678729"/>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dirty="0"/>
              <a:t>専用</a:t>
            </a:r>
            <a:r>
              <a:rPr kumimoji="1" lang="en-US" altLang="ja-JP" dirty="0"/>
              <a:t>PC</a:t>
            </a:r>
            <a:endParaRPr kumimoji="1" lang="ja-JP" altLang="en-US" dirty="0"/>
          </a:p>
        </p:txBody>
      </p:sp>
      <p:cxnSp>
        <p:nvCxnSpPr>
          <p:cNvPr id="7" name="直線矢印コネクタ 6">
            <a:extLst>
              <a:ext uri="{FF2B5EF4-FFF2-40B4-BE49-F238E27FC236}">
                <a16:creationId xmlns:a16="http://schemas.microsoft.com/office/drawing/2014/main" id="{6C7F48D5-AEC2-C11F-0A4D-A0FE31C01CEC}"/>
              </a:ext>
            </a:extLst>
          </p:cNvPr>
          <p:cNvCxnSpPr>
            <a:cxnSpLocks/>
            <a:stCxn id="33" idx="3"/>
          </p:cNvCxnSpPr>
          <p:nvPr/>
        </p:nvCxnSpPr>
        <p:spPr>
          <a:xfrm flipV="1">
            <a:off x="4854804" y="3768364"/>
            <a:ext cx="837595" cy="135994"/>
          </a:xfrm>
          <a:prstGeom prst="straightConnector1">
            <a:avLst/>
          </a:prstGeom>
          <a:ln>
            <a:prstDash val="dash"/>
            <a:headEnd type="triangle"/>
            <a:tailEnd type="triangle"/>
          </a:ln>
        </p:spPr>
        <p:style>
          <a:lnRef idx="2">
            <a:schemeClr val="accent2"/>
          </a:lnRef>
          <a:fillRef idx="0">
            <a:schemeClr val="accent2"/>
          </a:fillRef>
          <a:effectRef idx="1">
            <a:schemeClr val="accent2"/>
          </a:effectRef>
          <a:fontRef idx="minor">
            <a:schemeClr val="tx1"/>
          </a:fontRef>
        </p:style>
      </p:cxnSp>
      <p:pic>
        <p:nvPicPr>
          <p:cNvPr id="19" name="図 18" descr="ゲームの画面&#10;&#10;AI 生成コンテンツは誤りを含む可能性があります。">
            <a:extLst>
              <a:ext uri="{FF2B5EF4-FFF2-40B4-BE49-F238E27FC236}">
                <a16:creationId xmlns:a16="http://schemas.microsoft.com/office/drawing/2014/main" id="{B35E39AC-E230-7F4E-B591-1D3764803E7B}"/>
              </a:ext>
            </a:extLst>
          </p:cNvPr>
          <p:cNvPicPr>
            <a:picLocks noChangeAspect="1"/>
          </p:cNvPicPr>
          <p:nvPr/>
        </p:nvPicPr>
        <p:blipFill>
          <a:blip r:embed="rId2"/>
          <a:stretch>
            <a:fillRect/>
          </a:stretch>
        </p:blipFill>
        <p:spPr>
          <a:xfrm>
            <a:off x="361119" y="3555552"/>
            <a:ext cx="1369994" cy="652222"/>
          </a:xfrm>
          <a:prstGeom prst="rect">
            <a:avLst/>
          </a:prstGeom>
        </p:spPr>
      </p:pic>
      <p:pic>
        <p:nvPicPr>
          <p:cNvPr id="20" name="図 19" descr="ゲームの画面&#10;&#10;AI 生成コンテンツは誤りを含む可能性があります。">
            <a:extLst>
              <a:ext uri="{FF2B5EF4-FFF2-40B4-BE49-F238E27FC236}">
                <a16:creationId xmlns:a16="http://schemas.microsoft.com/office/drawing/2014/main" id="{14C82E69-3F52-BB77-36A0-D5AE4E01715C}"/>
              </a:ext>
            </a:extLst>
          </p:cNvPr>
          <p:cNvPicPr>
            <a:picLocks noChangeAspect="1"/>
          </p:cNvPicPr>
          <p:nvPr/>
        </p:nvPicPr>
        <p:blipFill>
          <a:blip r:embed="rId2"/>
          <a:stretch>
            <a:fillRect/>
          </a:stretch>
        </p:blipFill>
        <p:spPr>
          <a:xfrm>
            <a:off x="10696557" y="3540986"/>
            <a:ext cx="1369994" cy="652222"/>
          </a:xfrm>
          <a:prstGeom prst="rect">
            <a:avLst/>
          </a:prstGeom>
        </p:spPr>
      </p:pic>
      <p:cxnSp>
        <p:nvCxnSpPr>
          <p:cNvPr id="23" name="直線矢印コネクタ 22">
            <a:extLst>
              <a:ext uri="{FF2B5EF4-FFF2-40B4-BE49-F238E27FC236}">
                <a16:creationId xmlns:a16="http://schemas.microsoft.com/office/drawing/2014/main" id="{16DF4702-ADD1-6F30-8FF6-3AE0165622B1}"/>
              </a:ext>
            </a:extLst>
          </p:cNvPr>
          <p:cNvCxnSpPr>
            <a:stCxn id="19" idx="3"/>
            <a:endCxn id="5" idx="1"/>
          </p:cNvCxnSpPr>
          <p:nvPr/>
        </p:nvCxnSpPr>
        <p:spPr>
          <a:xfrm>
            <a:off x="1731113" y="3881663"/>
            <a:ext cx="878259" cy="2269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nvGrpSpPr>
          <p:cNvPr id="13" name="グループ化 12">
            <a:extLst>
              <a:ext uri="{FF2B5EF4-FFF2-40B4-BE49-F238E27FC236}">
                <a16:creationId xmlns:a16="http://schemas.microsoft.com/office/drawing/2014/main" id="{9278CA88-4946-0CAE-52C1-740B37DE8E5C}"/>
              </a:ext>
            </a:extLst>
          </p:cNvPr>
          <p:cNvGrpSpPr/>
          <p:nvPr/>
        </p:nvGrpSpPr>
        <p:grpSpPr>
          <a:xfrm>
            <a:off x="1833433" y="3694998"/>
            <a:ext cx="626881" cy="386498"/>
            <a:chOff x="838200" y="3429000"/>
            <a:chExt cx="1253765" cy="772998"/>
          </a:xfrm>
        </p:grpSpPr>
        <p:sp>
          <p:nvSpPr>
            <p:cNvPr id="12" name="楕円 11">
              <a:extLst>
                <a:ext uri="{FF2B5EF4-FFF2-40B4-BE49-F238E27FC236}">
                  <a16:creationId xmlns:a16="http://schemas.microsoft.com/office/drawing/2014/main" id="{74B2CB93-52F5-7ABB-B71B-2182D673A403}"/>
                </a:ext>
              </a:extLst>
            </p:cNvPr>
            <p:cNvSpPr/>
            <p:nvPr/>
          </p:nvSpPr>
          <p:spPr>
            <a:xfrm>
              <a:off x="838200" y="3429000"/>
              <a:ext cx="1253765" cy="772998"/>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ja-JP" altLang="en-US"/>
            </a:p>
          </p:txBody>
        </p:sp>
        <p:sp>
          <p:nvSpPr>
            <p:cNvPr id="10" name="正方形/長方形 9">
              <a:extLst>
                <a:ext uri="{FF2B5EF4-FFF2-40B4-BE49-F238E27FC236}">
                  <a16:creationId xmlns:a16="http://schemas.microsoft.com/office/drawing/2014/main" id="{E6FE842D-D39B-8FC3-21F0-782A16E50921}"/>
                </a:ext>
              </a:extLst>
            </p:cNvPr>
            <p:cNvSpPr/>
            <p:nvPr/>
          </p:nvSpPr>
          <p:spPr>
            <a:xfrm>
              <a:off x="1097824" y="3559005"/>
              <a:ext cx="734518" cy="51298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正方形/長方形 10">
              <a:extLst>
                <a:ext uri="{FF2B5EF4-FFF2-40B4-BE49-F238E27FC236}">
                  <a16:creationId xmlns:a16="http://schemas.microsoft.com/office/drawing/2014/main" id="{82D9FDBB-EFF4-2A1F-AB12-739ABCB17DC2}"/>
                </a:ext>
              </a:extLst>
            </p:cNvPr>
            <p:cNvSpPr/>
            <p:nvPr/>
          </p:nvSpPr>
          <p:spPr>
            <a:xfrm>
              <a:off x="1097824" y="3566032"/>
              <a:ext cx="370695" cy="258894"/>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cxnSp>
        <p:nvCxnSpPr>
          <p:cNvPr id="24" name="直線矢印コネクタ 23">
            <a:extLst>
              <a:ext uri="{FF2B5EF4-FFF2-40B4-BE49-F238E27FC236}">
                <a16:creationId xmlns:a16="http://schemas.microsoft.com/office/drawing/2014/main" id="{3FFAA4B3-4332-FC72-05E0-928B4E6C1C09}"/>
              </a:ext>
            </a:extLst>
          </p:cNvPr>
          <p:cNvCxnSpPr>
            <a:cxnSpLocks/>
            <a:stCxn id="20" idx="1"/>
            <a:endCxn id="6" idx="3"/>
          </p:cNvCxnSpPr>
          <p:nvPr/>
        </p:nvCxnSpPr>
        <p:spPr>
          <a:xfrm flipH="1">
            <a:off x="9789122" y="3867097"/>
            <a:ext cx="907435" cy="3726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nvGrpSpPr>
          <p:cNvPr id="14" name="グループ化 13">
            <a:extLst>
              <a:ext uri="{FF2B5EF4-FFF2-40B4-BE49-F238E27FC236}">
                <a16:creationId xmlns:a16="http://schemas.microsoft.com/office/drawing/2014/main" id="{E1FC2C7E-5095-29DE-A005-21BA12EAA2F4}"/>
              </a:ext>
            </a:extLst>
          </p:cNvPr>
          <p:cNvGrpSpPr/>
          <p:nvPr/>
        </p:nvGrpSpPr>
        <p:grpSpPr>
          <a:xfrm>
            <a:off x="9916778" y="3664041"/>
            <a:ext cx="653467" cy="402889"/>
            <a:chOff x="838200" y="3429000"/>
            <a:chExt cx="1253765" cy="772998"/>
          </a:xfrm>
        </p:grpSpPr>
        <p:sp>
          <p:nvSpPr>
            <p:cNvPr id="15" name="楕円 14">
              <a:extLst>
                <a:ext uri="{FF2B5EF4-FFF2-40B4-BE49-F238E27FC236}">
                  <a16:creationId xmlns:a16="http://schemas.microsoft.com/office/drawing/2014/main" id="{EBFFAD9D-F7B8-6B13-16C2-686FC22BD241}"/>
                </a:ext>
              </a:extLst>
            </p:cNvPr>
            <p:cNvSpPr/>
            <p:nvPr/>
          </p:nvSpPr>
          <p:spPr>
            <a:xfrm>
              <a:off x="838200" y="3429000"/>
              <a:ext cx="1253765" cy="772998"/>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ja-JP" altLang="en-US"/>
            </a:p>
          </p:txBody>
        </p:sp>
        <p:sp>
          <p:nvSpPr>
            <p:cNvPr id="16" name="正方形/長方形 15">
              <a:extLst>
                <a:ext uri="{FF2B5EF4-FFF2-40B4-BE49-F238E27FC236}">
                  <a16:creationId xmlns:a16="http://schemas.microsoft.com/office/drawing/2014/main" id="{DEF83F14-5DDE-1C8C-F593-FAFE434DB177}"/>
                </a:ext>
              </a:extLst>
            </p:cNvPr>
            <p:cNvSpPr/>
            <p:nvPr/>
          </p:nvSpPr>
          <p:spPr>
            <a:xfrm>
              <a:off x="1097824" y="3559005"/>
              <a:ext cx="734518" cy="51298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正方形/長方形 16">
              <a:extLst>
                <a:ext uri="{FF2B5EF4-FFF2-40B4-BE49-F238E27FC236}">
                  <a16:creationId xmlns:a16="http://schemas.microsoft.com/office/drawing/2014/main" id="{98AF866A-FA80-1235-AB27-5A0720C214C0}"/>
                </a:ext>
              </a:extLst>
            </p:cNvPr>
            <p:cNvSpPr/>
            <p:nvPr/>
          </p:nvSpPr>
          <p:spPr>
            <a:xfrm>
              <a:off x="1097824" y="3566032"/>
              <a:ext cx="370695" cy="258894"/>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pic>
        <p:nvPicPr>
          <p:cNvPr id="30" name="グラフィックス 29" descr="世界 枠線">
            <a:extLst>
              <a:ext uri="{FF2B5EF4-FFF2-40B4-BE49-F238E27FC236}">
                <a16:creationId xmlns:a16="http://schemas.microsoft.com/office/drawing/2014/main" id="{EF736580-3DE8-BD47-FD2F-B49B8622196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692399" y="3303882"/>
            <a:ext cx="914400" cy="914400"/>
          </a:xfrm>
          <a:prstGeom prst="rect">
            <a:avLst/>
          </a:prstGeom>
        </p:spPr>
      </p:pic>
      <p:sp>
        <p:nvSpPr>
          <p:cNvPr id="33" name="四角形: 角を丸くする 32">
            <a:extLst>
              <a:ext uri="{FF2B5EF4-FFF2-40B4-BE49-F238E27FC236}">
                <a16:creationId xmlns:a16="http://schemas.microsoft.com/office/drawing/2014/main" id="{69ADFE7A-331E-635B-F50B-2F53F6635F37}"/>
              </a:ext>
            </a:extLst>
          </p:cNvPr>
          <p:cNvSpPr/>
          <p:nvPr/>
        </p:nvSpPr>
        <p:spPr>
          <a:xfrm>
            <a:off x="4339968" y="2369450"/>
            <a:ext cx="514836" cy="3069816"/>
          </a:xfrm>
          <a:prstGeom prst="roundRect">
            <a:avLst/>
          </a:prstGeom>
        </p:spPr>
        <p:style>
          <a:lnRef idx="2">
            <a:schemeClr val="accent1"/>
          </a:lnRef>
          <a:fillRef idx="1">
            <a:schemeClr val="lt1"/>
          </a:fillRef>
          <a:effectRef idx="0">
            <a:schemeClr val="accent1"/>
          </a:effectRef>
          <a:fontRef idx="minor">
            <a:schemeClr val="dk1"/>
          </a:fontRef>
        </p:style>
        <p:txBody>
          <a:bodyPr vert="eaVert" rtlCol="0" anchor="ctr"/>
          <a:lstStyle/>
          <a:p>
            <a:pPr algn="ctr"/>
            <a:r>
              <a:rPr lang="ja-JP" altLang="en-US" dirty="0"/>
              <a:t>ファイアウォール・</a:t>
            </a:r>
            <a:r>
              <a:rPr lang="en-US" altLang="ja-JP" dirty="0"/>
              <a:t>NAT</a:t>
            </a:r>
            <a:endParaRPr kumimoji="1" lang="ja-JP" altLang="en-US" dirty="0"/>
          </a:p>
        </p:txBody>
      </p:sp>
      <p:sp>
        <p:nvSpPr>
          <p:cNvPr id="34" name="四角形: 角を丸くする 33">
            <a:extLst>
              <a:ext uri="{FF2B5EF4-FFF2-40B4-BE49-F238E27FC236}">
                <a16:creationId xmlns:a16="http://schemas.microsoft.com/office/drawing/2014/main" id="{E5FD6CF7-424A-0C6B-9852-33283C62DFCC}"/>
              </a:ext>
            </a:extLst>
          </p:cNvPr>
          <p:cNvSpPr/>
          <p:nvPr/>
        </p:nvSpPr>
        <p:spPr>
          <a:xfrm>
            <a:off x="7431468" y="2369450"/>
            <a:ext cx="514836" cy="3069816"/>
          </a:xfrm>
          <a:prstGeom prst="roundRect">
            <a:avLst/>
          </a:prstGeom>
        </p:spPr>
        <p:style>
          <a:lnRef idx="2">
            <a:schemeClr val="accent1"/>
          </a:lnRef>
          <a:fillRef idx="1">
            <a:schemeClr val="lt1"/>
          </a:fillRef>
          <a:effectRef idx="0">
            <a:schemeClr val="accent1"/>
          </a:effectRef>
          <a:fontRef idx="minor">
            <a:schemeClr val="dk1"/>
          </a:fontRef>
        </p:style>
        <p:txBody>
          <a:bodyPr vert="eaVert" rtlCol="0" anchor="ctr"/>
          <a:lstStyle/>
          <a:p>
            <a:pPr algn="ctr"/>
            <a:r>
              <a:rPr kumimoji="1" lang="ja-JP" altLang="en-US" dirty="0"/>
              <a:t>ファイアウォール・</a:t>
            </a:r>
            <a:r>
              <a:rPr kumimoji="1" lang="en-US" altLang="ja-JP" dirty="0"/>
              <a:t>NAT</a:t>
            </a:r>
            <a:endParaRPr kumimoji="1" lang="ja-JP" altLang="en-US" dirty="0"/>
          </a:p>
        </p:txBody>
      </p:sp>
      <p:sp>
        <p:nvSpPr>
          <p:cNvPr id="39" name="四角形: 角を丸くする 38">
            <a:extLst>
              <a:ext uri="{FF2B5EF4-FFF2-40B4-BE49-F238E27FC236}">
                <a16:creationId xmlns:a16="http://schemas.microsoft.com/office/drawing/2014/main" id="{0F2D2F82-1629-B69D-BA18-CEB48AC189F6}"/>
              </a:ext>
            </a:extLst>
          </p:cNvPr>
          <p:cNvSpPr/>
          <p:nvPr/>
        </p:nvSpPr>
        <p:spPr>
          <a:xfrm>
            <a:off x="5067363" y="2803300"/>
            <a:ext cx="2179480" cy="373316"/>
          </a:xfrm>
          <a:prstGeom prst="round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ja-JP" altLang="en-US" dirty="0"/>
              <a:t>インターネット（</a:t>
            </a:r>
            <a:r>
              <a:rPr lang="en-US" altLang="ja-JP" dirty="0"/>
              <a:t>WAN</a:t>
            </a:r>
            <a:r>
              <a:rPr lang="ja-JP" altLang="en-US" dirty="0"/>
              <a:t>）</a:t>
            </a:r>
            <a:endParaRPr kumimoji="1" lang="ja-JP" altLang="en-US" dirty="0"/>
          </a:p>
        </p:txBody>
      </p:sp>
      <p:cxnSp>
        <p:nvCxnSpPr>
          <p:cNvPr id="42" name="直線矢印コネクタ 41">
            <a:extLst>
              <a:ext uri="{FF2B5EF4-FFF2-40B4-BE49-F238E27FC236}">
                <a16:creationId xmlns:a16="http://schemas.microsoft.com/office/drawing/2014/main" id="{3EB4D9F0-5E66-0512-4CA1-182E2DE3F88F}"/>
              </a:ext>
            </a:extLst>
          </p:cNvPr>
          <p:cNvCxnSpPr>
            <a:cxnSpLocks/>
            <a:stCxn id="30" idx="3"/>
            <a:endCxn id="34" idx="1"/>
          </p:cNvCxnSpPr>
          <p:nvPr/>
        </p:nvCxnSpPr>
        <p:spPr>
          <a:xfrm>
            <a:off x="6606799" y="3761082"/>
            <a:ext cx="824669" cy="143276"/>
          </a:xfrm>
          <a:prstGeom prst="straightConnector1">
            <a:avLst/>
          </a:prstGeom>
          <a:ln>
            <a:prstDash val="dash"/>
            <a:headEnd type="triangle"/>
            <a:tailEnd type="triangle"/>
          </a:ln>
        </p:spPr>
        <p:style>
          <a:lnRef idx="2">
            <a:schemeClr val="accent2"/>
          </a:lnRef>
          <a:fillRef idx="0">
            <a:schemeClr val="accent2"/>
          </a:fillRef>
          <a:effectRef idx="1">
            <a:schemeClr val="accent2"/>
          </a:effectRef>
          <a:fontRef idx="minor">
            <a:schemeClr val="tx1"/>
          </a:fontRef>
        </p:style>
      </p:cxnSp>
      <p:cxnSp>
        <p:nvCxnSpPr>
          <p:cNvPr id="45" name="直線矢印コネクタ 44">
            <a:extLst>
              <a:ext uri="{FF2B5EF4-FFF2-40B4-BE49-F238E27FC236}">
                <a16:creationId xmlns:a16="http://schemas.microsoft.com/office/drawing/2014/main" id="{E5332287-435D-7D3C-67C5-8AF31111273A}"/>
              </a:ext>
            </a:extLst>
          </p:cNvPr>
          <p:cNvCxnSpPr>
            <a:cxnSpLocks/>
            <a:stCxn id="5" idx="3"/>
            <a:endCxn id="33" idx="1"/>
          </p:cNvCxnSpPr>
          <p:nvPr/>
        </p:nvCxnSpPr>
        <p:spPr>
          <a:xfrm>
            <a:off x="4061099" y="3904358"/>
            <a:ext cx="27886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0" name="直線矢印コネクタ 49">
            <a:extLst>
              <a:ext uri="{FF2B5EF4-FFF2-40B4-BE49-F238E27FC236}">
                <a16:creationId xmlns:a16="http://schemas.microsoft.com/office/drawing/2014/main" id="{D441F40F-409A-582F-4EA1-11CE51695C74}"/>
              </a:ext>
            </a:extLst>
          </p:cNvPr>
          <p:cNvCxnSpPr>
            <a:cxnSpLocks/>
            <a:stCxn id="6" idx="1"/>
            <a:endCxn id="34" idx="3"/>
          </p:cNvCxnSpPr>
          <p:nvPr/>
        </p:nvCxnSpPr>
        <p:spPr>
          <a:xfrm flipH="1">
            <a:off x="7946304" y="3904358"/>
            <a:ext cx="391091"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57" name="四角形: 角を丸くする 56">
            <a:extLst>
              <a:ext uri="{FF2B5EF4-FFF2-40B4-BE49-F238E27FC236}">
                <a16:creationId xmlns:a16="http://schemas.microsoft.com/office/drawing/2014/main" id="{CE0C19F4-E7C0-65FB-33FE-0DB900D2E1B5}"/>
              </a:ext>
            </a:extLst>
          </p:cNvPr>
          <p:cNvSpPr/>
          <p:nvPr/>
        </p:nvSpPr>
        <p:spPr>
          <a:xfrm>
            <a:off x="1453811" y="1571034"/>
            <a:ext cx="1892704" cy="542724"/>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ja-JP" altLang="en-US" dirty="0"/>
              <a:t>評価側（大学）</a:t>
            </a:r>
            <a:endParaRPr kumimoji="1" lang="ja-JP" altLang="en-US" dirty="0"/>
          </a:p>
        </p:txBody>
      </p:sp>
      <p:sp>
        <p:nvSpPr>
          <p:cNvPr id="58" name="四角形: 角を丸くする 57">
            <a:extLst>
              <a:ext uri="{FF2B5EF4-FFF2-40B4-BE49-F238E27FC236}">
                <a16:creationId xmlns:a16="http://schemas.microsoft.com/office/drawing/2014/main" id="{0A2622D7-C9DA-07E0-CFFF-7CFA41F6C24E}"/>
              </a:ext>
            </a:extLst>
          </p:cNvPr>
          <p:cNvSpPr/>
          <p:nvPr/>
        </p:nvSpPr>
        <p:spPr>
          <a:xfrm>
            <a:off x="8977633" y="1571034"/>
            <a:ext cx="1892704" cy="542724"/>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dirty="0"/>
              <a:t>相談側</a:t>
            </a:r>
          </a:p>
        </p:txBody>
      </p:sp>
      <p:sp>
        <p:nvSpPr>
          <p:cNvPr id="59" name="四角形: 角を丸くする 58">
            <a:extLst>
              <a:ext uri="{FF2B5EF4-FFF2-40B4-BE49-F238E27FC236}">
                <a16:creationId xmlns:a16="http://schemas.microsoft.com/office/drawing/2014/main" id="{DD97C9A5-D290-6447-2D36-52418DCCC99A}"/>
              </a:ext>
            </a:extLst>
          </p:cNvPr>
          <p:cNvSpPr/>
          <p:nvPr/>
        </p:nvSpPr>
        <p:spPr>
          <a:xfrm>
            <a:off x="8344086" y="3117916"/>
            <a:ext cx="3505407" cy="373316"/>
          </a:xfrm>
          <a:prstGeom prst="round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dirty="0"/>
              <a:t>カルテのキャプチャ映像・音声</a:t>
            </a:r>
          </a:p>
        </p:txBody>
      </p:sp>
      <p:sp>
        <p:nvSpPr>
          <p:cNvPr id="60" name="四角形: 角を丸くする 59">
            <a:extLst>
              <a:ext uri="{FF2B5EF4-FFF2-40B4-BE49-F238E27FC236}">
                <a16:creationId xmlns:a16="http://schemas.microsoft.com/office/drawing/2014/main" id="{49122A6E-9421-9058-7667-E57390A65E1A}"/>
              </a:ext>
            </a:extLst>
          </p:cNvPr>
          <p:cNvSpPr/>
          <p:nvPr/>
        </p:nvSpPr>
        <p:spPr>
          <a:xfrm>
            <a:off x="779465" y="3117916"/>
            <a:ext cx="3102075" cy="373316"/>
          </a:xfrm>
          <a:prstGeom prst="round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dirty="0"/>
              <a:t>音声</a:t>
            </a:r>
          </a:p>
        </p:txBody>
      </p:sp>
      <p:sp>
        <p:nvSpPr>
          <p:cNvPr id="63" name="四角形: 角を丸くする 62">
            <a:extLst>
              <a:ext uri="{FF2B5EF4-FFF2-40B4-BE49-F238E27FC236}">
                <a16:creationId xmlns:a16="http://schemas.microsoft.com/office/drawing/2014/main" id="{6D325B99-64A1-AA3A-2DAD-48F4D4DD8885}"/>
              </a:ext>
            </a:extLst>
          </p:cNvPr>
          <p:cNvSpPr/>
          <p:nvPr/>
        </p:nvSpPr>
        <p:spPr>
          <a:xfrm>
            <a:off x="289999" y="3564993"/>
            <a:ext cx="2319373" cy="652223"/>
          </a:xfrm>
          <a:prstGeom prst="roundRect">
            <a:avLst/>
          </a:prstGeom>
          <a:solidFill>
            <a:srgbClr val="FFFFFF">
              <a:alpha val="85098"/>
            </a:srgbClr>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ja-JP" altLang="en-US" dirty="0"/>
          </a:p>
        </p:txBody>
      </p:sp>
    </p:spTree>
    <p:extLst>
      <p:ext uri="{BB962C8B-B14F-4D97-AF65-F5344CB8AC3E}">
        <p14:creationId xmlns:p14="http://schemas.microsoft.com/office/powerpoint/2010/main" val="29442778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EE65AD-04A2-75CB-067B-5C2F35BB3ABD}"/>
            </a:ext>
          </a:extLst>
        </p:cNvPr>
        <p:cNvGrpSpPr/>
        <p:nvPr/>
      </p:nvGrpSpPr>
      <p:grpSpPr>
        <a:xfrm>
          <a:off x="0" y="0"/>
          <a:ext cx="0" cy="0"/>
          <a:chOff x="0" y="0"/>
          <a:chExt cx="0" cy="0"/>
        </a:xfrm>
      </p:grpSpPr>
      <p:sp>
        <p:nvSpPr>
          <p:cNvPr id="38" name="四角形: 角を丸くする 37">
            <a:extLst>
              <a:ext uri="{FF2B5EF4-FFF2-40B4-BE49-F238E27FC236}">
                <a16:creationId xmlns:a16="http://schemas.microsoft.com/office/drawing/2014/main" id="{E3AB834E-64FE-3BD2-FE71-B72FA2F04674}"/>
              </a:ext>
            </a:extLst>
          </p:cNvPr>
          <p:cNvSpPr/>
          <p:nvPr/>
        </p:nvSpPr>
        <p:spPr>
          <a:xfrm>
            <a:off x="7638855" y="1809946"/>
            <a:ext cx="4512538" cy="4308050"/>
          </a:xfrm>
          <a:prstGeom prst="roundRect">
            <a:avLst/>
          </a:prstGeom>
        </p:spPr>
        <p:style>
          <a:lnRef idx="2">
            <a:schemeClr val="accent1"/>
          </a:lnRef>
          <a:fillRef idx="1">
            <a:schemeClr val="lt1"/>
          </a:fillRef>
          <a:effectRef idx="0">
            <a:schemeClr val="accent1"/>
          </a:effectRef>
          <a:fontRef idx="minor">
            <a:schemeClr val="dk1"/>
          </a:fontRef>
        </p:style>
        <p:txBody>
          <a:bodyPr rtlCol="0" anchor="b"/>
          <a:lstStyle/>
          <a:p>
            <a:pPr algn="ctr"/>
            <a:r>
              <a:rPr lang="ja-JP" altLang="en-US" dirty="0"/>
              <a:t>ローカルネットワーク（</a:t>
            </a:r>
            <a:r>
              <a:rPr lang="en-US" altLang="ja-JP" dirty="0"/>
              <a:t>LAN</a:t>
            </a:r>
            <a:r>
              <a:rPr lang="ja-JP" altLang="en-US" dirty="0"/>
              <a:t>）</a:t>
            </a:r>
            <a:endParaRPr kumimoji="1" lang="ja-JP" altLang="en-US" dirty="0"/>
          </a:p>
        </p:txBody>
      </p:sp>
      <p:sp>
        <p:nvSpPr>
          <p:cNvPr id="37" name="四角形: 角を丸くする 36">
            <a:extLst>
              <a:ext uri="{FF2B5EF4-FFF2-40B4-BE49-F238E27FC236}">
                <a16:creationId xmlns:a16="http://schemas.microsoft.com/office/drawing/2014/main" id="{4FDA173E-5AB9-3EC0-E64E-956EDF815795}"/>
              </a:ext>
            </a:extLst>
          </p:cNvPr>
          <p:cNvSpPr/>
          <p:nvPr/>
        </p:nvSpPr>
        <p:spPr>
          <a:xfrm>
            <a:off x="125450" y="1809946"/>
            <a:ext cx="4512538" cy="4308050"/>
          </a:xfrm>
          <a:prstGeom prst="roundRect">
            <a:avLst/>
          </a:prstGeom>
        </p:spPr>
        <p:style>
          <a:lnRef idx="2">
            <a:schemeClr val="accent1"/>
          </a:lnRef>
          <a:fillRef idx="1">
            <a:schemeClr val="lt1"/>
          </a:fillRef>
          <a:effectRef idx="0">
            <a:schemeClr val="accent1"/>
          </a:effectRef>
          <a:fontRef idx="minor">
            <a:schemeClr val="dk1"/>
          </a:fontRef>
        </p:style>
        <p:txBody>
          <a:bodyPr rtlCol="0" anchor="b"/>
          <a:lstStyle/>
          <a:p>
            <a:pPr algn="ctr"/>
            <a:r>
              <a:rPr lang="ja-JP" altLang="en-US" dirty="0"/>
              <a:t>ローカルネットワーク（</a:t>
            </a:r>
            <a:r>
              <a:rPr lang="en-US" altLang="ja-JP" dirty="0"/>
              <a:t>LAN</a:t>
            </a:r>
            <a:r>
              <a:rPr lang="ja-JP" altLang="en-US" dirty="0"/>
              <a:t>）</a:t>
            </a:r>
            <a:endParaRPr kumimoji="1" lang="ja-JP" altLang="en-US" dirty="0"/>
          </a:p>
        </p:txBody>
      </p:sp>
      <p:sp>
        <p:nvSpPr>
          <p:cNvPr id="2" name="タイトル 1">
            <a:extLst>
              <a:ext uri="{FF2B5EF4-FFF2-40B4-BE49-F238E27FC236}">
                <a16:creationId xmlns:a16="http://schemas.microsoft.com/office/drawing/2014/main" id="{9AB3C189-380C-2E77-5BD1-DD766C51BB3F}"/>
              </a:ext>
            </a:extLst>
          </p:cNvPr>
          <p:cNvSpPr>
            <a:spLocks noGrp="1"/>
          </p:cNvSpPr>
          <p:nvPr>
            <p:ph type="title"/>
          </p:nvPr>
        </p:nvSpPr>
        <p:spPr>
          <a:xfrm>
            <a:off x="838199" y="365125"/>
            <a:ext cx="11011293" cy="1325563"/>
          </a:xfrm>
        </p:spPr>
        <p:txBody>
          <a:bodyPr/>
          <a:lstStyle/>
          <a:p>
            <a:r>
              <a:rPr lang="ja-JP" altLang="en-US" dirty="0"/>
              <a:t>前提（情報を暗号化してやり取りしたい）</a:t>
            </a:r>
            <a:endParaRPr kumimoji="1" lang="ja-JP" altLang="en-US" dirty="0"/>
          </a:p>
        </p:txBody>
      </p:sp>
      <p:sp>
        <p:nvSpPr>
          <p:cNvPr id="5" name="四角形: 角を丸くする 4">
            <a:extLst>
              <a:ext uri="{FF2B5EF4-FFF2-40B4-BE49-F238E27FC236}">
                <a16:creationId xmlns:a16="http://schemas.microsoft.com/office/drawing/2014/main" id="{EB486CD6-FF76-8699-9068-F6452AFB7CF0}"/>
              </a:ext>
            </a:extLst>
          </p:cNvPr>
          <p:cNvSpPr/>
          <p:nvPr/>
        </p:nvSpPr>
        <p:spPr>
          <a:xfrm>
            <a:off x="2609372" y="3564993"/>
            <a:ext cx="1451727" cy="678729"/>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dirty="0"/>
              <a:t>専用</a:t>
            </a:r>
            <a:r>
              <a:rPr kumimoji="1" lang="en-US" altLang="ja-JP" dirty="0"/>
              <a:t>PC</a:t>
            </a:r>
            <a:endParaRPr kumimoji="1" lang="ja-JP" altLang="en-US" dirty="0"/>
          </a:p>
        </p:txBody>
      </p:sp>
      <p:sp>
        <p:nvSpPr>
          <p:cNvPr id="6" name="四角形: 角を丸くする 5">
            <a:extLst>
              <a:ext uri="{FF2B5EF4-FFF2-40B4-BE49-F238E27FC236}">
                <a16:creationId xmlns:a16="http://schemas.microsoft.com/office/drawing/2014/main" id="{99B79D72-8E9F-6A94-3E58-AFE6BFCAD769}"/>
              </a:ext>
            </a:extLst>
          </p:cNvPr>
          <p:cNvSpPr/>
          <p:nvPr/>
        </p:nvSpPr>
        <p:spPr>
          <a:xfrm>
            <a:off x="8337395" y="3564993"/>
            <a:ext cx="1451727" cy="678729"/>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dirty="0"/>
              <a:t>専用</a:t>
            </a:r>
            <a:r>
              <a:rPr kumimoji="1" lang="en-US" altLang="ja-JP" dirty="0"/>
              <a:t>PC</a:t>
            </a:r>
            <a:endParaRPr kumimoji="1" lang="ja-JP" altLang="en-US" dirty="0"/>
          </a:p>
        </p:txBody>
      </p:sp>
      <p:cxnSp>
        <p:nvCxnSpPr>
          <p:cNvPr id="7" name="直線矢印コネクタ 6">
            <a:extLst>
              <a:ext uri="{FF2B5EF4-FFF2-40B4-BE49-F238E27FC236}">
                <a16:creationId xmlns:a16="http://schemas.microsoft.com/office/drawing/2014/main" id="{43051FB4-6316-C231-9BE6-6705D03D7D53}"/>
              </a:ext>
            </a:extLst>
          </p:cNvPr>
          <p:cNvCxnSpPr>
            <a:cxnSpLocks/>
            <a:stCxn id="33" idx="3"/>
          </p:cNvCxnSpPr>
          <p:nvPr/>
        </p:nvCxnSpPr>
        <p:spPr>
          <a:xfrm flipV="1">
            <a:off x="4854804" y="3768364"/>
            <a:ext cx="837595" cy="135994"/>
          </a:xfrm>
          <a:prstGeom prst="straightConnector1">
            <a:avLst/>
          </a:prstGeom>
          <a:ln>
            <a:prstDash val="dash"/>
            <a:headEnd type="triangle"/>
            <a:tailEnd type="triangle"/>
          </a:ln>
        </p:spPr>
        <p:style>
          <a:lnRef idx="2">
            <a:schemeClr val="accent2"/>
          </a:lnRef>
          <a:fillRef idx="0">
            <a:schemeClr val="accent2"/>
          </a:fillRef>
          <a:effectRef idx="1">
            <a:schemeClr val="accent2"/>
          </a:effectRef>
          <a:fontRef idx="minor">
            <a:schemeClr val="tx1"/>
          </a:fontRef>
        </p:style>
      </p:cxnSp>
      <p:pic>
        <p:nvPicPr>
          <p:cNvPr id="19" name="図 18" descr="ゲームの画面&#10;&#10;AI 生成コンテンツは誤りを含む可能性があります。">
            <a:extLst>
              <a:ext uri="{FF2B5EF4-FFF2-40B4-BE49-F238E27FC236}">
                <a16:creationId xmlns:a16="http://schemas.microsoft.com/office/drawing/2014/main" id="{2CFB5273-FE3F-D00E-5055-A84EBA25FD7D}"/>
              </a:ext>
            </a:extLst>
          </p:cNvPr>
          <p:cNvPicPr>
            <a:picLocks noChangeAspect="1"/>
          </p:cNvPicPr>
          <p:nvPr/>
        </p:nvPicPr>
        <p:blipFill>
          <a:blip r:embed="rId2"/>
          <a:stretch>
            <a:fillRect/>
          </a:stretch>
        </p:blipFill>
        <p:spPr>
          <a:xfrm>
            <a:off x="361119" y="3555552"/>
            <a:ext cx="1369994" cy="652222"/>
          </a:xfrm>
          <a:prstGeom prst="rect">
            <a:avLst/>
          </a:prstGeom>
        </p:spPr>
      </p:pic>
      <p:pic>
        <p:nvPicPr>
          <p:cNvPr id="20" name="図 19" descr="ゲームの画面&#10;&#10;AI 生成コンテンツは誤りを含む可能性があります。">
            <a:extLst>
              <a:ext uri="{FF2B5EF4-FFF2-40B4-BE49-F238E27FC236}">
                <a16:creationId xmlns:a16="http://schemas.microsoft.com/office/drawing/2014/main" id="{A0424896-C7B5-F166-1BF3-75A5613BB4AF}"/>
              </a:ext>
            </a:extLst>
          </p:cNvPr>
          <p:cNvPicPr>
            <a:picLocks noChangeAspect="1"/>
          </p:cNvPicPr>
          <p:nvPr/>
        </p:nvPicPr>
        <p:blipFill>
          <a:blip r:embed="rId2"/>
          <a:stretch>
            <a:fillRect/>
          </a:stretch>
        </p:blipFill>
        <p:spPr>
          <a:xfrm>
            <a:off x="10696557" y="3540986"/>
            <a:ext cx="1369994" cy="652222"/>
          </a:xfrm>
          <a:prstGeom prst="rect">
            <a:avLst/>
          </a:prstGeom>
        </p:spPr>
      </p:pic>
      <p:cxnSp>
        <p:nvCxnSpPr>
          <p:cNvPr id="23" name="直線矢印コネクタ 22">
            <a:extLst>
              <a:ext uri="{FF2B5EF4-FFF2-40B4-BE49-F238E27FC236}">
                <a16:creationId xmlns:a16="http://schemas.microsoft.com/office/drawing/2014/main" id="{7489C11F-A7A3-CA7B-6BFD-B4F8D1EA02B5}"/>
              </a:ext>
            </a:extLst>
          </p:cNvPr>
          <p:cNvCxnSpPr>
            <a:stCxn id="19" idx="3"/>
            <a:endCxn id="5" idx="1"/>
          </p:cNvCxnSpPr>
          <p:nvPr/>
        </p:nvCxnSpPr>
        <p:spPr>
          <a:xfrm>
            <a:off x="1731113" y="3881663"/>
            <a:ext cx="878259" cy="2269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nvGrpSpPr>
          <p:cNvPr id="13" name="グループ化 12">
            <a:extLst>
              <a:ext uri="{FF2B5EF4-FFF2-40B4-BE49-F238E27FC236}">
                <a16:creationId xmlns:a16="http://schemas.microsoft.com/office/drawing/2014/main" id="{806B9B94-EF0E-91EB-7AB4-5D6DFD734B6B}"/>
              </a:ext>
            </a:extLst>
          </p:cNvPr>
          <p:cNvGrpSpPr/>
          <p:nvPr/>
        </p:nvGrpSpPr>
        <p:grpSpPr>
          <a:xfrm>
            <a:off x="1833433" y="3694998"/>
            <a:ext cx="626881" cy="386498"/>
            <a:chOff x="838200" y="3429000"/>
            <a:chExt cx="1253765" cy="772998"/>
          </a:xfrm>
        </p:grpSpPr>
        <p:sp>
          <p:nvSpPr>
            <p:cNvPr id="12" name="楕円 11">
              <a:extLst>
                <a:ext uri="{FF2B5EF4-FFF2-40B4-BE49-F238E27FC236}">
                  <a16:creationId xmlns:a16="http://schemas.microsoft.com/office/drawing/2014/main" id="{ACF03003-8586-776C-5BA3-423653043E74}"/>
                </a:ext>
              </a:extLst>
            </p:cNvPr>
            <p:cNvSpPr/>
            <p:nvPr/>
          </p:nvSpPr>
          <p:spPr>
            <a:xfrm>
              <a:off x="838200" y="3429000"/>
              <a:ext cx="1253765" cy="772998"/>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ja-JP" altLang="en-US"/>
            </a:p>
          </p:txBody>
        </p:sp>
        <p:sp>
          <p:nvSpPr>
            <p:cNvPr id="10" name="正方形/長方形 9">
              <a:extLst>
                <a:ext uri="{FF2B5EF4-FFF2-40B4-BE49-F238E27FC236}">
                  <a16:creationId xmlns:a16="http://schemas.microsoft.com/office/drawing/2014/main" id="{9C325F82-AA6F-66A4-99FA-F867DAF2939A}"/>
                </a:ext>
              </a:extLst>
            </p:cNvPr>
            <p:cNvSpPr/>
            <p:nvPr/>
          </p:nvSpPr>
          <p:spPr>
            <a:xfrm>
              <a:off x="1097824" y="3559005"/>
              <a:ext cx="734518" cy="51298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正方形/長方形 10">
              <a:extLst>
                <a:ext uri="{FF2B5EF4-FFF2-40B4-BE49-F238E27FC236}">
                  <a16:creationId xmlns:a16="http://schemas.microsoft.com/office/drawing/2014/main" id="{6EC52054-E738-C007-6CF8-1C251AA2646E}"/>
                </a:ext>
              </a:extLst>
            </p:cNvPr>
            <p:cNvSpPr/>
            <p:nvPr/>
          </p:nvSpPr>
          <p:spPr>
            <a:xfrm>
              <a:off x="1097824" y="3566032"/>
              <a:ext cx="370695" cy="258894"/>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cxnSp>
        <p:nvCxnSpPr>
          <p:cNvPr id="24" name="直線矢印コネクタ 23">
            <a:extLst>
              <a:ext uri="{FF2B5EF4-FFF2-40B4-BE49-F238E27FC236}">
                <a16:creationId xmlns:a16="http://schemas.microsoft.com/office/drawing/2014/main" id="{8BF19DC3-1A5A-F1CE-C80C-54718A706585}"/>
              </a:ext>
            </a:extLst>
          </p:cNvPr>
          <p:cNvCxnSpPr>
            <a:cxnSpLocks/>
            <a:stCxn id="20" idx="1"/>
            <a:endCxn id="6" idx="3"/>
          </p:cNvCxnSpPr>
          <p:nvPr/>
        </p:nvCxnSpPr>
        <p:spPr>
          <a:xfrm flipH="1">
            <a:off x="9789122" y="3867097"/>
            <a:ext cx="907435" cy="3726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nvGrpSpPr>
          <p:cNvPr id="14" name="グループ化 13">
            <a:extLst>
              <a:ext uri="{FF2B5EF4-FFF2-40B4-BE49-F238E27FC236}">
                <a16:creationId xmlns:a16="http://schemas.microsoft.com/office/drawing/2014/main" id="{1619D1D9-075D-9CED-3272-7DE6EBE2F080}"/>
              </a:ext>
            </a:extLst>
          </p:cNvPr>
          <p:cNvGrpSpPr/>
          <p:nvPr/>
        </p:nvGrpSpPr>
        <p:grpSpPr>
          <a:xfrm>
            <a:off x="9916778" y="3664041"/>
            <a:ext cx="653467" cy="402889"/>
            <a:chOff x="838200" y="3429000"/>
            <a:chExt cx="1253765" cy="772998"/>
          </a:xfrm>
        </p:grpSpPr>
        <p:sp>
          <p:nvSpPr>
            <p:cNvPr id="15" name="楕円 14">
              <a:extLst>
                <a:ext uri="{FF2B5EF4-FFF2-40B4-BE49-F238E27FC236}">
                  <a16:creationId xmlns:a16="http://schemas.microsoft.com/office/drawing/2014/main" id="{5C7A0BE4-2FB0-732D-A4B4-CB55F2DC4863}"/>
                </a:ext>
              </a:extLst>
            </p:cNvPr>
            <p:cNvSpPr/>
            <p:nvPr/>
          </p:nvSpPr>
          <p:spPr>
            <a:xfrm>
              <a:off x="838200" y="3429000"/>
              <a:ext cx="1253765" cy="772998"/>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ja-JP" altLang="en-US"/>
            </a:p>
          </p:txBody>
        </p:sp>
        <p:sp>
          <p:nvSpPr>
            <p:cNvPr id="16" name="正方形/長方形 15">
              <a:extLst>
                <a:ext uri="{FF2B5EF4-FFF2-40B4-BE49-F238E27FC236}">
                  <a16:creationId xmlns:a16="http://schemas.microsoft.com/office/drawing/2014/main" id="{52322C47-2A79-9484-ED99-CFE33B352C00}"/>
                </a:ext>
              </a:extLst>
            </p:cNvPr>
            <p:cNvSpPr/>
            <p:nvPr/>
          </p:nvSpPr>
          <p:spPr>
            <a:xfrm>
              <a:off x="1097824" y="3559005"/>
              <a:ext cx="734518" cy="51298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正方形/長方形 16">
              <a:extLst>
                <a:ext uri="{FF2B5EF4-FFF2-40B4-BE49-F238E27FC236}">
                  <a16:creationId xmlns:a16="http://schemas.microsoft.com/office/drawing/2014/main" id="{D4093E84-AFB4-D7EB-A90B-3E2A92CF1CEE}"/>
                </a:ext>
              </a:extLst>
            </p:cNvPr>
            <p:cNvSpPr/>
            <p:nvPr/>
          </p:nvSpPr>
          <p:spPr>
            <a:xfrm>
              <a:off x="1097824" y="3566033"/>
              <a:ext cx="370696" cy="258893"/>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pic>
        <p:nvPicPr>
          <p:cNvPr id="30" name="グラフィックス 29" descr="世界 枠線">
            <a:extLst>
              <a:ext uri="{FF2B5EF4-FFF2-40B4-BE49-F238E27FC236}">
                <a16:creationId xmlns:a16="http://schemas.microsoft.com/office/drawing/2014/main" id="{F3CE502B-1B24-042F-9382-1069329E316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692399" y="3303882"/>
            <a:ext cx="914400" cy="914400"/>
          </a:xfrm>
          <a:prstGeom prst="rect">
            <a:avLst/>
          </a:prstGeom>
        </p:spPr>
      </p:pic>
      <p:sp>
        <p:nvSpPr>
          <p:cNvPr id="33" name="四角形: 角を丸くする 32">
            <a:extLst>
              <a:ext uri="{FF2B5EF4-FFF2-40B4-BE49-F238E27FC236}">
                <a16:creationId xmlns:a16="http://schemas.microsoft.com/office/drawing/2014/main" id="{E51BED2A-60D9-D9E3-73CD-23471F9734CD}"/>
              </a:ext>
            </a:extLst>
          </p:cNvPr>
          <p:cNvSpPr/>
          <p:nvPr/>
        </p:nvSpPr>
        <p:spPr>
          <a:xfrm>
            <a:off x="4339968" y="2369450"/>
            <a:ext cx="514836" cy="3069816"/>
          </a:xfrm>
          <a:prstGeom prst="roundRect">
            <a:avLst/>
          </a:prstGeom>
        </p:spPr>
        <p:style>
          <a:lnRef idx="2">
            <a:schemeClr val="accent1"/>
          </a:lnRef>
          <a:fillRef idx="1">
            <a:schemeClr val="lt1"/>
          </a:fillRef>
          <a:effectRef idx="0">
            <a:schemeClr val="accent1"/>
          </a:effectRef>
          <a:fontRef idx="minor">
            <a:schemeClr val="dk1"/>
          </a:fontRef>
        </p:style>
        <p:txBody>
          <a:bodyPr vert="eaVert" rtlCol="0" anchor="ctr"/>
          <a:lstStyle/>
          <a:p>
            <a:pPr algn="ctr"/>
            <a:r>
              <a:rPr lang="ja-JP" altLang="en-US" dirty="0"/>
              <a:t>ファイアウォール・</a:t>
            </a:r>
            <a:r>
              <a:rPr lang="en-US" altLang="ja-JP" dirty="0"/>
              <a:t>NAT</a:t>
            </a:r>
            <a:endParaRPr kumimoji="1" lang="ja-JP" altLang="en-US" dirty="0"/>
          </a:p>
        </p:txBody>
      </p:sp>
      <p:sp>
        <p:nvSpPr>
          <p:cNvPr id="34" name="四角形: 角を丸くする 33">
            <a:extLst>
              <a:ext uri="{FF2B5EF4-FFF2-40B4-BE49-F238E27FC236}">
                <a16:creationId xmlns:a16="http://schemas.microsoft.com/office/drawing/2014/main" id="{62BCB9DB-29BE-9BDB-ECC6-7B655762C3CB}"/>
              </a:ext>
            </a:extLst>
          </p:cNvPr>
          <p:cNvSpPr/>
          <p:nvPr/>
        </p:nvSpPr>
        <p:spPr>
          <a:xfrm>
            <a:off x="7431468" y="2369450"/>
            <a:ext cx="514836" cy="3069816"/>
          </a:xfrm>
          <a:prstGeom prst="roundRect">
            <a:avLst/>
          </a:prstGeom>
        </p:spPr>
        <p:style>
          <a:lnRef idx="2">
            <a:schemeClr val="accent1"/>
          </a:lnRef>
          <a:fillRef idx="1">
            <a:schemeClr val="lt1"/>
          </a:fillRef>
          <a:effectRef idx="0">
            <a:schemeClr val="accent1"/>
          </a:effectRef>
          <a:fontRef idx="minor">
            <a:schemeClr val="dk1"/>
          </a:fontRef>
        </p:style>
        <p:txBody>
          <a:bodyPr vert="eaVert" rtlCol="0" anchor="ctr"/>
          <a:lstStyle/>
          <a:p>
            <a:pPr algn="ctr"/>
            <a:r>
              <a:rPr kumimoji="1" lang="ja-JP" altLang="en-US" dirty="0"/>
              <a:t>ファイアウォール・</a:t>
            </a:r>
            <a:r>
              <a:rPr kumimoji="1" lang="en-US" altLang="ja-JP" dirty="0"/>
              <a:t>NAT</a:t>
            </a:r>
            <a:endParaRPr kumimoji="1" lang="ja-JP" altLang="en-US" dirty="0"/>
          </a:p>
        </p:txBody>
      </p:sp>
      <p:cxnSp>
        <p:nvCxnSpPr>
          <p:cNvPr id="42" name="直線矢印コネクタ 41">
            <a:extLst>
              <a:ext uri="{FF2B5EF4-FFF2-40B4-BE49-F238E27FC236}">
                <a16:creationId xmlns:a16="http://schemas.microsoft.com/office/drawing/2014/main" id="{260D5F12-58CF-5659-2A94-C98F9EF47910}"/>
              </a:ext>
            </a:extLst>
          </p:cNvPr>
          <p:cNvCxnSpPr>
            <a:cxnSpLocks/>
            <a:stCxn id="30" idx="3"/>
            <a:endCxn id="34" idx="1"/>
          </p:cNvCxnSpPr>
          <p:nvPr/>
        </p:nvCxnSpPr>
        <p:spPr>
          <a:xfrm>
            <a:off x="6606799" y="3761082"/>
            <a:ext cx="824669" cy="143276"/>
          </a:xfrm>
          <a:prstGeom prst="straightConnector1">
            <a:avLst/>
          </a:prstGeom>
          <a:ln>
            <a:prstDash val="dash"/>
            <a:headEnd type="triangle"/>
            <a:tailEnd type="triangle"/>
          </a:ln>
        </p:spPr>
        <p:style>
          <a:lnRef idx="2">
            <a:schemeClr val="accent2"/>
          </a:lnRef>
          <a:fillRef idx="0">
            <a:schemeClr val="accent2"/>
          </a:fillRef>
          <a:effectRef idx="1">
            <a:schemeClr val="accent2"/>
          </a:effectRef>
          <a:fontRef idx="minor">
            <a:schemeClr val="tx1"/>
          </a:fontRef>
        </p:style>
      </p:cxnSp>
      <p:cxnSp>
        <p:nvCxnSpPr>
          <p:cNvPr id="45" name="直線矢印コネクタ 44">
            <a:extLst>
              <a:ext uri="{FF2B5EF4-FFF2-40B4-BE49-F238E27FC236}">
                <a16:creationId xmlns:a16="http://schemas.microsoft.com/office/drawing/2014/main" id="{B11F0010-30AE-2EB1-85DA-976FEBAA458F}"/>
              </a:ext>
            </a:extLst>
          </p:cNvPr>
          <p:cNvCxnSpPr>
            <a:cxnSpLocks/>
            <a:stCxn id="5" idx="3"/>
            <a:endCxn id="33" idx="1"/>
          </p:cNvCxnSpPr>
          <p:nvPr/>
        </p:nvCxnSpPr>
        <p:spPr>
          <a:xfrm>
            <a:off x="4061099" y="3904358"/>
            <a:ext cx="27886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0" name="直線矢印コネクタ 49">
            <a:extLst>
              <a:ext uri="{FF2B5EF4-FFF2-40B4-BE49-F238E27FC236}">
                <a16:creationId xmlns:a16="http://schemas.microsoft.com/office/drawing/2014/main" id="{59C328A9-6DB7-18EF-ECA5-B37DD5623EAC}"/>
              </a:ext>
            </a:extLst>
          </p:cNvPr>
          <p:cNvCxnSpPr>
            <a:cxnSpLocks/>
            <a:stCxn id="6" idx="1"/>
            <a:endCxn id="34" idx="3"/>
          </p:cNvCxnSpPr>
          <p:nvPr/>
        </p:nvCxnSpPr>
        <p:spPr>
          <a:xfrm flipH="1">
            <a:off x="7946304" y="3904358"/>
            <a:ext cx="391091"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57" name="四角形: 角を丸くする 56">
            <a:extLst>
              <a:ext uri="{FF2B5EF4-FFF2-40B4-BE49-F238E27FC236}">
                <a16:creationId xmlns:a16="http://schemas.microsoft.com/office/drawing/2014/main" id="{25C63E12-4E98-D9CA-03F2-6068E40144DF}"/>
              </a:ext>
            </a:extLst>
          </p:cNvPr>
          <p:cNvSpPr/>
          <p:nvPr/>
        </p:nvSpPr>
        <p:spPr>
          <a:xfrm>
            <a:off x="1453811" y="1571034"/>
            <a:ext cx="1892704" cy="542724"/>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ja-JP" altLang="en-US" dirty="0"/>
              <a:t>評価側（大学）</a:t>
            </a:r>
            <a:endParaRPr kumimoji="1" lang="ja-JP" altLang="en-US" dirty="0"/>
          </a:p>
        </p:txBody>
      </p:sp>
      <p:sp>
        <p:nvSpPr>
          <p:cNvPr id="58" name="四角形: 角を丸くする 57">
            <a:extLst>
              <a:ext uri="{FF2B5EF4-FFF2-40B4-BE49-F238E27FC236}">
                <a16:creationId xmlns:a16="http://schemas.microsoft.com/office/drawing/2014/main" id="{72F8B7C8-C3FE-813E-5D08-887D7432CB5E}"/>
              </a:ext>
            </a:extLst>
          </p:cNvPr>
          <p:cNvSpPr/>
          <p:nvPr/>
        </p:nvSpPr>
        <p:spPr>
          <a:xfrm>
            <a:off x="8977633" y="1571034"/>
            <a:ext cx="1892704" cy="542724"/>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dirty="0"/>
              <a:t>相談側</a:t>
            </a:r>
          </a:p>
        </p:txBody>
      </p:sp>
      <p:sp>
        <p:nvSpPr>
          <p:cNvPr id="59" name="四角形: 角を丸くする 58">
            <a:extLst>
              <a:ext uri="{FF2B5EF4-FFF2-40B4-BE49-F238E27FC236}">
                <a16:creationId xmlns:a16="http://schemas.microsoft.com/office/drawing/2014/main" id="{AE24C7CE-0189-7DA2-A90A-349ED2E6C7A9}"/>
              </a:ext>
            </a:extLst>
          </p:cNvPr>
          <p:cNvSpPr/>
          <p:nvPr/>
        </p:nvSpPr>
        <p:spPr>
          <a:xfrm>
            <a:off x="8344086" y="3117916"/>
            <a:ext cx="3505407" cy="373316"/>
          </a:xfrm>
          <a:prstGeom prst="round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dirty="0"/>
              <a:t>カルテのキャプチャ映像・音声</a:t>
            </a:r>
          </a:p>
        </p:txBody>
      </p:sp>
      <p:sp>
        <p:nvSpPr>
          <p:cNvPr id="60" name="四角形: 角を丸くする 59">
            <a:extLst>
              <a:ext uri="{FF2B5EF4-FFF2-40B4-BE49-F238E27FC236}">
                <a16:creationId xmlns:a16="http://schemas.microsoft.com/office/drawing/2014/main" id="{C327A681-CDEC-B9C0-76D7-E7A56A5E0AD4}"/>
              </a:ext>
            </a:extLst>
          </p:cNvPr>
          <p:cNvSpPr/>
          <p:nvPr/>
        </p:nvSpPr>
        <p:spPr>
          <a:xfrm>
            <a:off x="779465" y="3117916"/>
            <a:ext cx="3102075" cy="373316"/>
          </a:xfrm>
          <a:prstGeom prst="round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dirty="0"/>
              <a:t>音声</a:t>
            </a:r>
          </a:p>
        </p:txBody>
      </p:sp>
      <p:sp>
        <p:nvSpPr>
          <p:cNvPr id="63" name="四角形: 角を丸くする 62">
            <a:extLst>
              <a:ext uri="{FF2B5EF4-FFF2-40B4-BE49-F238E27FC236}">
                <a16:creationId xmlns:a16="http://schemas.microsoft.com/office/drawing/2014/main" id="{975ADE0F-3BE6-97EA-35DF-A823EF30BDC0}"/>
              </a:ext>
            </a:extLst>
          </p:cNvPr>
          <p:cNvSpPr/>
          <p:nvPr/>
        </p:nvSpPr>
        <p:spPr>
          <a:xfrm>
            <a:off x="289999" y="3564993"/>
            <a:ext cx="2319373" cy="652223"/>
          </a:xfrm>
          <a:prstGeom prst="roundRect">
            <a:avLst/>
          </a:prstGeom>
          <a:solidFill>
            <a:srgbClr val="FFFFFF">
              <a:alpha val="85098"/>
            </a:srgbClr>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ja-JP" altLang="en-US" dirty="0"/>
          </a:p>
        </p:txBody>
      </p:sp>
      <p:sp>
        <p:nvSpPr>
          <p:cNvPr id="18" name="矢印: 下カーブ 17">
            <a:extLst>
              <a:ext uri="{FF2B5EF4-FFF2-40B4-BE49-F238E27FC236}">
                <a16:creationId xmlns:a16="http://schemas.microsoft.com/office/drawing/2014/main" id="{3E39D1C4-49E1-1186-D091-90A839648A9C}"/>
              </a:ext>
            </a:extLst>
          </p:cNvPr>
          <p:cNvSpPr/>
          <p:nvPr/>
        </p:nvSpPr>
        <p:spPr>
          <a:xfrm flipH="1">
            <a:off x="3624534" y="2642717"/>
            <a:ext cx="4944430" cy="1142383"/>
          </a:xfrm>
          <a:prstGeom prst="curved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21" name="矢印: 下カーブ 20">
            <a:extLst>
              <a:ext uri="{FF2B5EF4-FFF2-40B4-BE49-F238E27FC236}">
                <a16:creationId xmlns:a16="http://schemas.microsoft.com/office/drawing/2014/main" id="{F2CADCA2-8792-CE48-320D-3D6CBF3ADE9A}"/>
              </a:ext>
            </a:extLst>
          </p:cNvPr>
          <p:cNvSpPr/>
          <p:nvPr/>
        </p:nvSpPr>
        <p:spPr>
          <a:xfrm flipV="1">
            <a:off x="3756510" y="4066926"/>
            <a:ext cx="4944430" cy="1187371"/>
          </a:xfrm>
          <a:prstGeom prst="curved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grpSp>
        <p:nvGrpSpPr>
          <p:cNvPr id="22" name="グループ化 21">
            <a:extLst>
              <a:ext uri="{FF2B5EF4-FFF2-40B4-BE49-F238E27FC236}">
                <a16:creationId xmlns:a16="http://schemas.microsoft.com/office/drawing/2014/main" id="{552E4C0F-B83D-7A8A-1CF8-F6603BF55874}"/>
              </a:ext>
            </a:extLst>
          </p:cNvPr>
          <p:cNvGrpSpPr/>
          <p:nvPr/>
        </p:nvGrpSpPr>
        <p:grpSpPr>
          <a:xfrm>
            <a:off x="5791692" y="2424978"/>
            <a:ext cx="653467" cy="402889"/>
            <a:chOff x="838200" y="3429000"/>
            <a:chExt cx="1253765" cy="772998"/>
          </a:xfrm>
        </p:grpSpPr>
        <p:sp>
          <p:nvSpPr>
            <p:cNvPr id="25" name="楕円 24">
              <a:extLst>
                <a:ext uri="{FF2B5EF4-FFF2-40B4-BE49-F238E27FC236}">
                  <a16:creationId xmlns:a16="http://schemas.microsoft.com/office/drawing/2014/main" id="{8314F247-958F-6A55-EC76-491997965E62}"/>
                </a:ext>
              </a:extLst>
            </p:cNvPr>
            <p:cNvSpPr/>
            <p:nvPr/>
          </p:nvSpPr>
          <p:spPr>
            <a:xfrm>
              <a:off x="838200" y="3429000"/>
              <a:ext cx="1253765" cy="772998"/>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ja-JP" altLang="en-US"/>
            </a:p>
          </p:txBody>
        </p:sp>
        <p:sp>
          <p:nvSpPr>
            <p:cNvPr id="26" name="正方形/長方形 25">
              <a:extLst>
                <a:ext uri="{FF2B5EF4-FFF2-40B4-BE49-F238E27FC236}">
                  <a16:creationId xmlns:a16="http://schemas.microsoft.com/office/drawing/2014/main" id="{6B00E223-26B3-2B18-C7B5-A30FB6C54704}"/>
                </a:ext>
              </a:extLst>
            </p:cNvPr>
            <p:cNvSpPr/>
            <p:nvPr/>
          </p:nvSpPr>
          <p:spPr>
            <a:xfrm>
              <a:off x="1097824" y="3559005"/>
              <a:ext cx="734518" cy="51298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正方形/長方形 26">
              <a:extLst>
                <a:ext uri="{FF2B5EF4-FFF2-40B4-BE49-F238E27FC236}">
                  <a16:creationId xmlns:a16="http://schemas.microsoft.com/office/drawing/2014/main" id="{06B87BA1-A15A-A45C-D8F4-EE7952674903}"/>
                </a:ext>
              </a:extLst>
            </p:cNvPr>
            <p:cNvSpPr/>
            <p:nvPr/>
          </p:nvSpPr>
          <p:spPr>
            <a:xfrm>
              <a:off x="1097824" y="3566033"/>
              <a:ext cx="370696" cy="258893"/>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28" name="グループ化 27">
            <a:extLst>
              <a:ext uri="{FF2B5EF4-FFF2-40B4-BE49-F238E27FC236}">
                <a16:creationId xmlns:a16="http://schemas.microsoft.com/office/drawing/2014/main" id="{7A32A937-2510-0066-812B-77952E0605F4}"/>
              </a:ext>
            </a:extLst>
          </p:cNvPr>
          <p:cNvGrpSpPr/>
          <p:nvPr/>
        </p:nvGrpSpPr>
        <p:grpSpPr>
          <a:xfrm>
            <a:off x="5791692" y="5013975"/>
            <a:ext cx="653467" cy="402889"/>
            <a:chOff x="838200" y="3429000"/>
            <a:chExt cx="1253765" cy="772998"/>
          </a:xfrm>
        </p:grpSpPr>
        <p:sp>
          <p:nvSpPr>
            <p:cNvPr id="29" name="楕円 28">
              <a:extLst>
                <a:ext uri="{FF2B5EF4-FFF2-40B4-BE49-F238E27FC236}">
                  <a16:creationId xmlns:a16="http://schemas.microsoft.com/office/drawing/2014/main" id="{EEDAE57C-7DE8-0231-AA64-015379077A94}"/>
                </a:ext>
              </a:extLst>
            </p:cNvPr>
            <p:cNvSpPr/>
            <p:nvPr/>
          </p:nvSpPr>
          <p:spPr>
            <a:xfrm>
              <a:off x="838200" y="3429000"/>
              <a:ext cx="1253765" cy="772998"/>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ja-JP" altLang="en-US"/>
            </a:p>
          </p:txBody>
        </p:sp>
        <p:sp>
          <p:nvSpPr>
            <p:cNvPr id="31" name="正方形/長方形 30">
              <a:extLst>
                <a:ext uri="{FF2B5EF4-FFF2-40B4-BE49-F238E27FC236}">
                  <a16:creationId xmlns:a16="http://schemas.microsoft.com/office/drawing/2014/main" id="{A90C0FCA-EC34-0EDB-234A-C5B2ABD4482F}"/>
                </a:ext>
              </a:extLst>
            </p:cNvPr>
            <p:cNvSpPr/>
            <p:nvPr/>
          </p:nvSpPr>
          <p:spPr>
            <a:xfrm>
              <a:off x="1097824" y="3559005"/>
              <a:ext cx="734518" cy="51298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正方形/長方形 31">
              <a:extLst>
                <a:ext uri="{FF2B5EF4-FFF2-40B4-BE49-F238E27FC236}">
                  <a16:creationId xmlns:a16="http://schemas.microsoft.com/office/drawing/2014/main" id="{105CF509-2E0F-360A-3F5F-1BEBF51D4D91}"/>
                </a:ext>
              </a:extLst>
            </p:cNvPr>
            <p:cNvSpPr/>
            <p:nvPr/>
          </p:nvSpPr>
          <p:spPr>
            <a:xfrm>
              <a:off x="1097824" y="3566033"/>
              <a:ext cx="370696" cy="258893"/>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35" name="四角形: 角を丸くする 34">
            <a:extLst>
              <a:ext uri="{FF2B5EF4-FFF2-40B4-BE49-F238E27FC236}">
                <a16:creationId xmlns:a16="http://schemas.microsoft.com/office/drawing/2014/main" id="{98F7BFB5-C6D2-D235-8EDD-7E8EFA27EFFD}"/>
              </a:ext>
            </a:extLst>
          </p:cNvPr>
          <p:cNvSpPr/>
          <p:nvPr/>
        </p:nvSpPr>
        <p:spPr>
          <a:xfrm>
            <a:off x="4660857" y="1840474"/>
            <a:ext cx="2893157" cy="373316"/>
          </a:xfrm>
          <a:prstGeom prst="round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dirty="0"/>
              <a:t>カルテのキャプチャ映像</a:t>
            </a:r>
            <a:endParaRPr kumimoji="1" lang="en-US" altLang="ja-JP" dirty="0"/>
          </a:p>
          <a:p>
            <a:pPr algn="ctr"/>
            <a:r>
              <a:rPr kumimoji="1" lang="ja-JP" altLang="en-US" dirty="0"/>
              <a:t>音声</a:t>
            </a:r>
            <a:r>
              <a:rPr kumimoji="1" lang="ja-JP" altLang="en-US" b="1" dirty="0"/>
              <a:t>（暗号化）</a:t>
            </a:r>
          </a:p>
        </p:txBody>
      </p:sp>
      <p:sp>
        <p:nvSpPr>
          <p:cNvPr id="36" name="四角形: 角を丸くする 35">
            <a:extLst>
              <a:ext uri="{FF2B5EF4-FFF2-40B4-BE49-F238E27FC236}">
                <a16:creationId xmlns:a16="http://schemas.microsoft.com/office/drawing/2014/main" id="{2660B8BB-D4AC-F06A-56B0-AF113B8DFF6F}"/>
              </a:ext>
            </a:extLst>
          </p:cNvPr>
          <p:cNvSpPr/>
          <p:nvPr/>
        </p:nvSpPr>
        <p:spPr>
          <a:xfrm>
            <a:off x="4885651" y="5507025"/>
            <a:ext cx="2686147" cy="373316"/>
          </a:xfrm>
          <a:prstGeom prst="round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dirty="0"/>
              <a:t>音声</a:t>
            </a:r>
            <a:r>
              <a:rPr kumimoji="1" lang="ja-JP" altLang="en-US" b="1" dirty="0"/>
              <a:t>（暗号化）</a:t>
            </a:r>
          </a:p>
        </p:txBody>
      </p:sp>
    </p:spTree>
    <p:extLst>
      <p:ext uri="{BB962C8B-B14F-4D97-AF65-F5344CB8AC3E}">
        <p14:creationId xmlns:p14="http://schemas.microsoft.com/office/powerpoint/2010/main" val="31026866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B9B757-D4B9-165F-B6A3-F09851B446FD}"/>
            </a:ext>
          </a:extLst>
        </p:cNvPr>
        <p:cNvGrpSpPr/>
        <p:nvPr/>
      </p:nvGrpSpPr>
      <p:grpSpPr>
        <a:xfrm>
          <a:off x="0" y="0"/>
          <a:ext cx="0" cy="0"/>
          <a:chOff x="0" y="0"/>
          <a:chExt cx="0" cy="0"/>
        </a:xfrm>
      </p:grpSpPr>
      <p:sp>
        <p:nvSpPr>
          <p:cNvPr id="38" name="四角形: 角を丸くする 37">
            <a:extLst>
              <a:ext uri="{FF2B5EF4-FFF2-40B4-BE49-F238E27FC236}">
                <a16:creationId xmlns:a16="http://schemas.microsoft.com/office/drawing/2014/main" id="{7B337E6B-9565-BAE2-BD1C-3517BD3D4B63}"/>
              </a:ext>
            </a:extLst>
          </p:cNvPr>
          <p:cNvSpPr/>
          <p:nvPr/>
        </p:nvSpPr>
        <p:spPr>
          <a:xfrm>
            <a:off x="7638855" y="1809946"/>
            <a:ext cx="4512538" cy="3176833"/>
          </a:xfrm>
          <a:prstGeom prst="roundRect">
            <a:avLst/>
          </a:prstGeom>
        </p:spPr>
        <p:style>
          <a:lnRef idx="2">
            <a:schemeClr val="accent1"/>
          </a:lnRef>
          <a:fillRef idx="1">
            <a:schemeClr val="lt1"/>
          </a:fillRef>
          <a:effectRef idx="0">
            <a:schemeClr val="accent1"/>
          </a:effectRef>
          <a:fontRef idx="minor">
            <a:schemeClr val="dk1"/>
          </a:fontRef>
        </p:style>
        <p:txBody>
          <a:bodyPr rtlCol="0" anchor="b"/>
          <a:lstStyle/>
          <a:p>
            <a:pPr algn="ctr"/>
            <a:r>
              <a:rPr lang="ja-JP" altLang="en-US" dirty="0"/>
              <a:t>ローカルネットワーク（</a:t>
            </a:r>
            <a:r>
              <a:rPr lang="en-US" altLang="ja-JP" dirty="0"/>
              <a:t>LAN</a:t>
            </a:r>
            <a:r>
              <a:rPr lang="ja-JP" altLang="en-US" dirty="0"/>
              <a:t>）</a:t>
            </a:r>
            <a:endParaRPr kumimoji="1" lang="ja-JP" altLang="en-US" dirty="0"/>
          </a:p>
        </p:txBody>
      </p:sp>
      <p:sp>
        <p:nvSpPr>
          <p:cNvPr id="37" name="四角形: 角を丸くする 36">
            <a:extLst>
              <a:ext uri="{FF2B5EF4-FFF2-40B4-BE49-F238E27FC236}">
                <a16:creationId xmlns:a16="http://schemas.microsoft.com/office/drawing/2014/main" id="{085C8D27-2D85-6CC9-59D3-FA0B4098CFAB}"/>
              </a:ext>
            </a:extLst>
          </p:cNvPr>
          <p:cNvSpPr/>
          <p:nvPr/>
        </p:nvSpPr>
        <p:spPr>
          <a:xfrm>
            <a:off x="125450" y="1809946"/>
            <a:ext cx="4512538" cy="3280528"/>
          </a:xfrm>
          <a:prstGeom prst="roundRect">
            <a:avLst/>
          </a:prstGeom>
        </p:spPr>
        <p:style>
          <a:lnRef idx="2">
            <a:schemeClr val="accent1"/>
          </a:lnRef>
          <a:fillRef idx="1">
            <a:schemeClr val="lt1"/>
          </a:fillRef>
          <a:effectRef idx="0">
            <a:schemeClr val="accent1"/>
          </a:effectRef>
          <a:fontRef idx="minor">
            <a:schemeClr val="dk1"/>
          </a:fontRef>
        </p:style>
        <p:txBody>
          <a:bodyPr rtlCol="0" anchor="b"/>
          <a:lstStyle/>
          <a:p>
            <a:pPr algn="ctr"/>
            <a:r>
              <a:rPr lang="ja-JP" altLang="en-US" dirty="0"/>
              <a:t>ローカルネットワーク（</a:t>
            </a:r>
            <a:r>
              <a:rPr lang="en-US" altLang="ja-JP" dirty="0"/>
              <a:t>LAN</a:t>
            </a:r>
            <a:r>
              <a:rPr lang="ja-JP" altLang="en-US" dirty="0"/>
              <a:t>）</a:t>
            </a:r>
            <a:endParaRPr kumimoji="1" lang="ja-JP" altLang="en-US" dirty="0"/>
          </a:p>
        </p:txBody>
      </p:sp>
      <p:sp>
        <p:nvSpPr>
          <p:cNvPr id="2" name="タイトル 1">
            <a:extLst>
              <a:ext uri="{FF2B5EF4-FFF2-40B4-BE49-F238E27FC236}">
                <a16:creationId xmlns:a16="http://schemas.microsoft.com/office/drawing/2014/main" id="{BE3F67FB-4DF1-A0A3-B803-E2F84DF9F390}"/>
              </a:ext>
            </a:extLst>
          </p:cNvPr>
          <p:cNvSpPr>
            <a:spLocks noGrp="1"/>
          </p:cNvSpPr>
          <p:nvPr>
            <p:ph type="title"/>
          </p:nvPr>
        </p:nvSpPr>
        <p:spPr>
          <a:xfrm>
            <a:off x="838200" y="365125"/>
            <a:ext cx="11353800" cy="1325563"/>
          </a:xfrm>
        </p:spPr>
        <p:txBody>
          <a:bodyPr/>
          <a:lstStyle/>
          <a:p>
            <a:r>
              <a:rPr lang="ja-JP" altLang="en-US" dirty="0"/>
              <a:t>前提（</a:t>
            </a:r>
            <a:r>
              <a:rPr lang="en-US" altLang="ja-JP" dirty="0"/>
              <a:t>VPN</a:t>
            </a:r>
            <a:r>
              <a:rPr lang="ja-JP" altLang="en-US" dirty="0"/>
              <a:t>で仮想的な専用線を用意）</a:t>
            </a:r>
            <a:endParaRPr kumimoji="1" lang="ja-JP" altLang="en-US" dirty="0"/>
          </a:p>
        </p:txBody>
      </p:sp>
      <p:sp>
        <p:nvSpPr>
          <p:cNvPr id="5" name="四角形: 角を丸くする 4">
            <a:extLst>
              <a:ext uri="{FF2B5EF4-FFF2-40B4-BE49-F238E27FC236}">
                <a16:creationId xmlns:a16="http://schemas.microsoft.com/office/drawing/2014/main" id="{EF97C250-160C-8663-9369-C114E7D21649}"/>
              </a:ext>
            </a:extLst>
          </p:cNvPr>
          <p:cNvSpPr/>
          <p:nvPr/>
        </p:nvSpPr>
        <p:spPr>
          <a:xfrm>
            <a:off x="2609372" y="3274170"/>
            <a:ext cx="1451727" cy="678729"/>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dirty="0"/>
              <a:t>専用</a:t>
            </a:r>
            <a:r>
              <a:rPr kumimoji="1" lang="en-US" altLang="ja-JP" dirty="0"/>
              <a:t>PC</a:t>
            </a:r>
            <a:endParaRPr kumimoji="1" lang="ja-JP" altLang="en-US" dirty="0"/>
          </a:p>
        </p:txBody>
      </p:sp>
      <p:sp>
        <p:nvSpPr>
          <p:cNvPr id="6" name="四角形: 角を丸くする 5">
            <a:extLst>
              <a:ext uri="{FF2B5EF4-FFF2-40B4-BE49-F238E27FC236}">
                <a16:creationId xmlns:a16="http://schemas.microsoft.com/office/drawing/2014/main" id="{13CDEB4F-FDCA-471A-CEEB-38DDF91A1AD0}"/>
              </a:ext>
            </a:extLst>
          </p:cNvPr>
          <p:cNvSpPr/>
          <p:nvPr/>
        </p:nvSpPr>
        <p:spPr>
          <a:xfrm>
            <a:off x="8337395" y="3247784"/>
            <a:ext cx="1451727" cy="678729"/>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dirty="0"/>
              <a:t>専用</a:t>
            </a:r>
            <a:r>
              <a:rPr kumimoji="1" lang="en-US" altLang="ja-JP" dirty="0"/>
              <a:t>PC</a:t>
            </a:r>
            <a:endParaRPr kumimoji="1" lang="ja-JP" altLang="en-US" dirty="0"/>
          </a:p>
        </p:txBody>
      </p:sp>
      <p:cxnSp>
        <p:nvCxnSpPr>
          <p:cNvPr id="7" name="直線矢印コネクタ 6">
            <a:extLst>
              <a:ext uri="{FF2B5EF4-FFF2-40B4-BE49-F238E27FC236}">
                <a16:creationId xmlns:a16="http://schemas.microsoft.com/office/drawing/2014/main" id="{56F7EDE0-6742-2CF0-DCC9-4359D5F1F104}"/>
              </a:ext>
            </a:extLst>
          </p:cNvPr>
          <p:cNvCxnSpPr>
            <a:cxnSpLocks/>
            <a:stCxn id="33" idx="3"/>
          </p:cNvCxnSpPr>
          <p:nvPr/>
        </p:nvCxnSpPr>
        <p:spPr>
          <a:xfrm>
            <a:off x="4854804" y="3602701"/>
            <a:ext cx="837595" cy="165663"/>
          </a:xfrm>
          <a:prstGeom prst="straightConnector1">
            <a:avLst/>
          </a:prstGeom>
          <a:ln>
            <a:prstDash val="dash"/>
            <a:headEnd type="triangle"/>
            <a:tailEnd type="triangle"/>
          </a:ln>
        </p:spPr>
        <p:style>
          <a:lnRef idx="2">
            <a:schemeClr val="accent2"/>
          </a:lnRef>
          <a:fillRef idx="0">
            <a:schemeClr val="accent2"/>
          </a:fillRef>
          <a:effectRef idx="1">
            <a:schemeClr val="accent2"/>
          </a:effectRef>
          <a:fontRef idx="minor">
            <a:schemeClr val="tx1"/>
          </a:fontRef>
        </p:style>
      </p:cxnSp>
      <p:pic>
        <p:nvPicPr>
          <p:cNvPr id="19" name="図 18" descr="ゲームの画面&#10;&#10;AI 生成コンテンツは誤りを含む可能性があります。">
            <a:extLst>
              <a:ext uri="{FF2B5EF4-FFF2-40B4-BE49-F238E27FC236}">
                <a16:creationId xmlns:a16="http://schemas.microsoft.com/office/drawing/2014/main" id="{34CE071B-4D0A-EEC1-7591-DFFA3980D5C2}"/>
              </a:ext>
            </a:extLst>
          </p:cNvPr>
          <p:cNvPicPr>
            <a:picLocks noChangeAspect="1"/>
          </p:cNvPicPr>
          <p:nvPr/>
        </p:nvPicPr>
        <p:blipFill>
          <a:blip r:embed="rId2"/>
          <a:stretch>
            <a:fillRect/>
          </a:stretch>
        </p:blipFill>
        <p:spPr>
          <a:xfrm>
            <a:off x="361119" y="3264729"/>
            <a:ext cx="1369994" cy="652222"/>
          </a:xfrm>
          <a:prstGeom prst="rect">
            <a:avLst/>
          </a:prstGeom>
        </p:spPr>
      </p:pic>
      <p:pic>
        <p:nvPicPr>
          <p:cNvPr id="20" name="図 19" descr="ゲームの画面&#10;&#10;AI 生成コンテンツは誤りを含む可能性があります。">
            <a:extLst>
              <a:ext uri="{FF2B5EF4-FFF2-40B4-BE49-F238E27FC236}">
                <a16:creationId xmlns:a16="http://schemas.microsoft.com/office/drawing/2014/main" id="{20245F86-FE2A-B799-8E06-B85BF58C034C}"/>
              </a:ext>
            </a:extLst>
          </p:cNvPr>
          <p:cNvPicPr>
            <a:picLocks noChangeAspect="1"/>
          </p:cNvPicPr>
          <p:nvPr/>
        </p:nvPicPr>
        <p:blipFill>
          <a:blip r:embed="rId2"/>
          <a:stretch>
            <a:fillRect/>
          </a:stretch>
        </p:blipFill>
        <p:spPr>
          <a:xfrm>
            <a:off x="10696557" y="3223777"/>
            <a:ext cx="1369994" cy="652222"/>
          </a:xfrm>
          <a:prstGeom prst="rect">
            <a:avLst/>
          </a:prstGeom>
        </p:spPr>
      </p:pic>
      <p:cxnSp>
        <p:nvCxnSpPr>
          <p:cNvPr id="23" name="直線矢印コネクタ 22">
            <a:extLst>
              <a:ext uri="{FF2B5EF4-FFF2-40B4-BE49-F238E27FC236}">
                <a16:creationId xmlns:a16="http://schemas.microsoft.com/office/drawing/2014/main" id="{574B22E8-7CAD-76BE-4890-919C91C01E0C}"/>
              </a:ext>
            </a:extLst>
          </p:cNvPr>
          <p:cNvCxnSpPr>
            <a:stCxn id="19" idx="3"/>
            <a:endCxn id="5" idx="1"/>
          </p:cNvCxnSpPr>
          <p:nvPr/>
        </p:nvCxnSpPr>
        <p:spPr>
          <a:xfrm>
            <a:off x="1731113" y="3590840"/>
            <a:ext cx="878259" cy="2269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nvGrpSpPr>
          <p:cNvPr id="13" name="グループ化 12">
            <a:extLst>
              <a:ext uri="{FF2B5EF4-FFF2-40B4-BE49-F238E27FC236}">
                <a16:creationId xmlns:a16="http://schemas.microsoft.com/office/drawing/2014/main" id="{B4F3CE9D-2C31-9707-D0FA-EA8330A1F72F}"/>
              </a:ext>
            </a:extLst>
          </p:cNvPr>
          <p:cNvGrpSpPr/>
          <p:nvPr/>
        </p:nvGrpSpPr>
        <p:grpSpPr>
          <a:xfrm>
            <a:off x="1833433" y="3404175"/>
            <a:ext cx="626881" cy="386498"/>
            <a:chOff x="838200" y="3429000"/>
            <a:chExt cx="1253765" cy="772998"/>
          </a:xfrm>
        </p:grpSpPr>
        <p:sp>
          <p:nvSpPr>
            <p:cNvPr id="12" name="楕円 11">
              <a:extLst>
                <a:ext uri="{FF2B5EF4-FFF2-40B4-BE49-F238E27FC236}">
                  <a16:creationId xmlns:a16="http://schemas.microsoft.com/office/drawing/2014/main" id="{5F9A75CD-A465-39B8-2EF6-915F76D614B1}"/>
                </a:ext>
              </a:extLst>
            </p:cNvPr>
            <p:cNvSpPr/>
            <p:nvPr/>
          </p:nvSpPr>
          <p:spPr>
            <a:xfrm>
              <a:off x="838200" y="3429000"/>
              <a:ext cx="1253765" cy="772998"/>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ja-JP" altLang="en-US"/>
            </a:p>
          </p:txBody>
        </p:sp>
        <p:sp>
          <p:nvSpPr>
            <p:cNvPr id="10" name="正方形/長方形 9">
              <a:extLst>
                <a:ext uri="{FF2B5EF4-FFF2-40B4-BE49-F238E27FC236}">
                  <a16:creationId xmlns:a16="http://schemas.microsoft.com/office/drawing/2014/main" id="{E2FBE593-A865-4B93-F83E-7CB12BE91B88}"/>
                </a:ext>
              </a:extLst>
            </p:cNvPr>
            <p:cNvSpPr/>
            <p:nvPr/>
          </p:nvSpPr>
          <p:spPr>
            <a:xfrm>
              <a:off x="1097824" y="3559005"/>
              <a:ext cx="734518" cy="51298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正方形/長方形 10">
              <a:extLst>
                <a:ext uri="{FF2B5EF4-FFF2-40B4-BE49-F238E27FC236}">
                  <a16:creationId xmlns:a16="http://schemas.microsoft.com/office/drawing/2014/main" id="{B3294B37-14D8-D4F2-B069-A98332E4C83F}"/>
                </a:ext>
              </a:extLst>
            </p:cNvPr>
            <p:cNvSpPr/>
            <p:nvPr/>
          </p:nvSpPr>
          <p:spPr>
            <a:xfrm>
              <a:off x="1097824" y="3566032"/>
              <a:ext cx="370695" cy="258894"/>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cxnSp>
        <p:nvCxnSpPr>
          <p:cNvPr id="24" name="直線矢印コネクタ 23">
            <a:extLst>
              <a:ext uri="{FF2B5EF4-FFF2-40B4-BE49-F238E27FC236}">
                <a16:creationId xmlns:a16="http://schemas.microsoft.com/office/drawing/2014/main" id="{2F45B2AE-C6BA-023A-3E2E-7AA6E4B6B4AF}"/>
              </a:ext>
            </a:extLst>
          </p:cNvPr>
          <p:cNvCxnSpPr>
            <a:cxnSpLocks/>
            <a:stCxn id="20" idx="1"/>
            <a:endCxn id="6" idx="3"/>
          </p:cNvCxnSpPr>
          <p:nvPr/>
        </p:nvCxnSpPr>
        <p:spPr>
          <a:xfrm flipH="1">
            <a:off x="9789122" y="3549888"/>
            <a:ext cx="907435" cy="3726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nvGrpSpPr>
          <p:cNvPr id="14" name="グループ化 13">
            <a:extLst>
              <a:ext uri="{FF2B5EF4-FFF2-40B4-BE49-F238E27FC236}">
                <a16:creationId xmlns:a16="http://schemas.microsoft.com/office/drawing/2014/main" id="{AF9DBEFB-4783-4F4C-91EA-CF690F5A94E5}"/>
              </a:ext>
            </a:extLst>
          </p:cNvPr>
          <p:cNvGrpSpPr/>
          <p:nvPr/>
        </p:nvGrpSpPr>
        <p:grpSpPr>
          <a:xfrm>
            <a:off x="9916778" y="3346832"/>
            <a:ext cx="653467" cy="402889"/>
            <a:chOff x="838200" y="3429000"/>
            <a:chExt cx="1253765" cy="772998"/>
          </a:xfrm>
        </p:grpSpPr>
        <p:sp>
          <p:nvSpPr>
            <p:cNvPr id="15" name="楕円 14">
              <a:extLst>
                <a:ext uri="{FF2B5EF4-FFF2-40B4-BE49-F238E27FC236}">
                  <a16:creationId xmlns:a16="http://schemas.microsoft.com/office/drawing/2014/main" id="{41D2F008-79B5-C2DF-0CFA-B7E747FFA3C3}"/>
                </a:ext>
              </a:extLst>
            </p:cNvPr>
            <p:cNvSpPr/>
            <p:nvPr/>
          </p:nvSpPr>
          <p:spPr>
            <a:xfrm>
              <a:off x="838200" y="3429000"/>
              <a:ext cx="1253765" cy="772998"/>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ja-JP" altLang="en-US"/>
            </a:p>
          </p:txBody>
        </p:sp>
        <p:sp>
          <p:nvSpPr>
            <p:cNvPr id="16" name="正方形/長方形 15">
              <a:extLst>
                <a:ext uri="{FF2B5EF4-FFF2-40B4-BE49-F238E27FC236}">
                  <a16:creationId xmlns:a16="http://schemas.microsoft.com/office/drawing/2014/main" id="{2535F4C9-CBC4-3772-DEC3-C38EB1F59E6E}"/>
                </a:ext>
              </a:extLst>
            </p:cNvPr>
            <p:cNvSpPr/>
            <p:nvPr/>
          </p:nvSpPr>
          <p:spPr>
            <a:xfrm>
              <a:off x="1097824" y="3559005"/>
              <a:ext cx="734518" cy="51298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正方形/長方形 16">
              <a:extLst>
                <a:ext uri="{FF2B5EF4-FFF2-40B4-BE49-F238E27FC236}">
                  <a16:creationId xmlns:a16="http://schemas.microsoft.com/office/drawing/2014/main" id="{225951AA-3E03-1A4F-C529-890F1B285070}"/>
                </a:ext>
              </a:extLst>
            </p:cNvPr>
            <p:cNvSpPr/>
            <p:nvPr/>
          </p:nvSpPr>
          <p:spPr>
            <a:xfrm>
              <a:off x="1097824" y="3566032"/>
              <a:ext cx="370695" cy="258894"/>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pic>
        <p:nvPicPr>
          <p:cNvPr id="30" name="グラフィックス 29" descr="世界 枠線">
            <a:extLst>
              <a:ext uri="{FF2B5EF4-FFF2-40B4-BE49-F238E27FC236}">
                <a16:creationId xmlns:a16="http://schemas.microsoft.com/office/drawing/2014/main" id="{8029382A-F767-BBCA-09BD-5D4A6637FD4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692399" y="3303882"/>
            <a:ext cx="914400" cy="914400"/>
          </a:xfrm>
          <a:prstGeom prst="rect">
            <a:avLst/>
          </a:prstGeom>
        </p:spPr>
      </p:pic>
      <p:sp>
        <p:nvSpPr>
          <p:cNvPr id="33" name="四角形: 角を丸くする 32">
            <a:extLst>
              <a:ext uri="{FF2B5EF4-FFF2-40B4-BE49-F238E27FC236}">
                <a16:creationId xmlns:a16="http://schemas.microsoft.com/office/drawing/2014/main" id="{545F5343-3448-E343-B6CA-515377EC65F8}"/>
              </a:ext>
            </a:extLst>
          </p:cNvPr>
          <p:cNvSpPr/>
          <p:nvPr/>
        </p:nvSpPr>
        <p:spPr>
          <a:xfrm>
            <a:off x="4339968" y="2369450"/>
            <a:ext cx="514836" cy="2466501"/>
          </a:xfrm>
          <a:prstGeom prst="roundRect">
            <a:avLst/>
          </a:prstGeom>
        </p:spPr>
        <p:style>
          <a:lnRef idx="2">
            <a:schemeClr val="accent1"/>
          </a:lnRef>
          <a:fillRef idx="1">
            <a:schemeClr val="lt1"/>
          </a:fillRef>
          <a:effectRef idx="0">
            <a:schemeClr val="accent1"/>
          </a:effectRef>
          <a:fontRef idx="minor">
            <a:schemeClr val="dk1"/>
          </a:fontRef>
        </p:style>
        <p:txBody>
          <a:bodyPr vert="eaVert" rtlCol="0" anchor="ctr"/>
          <a:lstStyle/>
          <a:p>
            <a:pPr algn="ctr"/>
            <a:r>
              <a:rPr lang="ja-JP" altLang="en-US" dirty="0"/>
              <a:t>ファイアウォール・</a:t>
            </a:r>
            <a:r>
              <a:rPr lang="en-US" altLang="ja-JP" dirty="0"/>
              <a:t>NAT</a:t>
            </a:r>
            <a:endParaRPr kumimoji="1" lang="ja-JP" altLang="en-US" dirty="0"/>
          </a:p>
        </p:txBody>
      </p:sp>
      <p:sp>
        <p:nvSpPr>
          <p:cNvPr id="34" name="四角形: 角を丸くする 33">
            <a:extLst>
              <a:ext uri="{FF2B5EF4-FFF2-40B4-BE49-F238E27FC236}">
                <a16:creationId xmlns:a16="http://schemas.microsoft.com/office/drawing/2014/main" id="{F5B9032A-4E74-B8EC-2EEA-F9CE69B3BBDC}"/>
              </a:ext>
            </a:extLst>
          </p:cNvPr>
          <p:cNvSpPr/>
          <p:nvPr/>
        </p:nvSpPr>
        <p:spPr>
          <a:xfrm>
            <a:off x="7431468" y="2369450"/>
            <a:ext cx="514836" cy="2466501"/>
          </a:xfrm>
          <a:prstGeom prst="roundRect">
            <a:avLst/>
          </a:prstGeom>
        </p:spPr>
        <p:style>
          <a:lnRef idx="2">
            <a:schemeClr val="accent1"/>
          </a:lnRef>
          <a:fillRef idx="1">
            <a:schemeClr val="lt1"/>
          </a:fillRef>
          <a:effectRef idx="0">
            <a:schemeClr val="accent1"/>
          </a:effectRef>
          <a:fontRef idx="minor">
            <a:schemeClr val="dk1"/>
          </a:fontRef>
        </p:style>
        <p:txBody>
          <a:bodyPr vert="eaVert" rtlCol="0" anchor="ctr"/>
          <a:lstStyle/>
          <a:p>
            <a:pPr algn="ctr"/>
            <a:r>
              <a:rPr kumimoji="1" lang="ja-JP" altLang="en-US" dirty="0"/>
              <a:t>ファイアウォール・</a:t>
            </a:r>
            <a:r>
              <a:rPr kumimoji="1" lang="en-US" altLang="ja-JP" dirty="0"/>
              <a:t>NAT</a:t>
            </a:r>
            <a:endParaRPr kumimoji="1" lang="ja-JP" altLang="en-US" dirty="0"/>
          </a:p>
        </p:txBody>
      </p:sp>
      <p:cxnSp>
        <p:nvCxnSpPr>
          <p:cNvPr id="42" name="直線矢印コネクタ 41">
            <a:extLst>
              <a:ext uri="{FF2B5EF4-FFF2-40B4-BE49-F238E27FC236}">
                <a16:creationId xmlns:a16="http://schemas.microsoft.com/office/drawing/2014/main" id="{3361C5F5-7143-60CA-4A10-3C75844D7498}"/>
              </a:ext>
            </a:extLst>
          </p:cNvPr>
          <p:cNvCxnSpPr>
            <a:cxnSpLocks/>
            <a:stCxn id="30" idx="3"/>
            <a:endCxn id="34" idx="1"/>
          </p:cNvCxnSpPr>
          <p:nvPr/>
        </p:nvCxnSpPr>
        <p:spPr>
          <a:xfrm flipV="1">
            <a:off x="6606799" y="3602701"/>
            <a:ext cx="824669" cy="158381"/>
          </a:xfrm>
          <a:prstGeom prst="straightConnector1">
            <a:avLst/>
          </a:prstGeom>
          <a:ln>
            <a:prstDash val="dash"/>
            <a:headEnd type="triangle"/>
            <a:tailEnd type="triangle"/>
          </a:ln>
        </p:spPr>
        <p:style>
          <a:lnRef idx="2">
            <a:schemeClr val="accent2"/>
          </a:lnRef>
          <a:fillRef idx="0">
            <a:schemeClr val="accent2"/>
          </a:fillRef>
          <a:effectRef idx="1">
            <a:schemeClr val="accent2"/>
          </a:effectRef>
          <a:fontRef idx="minor">
            <a:schemeClr val="tx1"/>
          </a:fontRef>
        </p:style>
      </p:cxnSp>
      <p:cxnSp>
        <p:nvCxnSpPr>
          <p:cNvPr id="45" name="直線矢印コネクタ 44">
            <a:extLst>
              <a:ext uri="{FF2B5EF4-FFF2-40B4-BE49-F238E27FC236}">
                <a16:creationId xmlns:a16="http://schemas.microsoft.com/office/drawing/2014/main" id="{8B20718C-C6F3-33EC-18AE-46D096E1377D}"/>
              </a:ext>
            </a:extLst>
          </p:cNvPr>
          <p:cNvCxnSpPr>
            <a:cxnSpLocks/>
            <a:stCxn id="5" idx="3"/>
            <a:endCxn id="33" idx="1"/>
          </p:cNvCxnSpPr>
          <p:nvPr/>
        </p:nvCxnSpPr>
        <p:spPr>
          <a:xfrm flipV="1">
            <a:off x="4061099" y="3602701"/>
            <a:ext cx="278869" cy="1083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0" name="直線矢印コネクタ 49">
            <a:extLst>
              <a:ext uri="{FF2B5EF4-FFF2-40B4-BE49-F238E27FC236}">
                <a16:creationId xmlns:a16="http://schemas.microsoft.com/office/drawing/2014/main" id="{F884DEC7-A754-BAB2-200A-E65AAD805A6E}"/>
              </a:ext>
            </a:extLst>
          </p:cNvPr>
          <p:cNvCxnSpPr>
            <a:cxnSpLocks/>
            <a:stCxn id="6" idx="1"/>
            <a:endCxn id="34" idx="3"/>
          </p:cNvCxnSpPr>
          <p:nvPr/>
        </p:nvCxnSpPr>
        <p:spPr>
          <a:xfrm flipH="1">
            <a:off x="7946304" y="3587149"/>
            <a:ext cx="391091" cy="1555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57" name="四角形: 角を丸くする 56">
            <a:extLst>
              <a:ext uri="{FF2B5EF4-FFF2-40B4-BE49-F238E27FC236}">
                <a16:creationId xmlns:a16="http://schemas.microsoft.com/office/drawing/2014/main" id="{C7886DAB-D437-55CC-B86E-9CD29317E0E6}"/>
              </a:ext>
            </a:extLst>
          </p:cNvPr>
          <p:cNvSpPr/>
          <p:nvPr/>
        </p:nvSpPr>
        <p:spPr>
          <a:xfrm>
            <a:off x="1453811" y="1571034"/>
            <a:ext cx="1892704" cy="542724"/>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ja-JP" altLang="en-US" dirty="0"/>
              <a:t>評価側（大学）</a:t>
            </a:r>
            <a:endParaRPr kumimoji="1" lang="ja-JP" altLang="en-US" dirty="0"/>
          </a:p>
        </p:txBody>
      </p:sp>
      <p:sp>
        <p:nvSpPr>
          <p:cNvPr id="58" name="四角形: 角を丸くする 57">
            <a:extLst>
              <a:ext uri="{FF2B5EF4-FFF2-40B4-BE49-F238E27FC236}">
                <a16:creationId xmlns:a16="http://schemas.microsoft.com/office/drawing/2014/main" id="{E4DD317B-3B03-774A-2190-9BE62CDE4137}"/>
              </a:ext>
            </a:extLst>
          </p:cNvPr>
          <p:cNvSpPr/>
          <p:nvPr/>
        </p:nvSpPr>
        <p:spPr>
          <a:xfrm>
            <a:off x="8977633" y="1571034"/>
            <a:ext cx="1892704" cy="542724"/>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dirty="0"/>
              <a:t>相談側</a:t>
            </a:r>
          </a:p>
        </p:txBody>
      </p:sp>
      <p:sp>
        <p:nvSpPr>
          <p:cNvPr id="59" name="四角形: 角を丸くする 58">
            <a:extLst>
              <a:ext uri="{FF2B5EF4-FFF2-40B4-BE49-F238E27FC236}">
                <a16:creationId xmlns:a16="http://schemas.microsoft.com/office/drawing/2014/main" id="{59D45FC5-6EBD-D800-4DFC-B140715D4C2C}"/>
              </a:ext>
            </a:extLst>
          </p:cNvPr>
          <p:cNvSpPr/>
          <p:nvPr/>
        </p:nvSpPr>
        <p:spPr>
          <a:xfrm>
            <a:off x="8344086" y="2800707"/>
            <a:ext cx="3505407" cy="373316"/>
          </a:xfrm>
          <a:prstGeom prst="round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dirty="0"/>
              <a:t>カルテのキャプチャ映像・音声</a:t>
            </a:r>
          </a:p>
        </p:txBody>
      </p:sp>
      <p:sp>
        <p:nvSpPr>
          <p:cNvPr id="60" name="四角形: 角を丸くする 59">
            <a:extLst>
              <a:ext uri="{FF2B5EF4-FFF2-40B4-BE49-F238E27FC236}">
                <a16:creationId xmlns:a16="http://schemas.microsoft.com/office/drawing/2014/main" id="{79744D9C-EE8C-7661-5650-EC67061806FD}"/>
              </a:ext>
            </a:extLst>
          </p:cNvPr>
          <p:cNvSpPr/>
          <p:nvPr/>
        </p:nvSpPr>
        <p:spPr>
          <a:xfrm>
            <a:off x="779465" y="2827093"/>
            <a:ext cx="3102075" cy="373316"/>
          </a:xfrm>
          <a:prstGeom prst="round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dirty="0"/>
              <a:t>音声</a:t>
            </a:r>
          </a:p>
        </p:txBody>
      </p:sp>
      <p:sp>
        <p:nvSpPr>
          <p:cNvPr id="63" name="四角形: 角を丸くする 62">
            <a:extLst>
              <a:ext uri="{FF2B5EF4-FFF2-40B4-BE49-F238E27FC236}">
                <a16:creationId xmlns:a16="http://schemas.microsoft.com/office/drawing/2014/main" id="{495C6840-722F-F761-5FF0-CFA6A92A7013}"/>
              </a:ext>
            </a:extLst>
          </p:cNvPr>
          <p:cNvSpPr/>
          <p:nvPr/>
        </p:nvSpPr>
        <p:spPr>
          <a:xfrm>
            <a:off x="289999" y="3274170"/>
            <a:ext cx="2319373" cy="652223"/>
          </a:xfrm>
          <a:prstGeom prst="roundRect">
            <a:avLst/>
          </a:prstGeom>
          <a:solidFill>
            <a:srgbClr val="FFFFFF">
              <a:alpha val="85098"/>
            </a:srgbClr>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ja-JP" altLang="en-US" dirty="0"/>
          </a:p>
        </p:txBody>
      </p:sp>
      <p:sp>
        <p:nvSpPr>
          <p:cNvPr id="3" name="楕円 2">
            <a:extLst>
              <a:ext uri="{FF2B5EF4-FFF2-40B4-BE49-F238E27FC236}">
                <a16:creationId xmlns:a16="http://schemas.microsoft.com/office/drawing/2014/main" id="{B6ADA894-3EFA-47C7-A313-0BD2E3247086}"/>
              </a:ext>
            </a:extLst>
          </p:cNvPr>
          <p:cNvSpPr/>
          <p:nvPr/>
        </p:nvSpPr>
        <p:spPr>
          <a:xfrm>
            <a:off x="2667701" y="2896597"/>
            <a:ext cx="7059452" cy="1468013"/>
          </a:xfrm>
          <a:prstGeom prst="ellipse">
            <a:avLst/>
          </a:prstGeom>
          <a:noFill/>
          <a:ln w="38100">
            <a:solidFill>
              <a:schemeClr val="accent5"/>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kumimoji="1" lang="ja-JP" altLang="en-US"/>
          </a:p>
        </p:txBody>
      </p:sp>
      <p:sp>
        <p:nvSpPr>
          <p:cNvPr id="39" name="四角形: 角を丸くする 38">
            <a:extLst>
              <a:ext uri="{FF2B5EF4-FFF2-40B4-BE49-F238E27FC236}">
                <a16:creationId xmlns:a16="http://schemas.microsoft.com/office/drawing/2014/main" id="{92192F6B-AA62-BAB0-B277-E05FE19DE528}"/>
              </a:ext>
            </a:extLst>
          </p:cNvPr>
          <p:cNvSpPr/>
          <p:nvPr/>
        </p:nvSpPr>
        <p:spPr>
          <a:xfrm>
            <a:off x="5035172" y="2745063"/>
            <a:ext cx="2179480" cy="373316"/>
          </a:xfrm>
          <a:prstGeom prst="roundRect">
            <a:avLst/>
          </a:prstGeom>
          <a:solidFill>
            <a:schemeClr val="bg1"/>
          </a:solidFill>
          <a:ln>
            <a:solidFill>
              <a:schemeClr val="accent5"/>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ja-JP" dirty="0"/>
              <a:t>VPN</a:t>
            </a:r>
            <a:endParaRPr kumimoji="1" lang="ja-JP" altLang="en-US" dirty="0"/>
          </a:p>
        </p:txBody>
      </p:sp>
      <p:cxnSp>
        <p:nvCxnSpPr>
          <p:cNvPr id="27" name="直線コネクタ 26">
            <a:extLst>
              <a:ext uri="{FF2B5EF4-FFF2-40B4-BE49-F238E27FC236}">
                <a16:creationId xmlns:a16="http://schemas.microsoft.com/office/drawing/2014/main" id="{A31910A7-4687-8B1D-0AA2-FEB2D72AE58C}"/>
              </a:ext>
            </a:extLst>
          </p:cNvPr>
          <p:cNvCxnSpPr/>
          <p:nvPr/>
        </p:nvCxnSpPr>
        <p:spPr>
          <a:xfrm>
            <a:off x="125450" y="5476973"/>
            <a:ext cx="11874872" cy="0"/>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31" name="四角形: 角を丸くする 30">
            <a:extLst>
              <a:ext uri="{FF2B5EF4-FFF2-40B4-BE49-F238E27FC236}">
                <a16:creationId xmlns:a16="http://schemas.microsoft.com/office/drawing/2014/main" id="{A4382DAC-75E9-F79E-65BD-511C927DE1B6}"/>
              </a:ext>
            </a:extLst>
          </p:cNvPr>
          <p:cNvSpPr/>
          <p:nvPr/>
        </p:nvSpPr>
        <p:spPr>
          <a:xfrm>
            <a:off x="2609371" y="5768297"/>
            <a:ext cx="1451727" cy="678729"/>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dirty="0"/>
              <a:t>専用</a:t>
            </a:r>
            <a:r>
              <a:rPr kumimoji="1" lang="en-US" altLang="ja-JP" dirty="0"/>
              <a:t>PC</a:t>
            </a:r>
            <a:endParaRPr kumimoji="1" lang="ja-JP" altLang="en-US" dirty="0"/>
          </a:p>
        </p:txBody>
      </p:sp>
      <p:sp>
        <p:nvSpPr>
          <p:cNvPr id="36" name="四角形: 角を丸くする 35">
            <a:extLst>
              <a:ext uri="{FF2B5EF4-FFF2-40B4-BE49-F238E27FC236}">
                <a16:creationId xmlns:a16="http://schemas.microsoft.com/office/drawing/2014/main" id="{8DA3B013-8D76-BB9C-4909-692C2E1BA040}"/>
              </a:ext>
            </a:extLst>
          </p:cNvPr>
          <p:cNvSpPr/>
          <p:nvPr/>
        </p:nvSpPr>
        <p:spPr>
          <a:xfrm>
            <a:off x="8337395" y="5768297"/>
            <a:ext cx="1451727" cy="678729"/>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dirty="0"/>
              <a:t>専用</a:t>
            </a:r>
            <a:r>
              <a:rPr kumimoji="1" lang="en-US" altLang="ja-JP" dirty="0"/>
              <a:t>PC</a:t>
            </a:r>
            <a:endParaRPr kumimoji="1" lang="ja-JP" altLang="en-US" dirty="0"/>
          </a:p>
        </p:txBody>
      </p:sp>
      <p:cxnSp>
        <p:nvCxnSpPr>
          <p:cNvPr id="40" name="直線矢印コネクタ 39">
            <a:extLst>
              <a:ext uri="{FF2B5EF4-FFF2-40B4-BE49-F238E27FC236}">
                <a16:creationId xmlns:a16="http://schemas.microsoft.com/office/drawing/2014/main" id="{FBBAC9AB-0098-A09F-E265-1680822F569D}"/>
              </a:ext>
            </a:extLst>
          </p:cNvPr>
          <p:cNvCxnSpPr>
            <a:cxnSpLocks/>
            <a:stCxn id="36" idx="1"/>
            <a:endCxn id="31" idx="3"/>
          </p:cNvCxnSpPr>
          <p:nvPr/>
        </p:nvCxnSpPr>
        <p:spPr>
          <a:xfrm flipH="1">
            <a:off x="4061098" y="6107662"/>
            <a:ext cx="4276297" cy="0"/>
          </a:xfrm>
          <a:prstGeom prst="straightConnector1">
            <a:avLst/>
          </a:prstGeom>
          <a:ln>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44" name="四角形: 角を丸くする 43">
            <a:extLst>
              <a:ext uri="{FF2B5EF4-FFF2-40B4-BE49-F238E27FC236}">
                <a16:creationId xmlns:a16="http://schemas.microsoft.com/office/drawing/2014/main" id="{EC7A42C0-A992-D296-72CB-C8CCFE0FB907}"/>
              </a:ext>
            </a:extLst>
          </p:cNvPr>
          <p:cNvSpPr/>
          <p:nvPr/>
        </p:nvSpPr>
        <p:spPr>
          <a:xfrm>
            <a:off x="313266" y="5240318"/>
            <a:ext cx="876692" cy="473309"/>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ja-JP" altLang="en-US" dirty="0"/>
              <a:t>仮想</a:t>
            </a:r>
            <a:endParaRPr kumimoji="1" lang="ja-JP" altLang="en-US" dirty="0"/>
          </a:p>
        </p:txBody>
      </p:sp>
      <p:sp>
        <p:nvSpPr>
          <p:cNvPr id="47" name="四角形: 角を丸くする 46">
            <a:extLst>
              <a:ext uri="{FF2B5EF4-FFF2-40B4-BE49-F238E27FC236}">
                <a16:creationId xmlns:a16="http://schemas.microsoft.com/office/drawing/2014/main" id="{BFA51CEC-53F2-5AAB-7106-A7BE3F7D8045}"/>
              </a:ext>
            </a:extLst>
          </p:cNvPr>
          <p:cNvSpPr/>
          <p:nvPr/>
        </p:nvSpPr>
        <p:spPr>
          <a:xfrm>
            <a:off x="4597386" y="5721162"/>
            <a:ext cx="3441377" cy="291321"/>
          </a:xfrm>
          <a:prstGeom prst="round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dirty="0"/>
              <a:t>仮想的なローカルネットワーク</a:t>
            </a:r>
          </a:p>
        </p:txBody>
      </p:sp>
    </p:spTree>
    <p:extLst>
      <p:ext uri="{BB962C8B-B14F-4D97-AF65-F5344CB8AC3E}">
        <p14:creationId xmlns:p14="http://schemas.microsoft.com/office/powerpoint/2010/main" val="154876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11EE621-A56D-28E7-A69D-0337D9DA1054}"/>
              </a:ext>
            </a:extLst>
          </p:cNvPr>
          <p:cNvSpPr>
            <a:spLocks noGrp="1"/>
          </p:cNvSpPr>
          <p:nvPr>
            <p:ph type="title"/>
          </p:nvPr>
        </p:nvSpPr>
        <p:spPr/>
        <p:txBody>
          <a:bodyPr/>
          <a:lstStyle/>
          <a:p>
            <a:r>
              <a:rPr kumimoji="1" lang="en-US" altLang="ja-JP" dirty="0"/>
              <a:t>VPN</a:t>
            </a:r>
            <a:r>
              <a:rPr lang="ja-JP" altLang="en-US" dirty="0"/>
              <a:t>（インターネット</a:t>
            </a:r>
            <a:r>
              <a:rPr lang="en-US" altLang="ja-JP" dirty="0"/>
              <a:t>VPN</a:t>
            </a:r>
            <a:r>
              <a:rPr lang="ja-JP" altLang="en-US" dirty="0"/>
              <a:t>の場合）</a:t>
            </a:r>
            <a:endParaRPr kumimoji="1" lang="ja-JP" altLang="en-US" dirty="0"/>
          </a:p>
        </p:txBody>
      </p:sp>
      <p:sp>
        <p:nvSpPr>
          <p:cNvPr id="3" name="コンテンツ プレースホルダー 2">
            <a:extLst>
              <a:ext uri="{FF2B5EF4-FFF2-40B4-BE49-F238E27FC236}">
                <a16:creationId xmlns:a16="http://schemas.microsoft.com/office/drawing/2014/main" id="{7BD78896-54C1-1A3C-8EE1-A50E7B5D91DC}"/>
              </a:ext>
            </a:extLst>
          </p:cNvPr>
          <p:cNvSpPr>
            <a:spLocks noGrp="1"/>
          </p:cNvSpPr>
          <p:nvPr>
            <p:ph idx="1"/>
          </p:nvPr>
        </p:nvSpPr>
        <p:spPr>
          <a:xfrm>
            <a:off x="838199" y="1825625"/>
            <a:ext cx="10920663" cy="4351338"/>
          </a:xfrm>
        </p:spPr>
        <p:txBody>
          <a:bodyPr>
            <a:normAutofit lnSpcReduction="10000"/>
          </a:bodyPr>
          <a:lstStyle/>
          <a:p>
            <a:r>
              <a:rPr kumimoji="1" lang="ja-JP" altLang="en-US" dirty="0"/>
              <a:t>仮想的</a:t>
            </a:r>
            <a:r>
              <a:rPr lang="ja-JP" altLang="en-US" dirty="0"/>
              <a:t>で</a:t>
            </a:r>
            <a:r>
              <a:rPr kumimoji="1" lang="ja-JP" altLang="en-US" dirty="0"/>
              <a:t>プライベートなネットワーク</a:t>
            </a:r>
            <a:endParaRPr kumimoji="1" lang="en-US" altLang="ja-JP" dirty="0"/>
          </a:p>
          <a:p>
            <a:r>
              <a:rPr lang="ja-JP" altLang="en-US" dirty="0"/>
              <a:t>インターネット上の任意の機器同士だけが通信可能なネットワークを仮想的に作成</a:t>
            </a:r>
            <a:endParaRPr lang="en-US" altLang="ja-JP" dirty="0"/>
          </a:p>
          <a:p>
            <a:r>
              <a:rPr lang="ja-JP" altLang="en-US" b="1" dirty="0"/>
              <a:t>暗号化された情報を既存のインターネット上に流す</a:t>
            </a:r>
            <a:r>
              <a:rPr lang="ja-JP" altLang="en-US" dirty="0"/>
              <a:t>ことで実現する（外部の人間は情報を取得できても暗号化されているため閲覧できない）</a:t>
            </a:r>
            <a:endParaRPr lang="en-US" altLang="ja-JP" dirty="0"/>
          </a:p>
          <a:p>
            <a:r>
              <a:rPr lang="ja-JP" altLang="en-US" dirty="0"/>
              <a:t>インターネット</a:t>
            </a:r>
            <a:r>
              <a:rPr lang="en-US" altLang="ja-JP" dirty="0"/>
              <a:t>VPN</a:t>
            </a:r>
            <a:r>
              <a:rPr lang="ja-JP" altLang="en-US" dirty="0"/>
              <a:t>の他に</a:t>
            </a:r>
            <a:r>
              <a:rPr lang="en-US" altLang="ja-JP" dirty="0"/>
              <a:t>IP-VPN</a:t>
            </a:r>
            <a:r>
              <a:rPr lang="ja-JP" altLang="en-US" dirty="0"/>
              <a:t>，広域イーサネットもある</a:t>
            </a:r>
            <a:endParaRPr lang="en-US" altLang="ja-JP" dirty="0"/>
          </a:p>
          <a:p>
            <a:endParaRPr lang="en-US" altLang="ja-JP" dirty="0"/>
          </a:p>
          <a:p>
            <a:pPr marL="0" indent="0" algn="ctr">
              <a:buNone/>
            </a:pPr>
            <a:r>
              <a:rPr lang="ja-JP" altLang="en-US" dirty="0">
                <a:solidFill>
                  <a:srgbClr val="FF0000"/>
                </a:solidFill>
              </a:rPr>
              <a:t>インターネットから切り離されたローカルネットワーク上で</a:t>
            </a:r>
            <a:endParaRPr lang="en-US" altLang="ja-JP" dirty="0">
              <a:solidFill>
                <a:srgbClr val="FF0000"/>
              </a:solidFill>
            </a:endParaRPr>
          </a:p>
          <a:p>
            <a:pPr marL="0" indent="0" algn="ctr">
              <a:buNone/>
            </a:pPr>
            <a:r>
              <a:rPr lang="ja-JP" altLang="en-US" dirty="0">
                <a:solidFill>
                  <a:srgbClr val="FF0000"/>
                </a:solidFill>
              </a:rPr>
              <a:t>動画をやり取りする方法が必要</a:t>
            </a:r>
            <a:endParaRPr kumimoji="1" lang="ja-JP" altLang="en-US" dirty="0">
              <a:solidFill>
                <a:srgbClr val="FF0000"/>
              </a:solidFill>
            </a:endParaRPr>
          </a:p>
        </p:txBody>
      </p:sp>
    </p:spTree>
    <p:extLst>
      <p:ext uri="{BB962C8B-B14F-4D97-AF65-F5344CB8AC3E}">
        <p14:creationId xmlns:p14="http://schemas.microsoft.com/office/powerpoint/2010/main" val="1568599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672CC0-3B00-A270-EE92-D2B743E1659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2D6DF95-3EC8-FC41-54D7-550A1E7FC29C}"/>
              </a:ext>
            </a:extLst>
          </p:cNvPr>
          <p:cNvSpPr>
            <a:spLocks noGrp="1"/>
          </p:cNvSpPr>
          <p:nvPr>
            <p:ph type="title"/>
          </p:nvPr>
        </p:nvSpPr>
        <p:spPr/>
        <p:txBody>
          <a:bodyPr/>
          <a:lstStyle/>
          <a:p>
            <a:r>
              <a:rPr kumimoji="1" lang="en-US" altLang="ja-JP" dirty="0"/>
              <a:t>VPN</a:t>
            </a:r>
            <a:r>
              <a:rPr kumimoji="1" lang="ja-JP" altLang="en-US" dirty="0"/>
              <a:t>の実現方法</a:t>
            </a:r>
          </a:p>
        </p:txBody>
      </p:sp>
      <p:sp>
        <p:nvSpPr>
          <p:cNvPr id="3" name="コンテンツ プレースホルダー 2">
            <a:extLst>
              <a:ext uri="{FF2B5EF4-FFF2-40B4-BE49-F238E27FC236}">
                <a16:creationId xmlns:a16="http://schemas.microsoft.com/office/drawing/2014/main" id="{02C0FDBC-9B64-34E9-9D09-D4019600CC44}"/>
              </a:ext>
            </a:extLst>
          </p:cNvPr>
          <p:cNvSpPr>
            <a:spLocks noGrp="1"/>
          </p:cNvSpPr>
          <p:nvPr>
            <p:ph idx="1"/>
          </p:nvPr>
        </p:nvSpPr>
        <p:spPr>
          <a:xfrm>
            <a:off x="838200" y="1825624"/>
            <a:ext cx="10515600" cy="4830009"/>
          </a:xfrm>
        </p:spPr>
        <p:txBody>
          <a:bodyPr>
            <a:normAutofit fontScale="92500" lnSpcReduction="20000"/>
          </a:bodyPr>
          <a:lstStyle/>
          <a:p>
            <a:r>
              <a:rPr kumimoji="1" lang="ja-JP" altLang="en-US" dirty="0"/>
              <a:t>既存のサービスを利用する</a:t>
            </a:r>
            <a:endParaRPr lang="en-US" altLang="ja-JP" dirty="0"/>
          </a:p>
          <a:p>
            <a:pPr lvl="1"/>
            <a:r>
              <a:rPr lang="ja-JP" altLang="en-US" dirty="0"/>
              <a:t>費用感がどれくらいかかるか</a:t>
            </a:r>
            <a:endParaRPr lang="en-US" altLang="ja-JP" dirty="0"/>
          </a:p>
          <a:p>
            <a:pPr lvl="1"/>
            <a:r>
              <a:rPr lang="ja-JP" altLang="en-US" dirty="0"/>
              <a:t>通信事業者が用意する閉域網を使用する方法も選択可能（</a:t>
            </a:r>
            <a:r>
              <a:rPr lang="en-US" altLang="ja-JP" dirty="0"/>
              <a:t> IP-VPN</a:t>
            </a:r>
            <a:r>
              <a:rPr lang="ja-JP" altLang="en-US" dirty="0"/>
              <a:t>・広域イーサネット），外部の人間が暗号化された情報の取得さえできない（高価）</a:t>
            </a:r>
            <a:endParaRPr lang="en-US" altLang="ja-JP" dirty="0"/>
          </a:p>
          <a:p>
            <a:pPr lvl="1"/>
            <a:r>
              <a:rPr lang="en-US" altLang="ja-JP" dirty="0" err="1"/>
              <a:t>Tailscale</a:t>
            </a:r>
            <a:r>
              <a:rPr lang="ja-JP" altLang="en-US" dirty="0"/>
              <a:t>が使いやすい？　</a:t>
            </a:r>
            <a:r>
              <a:rPr lang="en-US" altLang="ja-JP" dirty="0">
                <a:hlinkClick r:id="rId2"/>
              </a:rPr>
              <a:t>https://tailscale.com/pricing</a:t>
            </a:r>
            <a:endParaRPr lang="en-US" altLang="ja-JP" dirty="0"/>
          </a:p>
          <a:p>
            <a:pPr marL="457200" lvl="1" indent="0">
              <a:buNone/>
            </a:pPr>
            <a:endParaRPr lang="en-US" altLang="ja-JP" dirty="0"/>
          </a:p>
          <a:p>
            <a:r>
              <a:rPr kumimoji="1" lang="ja-JP" altLang="en-US" dirty="0"/>
              <a:t>自前で</a:t>
            </a:r>
            <a:r>
              <a:rPr kumimoji="1" lang="en-US" altLang="ja-JP" dirty="0"/>
              <a:t>VPN</a:t>
            </a:r>
            <a:r>
              <a:rPr kumimoji="1" lang="ja-JP" altLang="en-US" dirty="0"/>
              <a:t>サーバーを用意する</a:t>
            </a:r>
            <a:endParaRPr kumimoji="1" lang="en-US" altLang="ja-JP" dirty="0"/>
          </a:p>
          <a:p>
            <a:pPr lvl="1"/>
            <a:r>
              <a:rPr lang="ja-JP" altLang="en-US" dirty="0"/>
              <a:t>運用・更新の手間，機器の用意，情報統括センターに対する申請（大学のセキュリティに一部穴をあける形になる）</a:t>
            </a:r>
            <a:endParaRPr lang="en-US" altLang="ja-JP" dirty="0"/>
          </a:p>
          <a:p>
            <a:pPr lvl="1"/>
            <a:endParaRPr kumimoji="1" lang="en-US" altLang="ja-JP" dirty="0"/>
          </a:p>
          <a:p>
            <a:r>
              <a:rPr lang="ja-JP" altLang="en-US" dirty="0"/>
              <a:t>自前で</a:t>
            </a:r>
            <a:r>
              <a:rPr lang="en-US" altLang="ja-JP" dirty="0"/>
              <a:t>VPN</a:t>
            </a:r>
            <a:r>
              <a:rPr lang="ja-JP" altLang="en-US" dirty="0"/>
              <a:t>ルーターを用意する</a:t>
            </a:r>
            <a:endParaRPr lang="en-US" altLang="ja-JP" dirty="0"/>
          </a:p>
          <a:p>
            <a:pPr lvl="1"/>
            <a:r>
              <a:rPr kumimoji="1" lang="ja-JP" altLang="en-US" dirty="0"/>
              <a:t>運用・更新の手間，機器の用意？</a:t>
            </a:r>
            <a:endParaRPr kumimoji="1" lang="en-US" altLang="ja-JP" dirty="0"/>
          </a:p>
          <a:p>
            <a:pPr lvl="1"/>
            <a:endParaRPr lang="en-US" altLang="ja-JP" dirty="0"/>
          </a:p>
          <a:p>
            <a:pPr marL="0" indent="0" algn="ctr">
              <a:buNone/>
            </a:pPr>
            <a:r>
              <a:rPr lang="en-US" altLang="ja-JP" dirty="0" err="1">
                <a:solidFill>
                  <a:srgbClr val="FF0000"/>
                </a:solidFill>
              </a:rPr>
              <a:t>Tailscale</a:t>
            </a:r>
            <a:r>
              <a:rPr lang="ja-JP" altLang="en-US" dirty="0">
                <a:solidFill>
                  <a:srgbClr val="FF0000"/>
                </a:solidFill>
              </a:rPr>
              <a:t>は個人が無料，すぐ試せるため試用</a:t>
            </a:r>
            <a:endParaRPr lang="en-US" altLang="ja-JP" dirty="0">
              <a:solidFill>
                <a:srgbClr val="FF0000"/>
              </a:solidFill>
            </a:endParaRPr>
          </a:p>
        </p:txBody>
      </p:sp>
    </p:spTree>
    <p:extLst>
      <p:ext uri="{BB962C8B-B14F-4D97-AF65-F5344CB8AC3E}">
        <p14:creationId xmlns:p14="http://schemas.microsoft.com/office/powerpoint/2010/main" val="25337863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718109-4B9F-1F53-7021-040D06E673EB}"/>
            </a:ext>
          </a:extLst>
        </p:cNvPr>
        <p:cNvGrpSpPr/>
        <p:nvPr/>
      </p:nvGrpSpPr>
      <p:grpSpPr>
        <a:xfrm>
          <a:off x="0" y="0"/>
          <a:ext cx="0" cy="0"/>
          <a:chOff x="0" y="0"/>
          <a:chExt cx="0" cy="0"/>
        </a:xfrm>
      </p:grpSpPr>
      <p:sp>
        <p:nvSpPr>
          <p:cNvPr id="38" name="四角形: 角を丸くする 37">
            <a:extLst>
              <a:ext uri="{FF2B5EF4-FFF2-40B4-BE49-F238E27FC236}">
                <a16:creationId xmlns:a16="http://schemas.microsoft.com/office/drawing/2014/main" id="{E0056DD3-2A43-BE05-DCA1-7E2F481FA8BC}"/>
              </a:ext>
            </a:extLst>
          </p:cNvPr>
          <p:cNvSpPr/>
          <p:nvPr/>
        </p:nvSpPr>
        <p:spPr>
          <a:xfrm>
            <a:off x="7638855" y="1809947"/>
            <a:ext cx="4512538" cy="1951136"/>
          </a:xfrm>
          <a:prstGeom prst="roundRect">
            <a:avLst/>
          </a:prstGeom>
        </p:spPr>
        <p:style>
          <a:lnRef idx="2">
            <a:schemeClr val="accent1"/>
          </a:lnRef>
          <a:fillRef idx="1">
            <a:schemeClr val="lt1"/>
          </a:fillRef>
          <a:effectRef idx="0">
            <a:schemeClr val="accent1"/>
          </a:effectRef>
          <a:fontRef idx="minor">
            <a:schemeClr val="dk1"/>
          </a:fontRef>
        </p:style>
        <p:txBody>
          <a:bodyPr rtlCol="0" anchor="b"/>
          <a:lstStyle/>
          <a:p>
            <a:pPr algn="ctr"/>
            <a:r>
              <a:rPr lang="en-US" altLang="ja-JP" dirty="0"/>
              <a:t>LAN</a:t>
            </a:r>
            <a:endParaRPr kumimoji="1" lang="ja-JP" altLang="en-US" dirty="0"/>
          </a:p>
        </p:txBody>
      </p:sp>
      <p:sp>
        <p:nvSpPr>
          <p:cNvPr id="37" name="四角形: 角を丸くする 36">
            <a:extLst>
              <a:ext uri="{FF2B5EF4-FFF2-40B4-BE49-F238E27FC236}">
                <a16:creationId xmlns:a16="http://schemas.microsoft.com/office/drawing/2014/main" id="{CB265478-6FB9-298D-17DE-6A05F4438405}"/>
              </a:ext>
            </a:extLst>
          </p:cNvPr>
          <p:cNvSpPr/>
          <p:nvPr/>
        </p:nvSpPr>
        <p:spPr>
          <a:xfrm>
            <a:off x="125450" y="1809946"/>
            <a:ext cx="4512538" cy="1872015"/>
          </a:xfrm>
          <a:prstGeom prst="roundRect">
            <a:avLst/>
          </a:prstGeom>
        </p:spPr>
        <p:style>
          <a:lnRef idx="2">
            <a:schemeClr val="accent1"/>
          </a:lnRef>
          <a:fillRef idx="1">
            <a:schemeClr val="lt1"/>
          </a:fillRef>
          <a:effectRef idx="0">
            <a:schemeClr val="accent1"/>
          </a:effectRef>
          <a:fontRef idx="minor">
            <a:schemeClr val="dk1"/>
          </a:fontRef>
        </p:style>
        <p:txBody>
          <a:bodyPr rtlCol="0" anchor="b"/>
          <a:lstStyle/>
          <a:p>
            <a:pPr algn="ctr"/>
            <a:r>
              <a:rPr lang="en-US" altLang="ja-JP" dirty="0"/>
              <a:t>LAN</a:t>
            </a:r>
            <a:endParaRPr kumimoji="1" lang="ja-JP" altLang="en-US" dirty="0"/>
          </a:p>
        </p:txBody>
      </p:sp>
      <p:sp>
        <p:nvSpPr>
          <p:cNvPr id="2" name="タイトル 1">
            <a:extLst>
              <a:ext uri="{FF2B5EF4-FFF2-40B4-BE49-F238E27FC236}">
                <a16:creationId xmlns:a16="http://schemas.microsoft.com/office/drawing/2014/main" id="{046C2CF9-CB6C-769C-96EC-226239854741}"/>
              </a:ext>
            </a:extLst>
          </p:cNvPr>
          <p:cNvSpPr>
            <a:spLocks noGrp="1"/>
          </p:cNvSpPr>
          <p:nvPr>
            <p:ph type="title"/>
          </p:nvPr>
        </p:nvSpPr>
        <p:spPr>
          <a:xfrm>
            <a:off x="838200" y="365125"/>
            <a:ext cx="11353800" cy="1325563"/>
          </a:xfrm>
        </p:spPr>
        <p:txBody>
          <a:bodyPr/>
          <a:lstStyle/>
          <a:p>
            <a:r>
              <a:rPr lang="ja-JP" altLang="en-US" dirty="0"/>
              <a:t>実装（</a:t>
            </a:r>
            <a:r>
              <a:rPr lang="en-US" altLang="ja-JP" dirty="0"/>
              <a:t>VPN</a:t>
            </a:r>
            <a:r>
              <a:rPr lang="ja-JP" altLang="en-US" dirty="0"/>
              <a:t>）</a:t>
            </a:r>
            <a:endParaRPr kumimoji="1" lang="ja-JP" altLang="en-US" dirty="0"/>
          </a:p>
        </p:txBody>
      </p:sp>
      <p:cxnSp>
        <p:nvCxnSpPr>
          <p:cNvPr id="7" name="直線矢印コネクタ 6">
            <a:extLst>
              <a:ext uri="{FF2B5EF4-FFF2-40B4-BE49-F238E27FC236}">
                <a16:creationId xmlns:a16="http://schemas.microsoft.com/office/drawing/2014/main" id="{C3E21ED3-E02F-B4E5-CB74-FA1177A363F9}"/>
              </a:ext>
            </a:extLst>
          </p:cNvPr>
          <p:cNvCxnSpPr>
            <a:cxnSpLocks/>
            <a:stCxn id="33" idx="3"/>
            <a:endCxn id="30" idx="1"/>
          </p:cNvCxnSpPr>
          <p:nvPr/>
        </p:nvCxnSpPr>
        <p:spPr>
          <a:xfrm flipV="1">
            <a:off x="4852078" y="2683131"/>
            <a:ext cx="807106" cy="51327"/>
          </a:xfrm>
          <a:prstGeom prst="straightConnector1">
            <a:avLst/>
          </a:prstGeom>
          <a:ln>
            <a:prstDash val="dash"/>
            <a:headEnd type="triangle"/>
            <a:tailEnd type="triangle"/>
          </a:ln>
        </p:spPr>
        <p:style>
          <a:lnRef idx="2">
            <a:schemeClr val="accent2"/>
          </a:lnRef>
          <a:fillRef idx="0">
            <a:schemeClr val="accent2"/>
          </a:fillRef>
          <a:effectRef idx="1">
            <a:schemeClr val="accent2"/>
          </a:effectRef>
          <a:fontRef idx="minor">
            <a:schemeClr val="tx1"/>
          </a:fontRef>
        </p:style>
      </p:cxnSp>
      <p:pic>
        <p:nvPicPr>
          <p:cNvPr id="30" name="グラフィックス 29" descr="世界 枠線">
            <a:extLst>
              <a:ext uri="{FF2B5EF4-FFF2-40B4-BE49-F238E27FC236}">
                <a16:creationId xmlns:a16="http://schemas.microsoft.com/office/drawing/2014/main" id="{20CF1E13-FFA4-D52A-8D6D-478544F4F6C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659184" y="2225931"/>
            <a:ext cx="914400" cy="914400"/>
          </a:xfrm>
          <a:prstGeom prst="rect">
            <a:avLst/>
          </a:prstGeom>
        </p:spPr>
      </p:pic>
      <p:sp>
        <p:nvSpPr>
          <p:cNvPr id="33" name="四角形: 角を丸くする 32">
            <a:extLst>
              <a:ext uri="{FF2B5EF4-FFF2-40B4-BE49-F238E27FC236}">
                <a16:creationId xmlns:a16="http://schemas.microsoft.com/office/drawing/2014/main" id="{6AC02903-7007-5400-5370-67C5E97FF74C}"/>
              </a:ext>
            </a:extLst>
          </p:cNvPr>
          <p:cNvSpPr/>
          <p:nvPr/>
        </p:nvSpPr>
        <p:spPr>
          <a:xfrm>
            <a:off x="4337242" y="2117832"/>
            <a:ext cx="514836" cy="1233251"/>
          </a:xfrm>
          <a:prstGeom prst="roundRect">
            <a:avLst/>
          </a:prstGeom>
        </p:spPr>
        <p:style>
          <a:lnRef idx="2">
            <a:schemeClr val="accent1"/>
          </a:lnRef>
          <a:fillRef idx="1">
            <a:schemeClr val="lt1"/>
          </a:fillRef>
          <a:effectRef idx="0">
            <a:schemeClr val="accent1"/>
          </a:effectRef>
          <a:fontRef idx="minor">
            <a:schemeClr val="dk1"/>
          </a:fontRef>
        </p:style>
        <p:txBody>
          <a:bodyPr vert="eaVert" rtlCol="0" anchor="ctr"/>
          <a:lstStyle/>
          <a:p>
            <a:pPr algn="ctr"/>
            <a:r>
              <a:rPr lang="en-US" altLang="ja-JP" dirty="0"/>
              <a:t>FW/NAT</a:t>
            </a:r>
            <a:endParaRPr kumimoji="1" lang="ja-JP" altLang="en-US" dirty="0"/>
          </a:p>
        </p:txBody>
      </p:sp>
      <p:sp>
        <p:nvSpPr>
          <p:cNvPr id="34" name="四角形: 角を丸くする 33">
            <a:extLst>
              <a:ext uri="{FF2B5EF4-FFF2-40B4-BE49-F238E27FC236}">
                <a16:creationId xmlns:a16="http://schemas.microsoft.com/office/drawing/2014/main" id="{E564CA3F-6BF2-D66F-E8CA-04AB721EEC00}"/>
              </a:ext>
            </a:extLst>
          </p:cNvPr>
          <p:cNvSpPr/>
          <p:nvPr/>
        </p:nvSpPr>
        <p:spPr>
          <a:xfrm>
            <a:off x="7428742" y="2117833"/>
            <a:ext cx="514836" cy="1312510"/>
          </a:xfrm>
          <a:prstGeom prst="roundRect">
            <a:avLst/>
          </a:prstGeom>
        </p:spPr>
        <p:style>
          <a:lnRef idx="2">
            <a:schemeClr val="accent1"/>
          </a:lnRef>
          <a:fillRef idx="1">
            <a:schemeClr val="lt1"/>
          </a:fillRef>
          <a:effectRef idx="0">
            <a:schemeClr val="accent1"/>
          </a:effectRef>
          <a:fontRef idx="minor">
            <a:schemeClr val="dk1"/>
          </a:fontRef>
        </p:style>
        <p:txBody>
          <a:bodyPr vert="eaVert" rtlCol="0" anchor="ctr"/>
          <a:lstStyle/>
          <a:p>
            <a:pPr algn="ctr"/>
            <a:r>
              <a:rPr kumimoji="1" lang="en-US" altLang="ja-JP" dirty="0"/>
              <a:t>FW/NAT</a:t>
            </a:r>
            <a:endParaRPr kumimoji="1" lang="ja-JP" altLang="en-US" dirty="0"/>
          </a:p>
        </p:txBody>
      </p:sp>
      <p:cxnSp>
        <p:nvCxnSpPr>
          <p:cNvPr id="42" name="直線矢印コネクタ 41">
            <a:extLst>
              <a:ext uri="{FF2B5EF4-FFF2-40B4-BE49-F238E27FC236}">
                <a16:creationId xmlns:a16="http://schemas.microsoft.com/office/drawing/2014/main" id="{08947066-B29D-DD39-5AF7-075298A3B438}"/>
              </a:ext>
            </a:extLst>
          </p:cNvPr>
          <p:cNvCxnSpPr>
            <a:cxnSpLocks/>
            <a:stCxn id="30" idx="3"/>
            <a:endCxn id="34" idx="1"/>
          </p:cNvCxnSpPr>
          <p:nvPr/>
        </p:nvCxnSpPr>
        <p:spPr>
          <a:xfrm>
            <a:off x="6573584" y="2683131"/>
            <a:ext cx="855158" cy="90957"/>
          </a:xfrm>
          <a:prstGeom prst="straightConnector1">
            <a:avLst/>
          </a:prstGeom>
          <a:ln>
            <a:prstDash val="dash"/>
            <a:headEnd type="triangle"/>
            <a:tailEnd type="triangle"/>
          </a:ln>
        </p:spPr>
        <p:style>
          <a:lnRef idx="2">
            <a:schemeClr val="accent2"/>
          </a:lnRef>
          <a:fillRef idx="0">
            <a:schemeClr val="accent2"/>
          </a:fillRef>
          <a:effectRef idx="1">
            <a:schemeClr val="accent2"/>
          </a:effectRef>
          <a:fontRef idx="minor">
            <a:schemeClr val="tx1"/>
          </a:fontRef>
        </p:style>
      </p:cxnSp>
      <p:cxnSp>
        <p:nvCxnSpPr>
          <p:cNvPr id="50" name="直線矢印コネクタ 49">
            <a:extLst>
              <a:ext uri="{FF2B5EF4-FFF2-40B4-BE49-F238E27FC236}">
                <a16:creationId xmlns:a16="http://schemas.microsoft.com/office/drawing/2014/main" id="{F92AEBF5-340B-F247-47AF-9DDA03B08445}"/>
              </a:ext>
            </a:extLst>
          </p:cNvPr>
          <p:cNvCxnSpPr>
            <a:cxnSpLocks/>
            <a:stCxn id="6" idx="1"/>
            <a:endCxn id="34" idx="3"/>
          </p:cNvCxnSpPr>
          <p:nvPr/>
        </p:nvCxnSpPr>
        <p:spPr>
          <a:xfrm flipH="1">
            <a:off x="7943578" y="2755145"/>
            <a:ext cx="327588" cy="1894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58" name="四角形: 角を丸くする 57">
            <a:extLst>
              <a:ext uri="{FF2B5EF4-FFF2-40B4-BE49-F238E27FC236}">
                <a16:creationId xmlns:a16="http://schemas.microsoft.com/office/drawing/2014/main" id="{DBC0BB68-5D6D-BBF5-3E9D-7F96FE62310C}"/>
              </a:ext>
            </a:extLst>
          </p:cNvPr>
          <p:cNvSpPr/>
          <p:nvPr/>
        </p:nvSpPr>
        <p:spPr>
          <a:xfrm>
            <a:off x="8977633" y="1571034"/>
            <a:ext cx="1892704" cy="542724"/>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dirty="0"/>
              <a:t>相談側</a:t>
            </a:r>
          </a:p>
        </p:txBody>
      </p:sp>
      <p:grpSp>
        <p:nvGrpSpPr>
          <p:cNvPr id="8" name="グループ化 7">
            <a:extLst>
              <a:ext uri="{FF2B5EF4-FFF2-40B4-BE49-F238E27FC236}">
                <a16:creationId xmlns:a16="http://schemas.microsoft.com/office/drawing/2014/main" id="{47AF29DA-5F4C-C387-F964-F5430E34885A}"/>
              </a:ext>
            </a:extLst>
          </p:cNvPr>
          <p:cNvGrpSpPr/>
          <p:nvPr/>
        </p:nvGrpSpPr>
        <p:grpSpPr>
          <a:xfrm>
            <a:off x="8271166" y="2391773"/>
            <a:ext cx="3729156" cy="702736"/>
            <a:chOff x="8337395" y="3223777"/>
            <a:chExt cx="3729156" cy="702736"/>
          </a:xfrm>
        </p:grpSpPr>
        <p:sp>
          <p:nvSpPr>
            <p:cNvPr id="6" name="四角形: 角を丸くする 5">
              <a:extLst>
                <a:ext uri="{FF2B5EF4-FFF2-40B4-BE49-F238E27FC236}">
                  <a16:creationId xmlns:a16="http://schemas.microsoft.com/office/drawing/2014/main" id="{FF23ACA2-9D1E-FB46-57BB-7917E3FE7DA3}"/>
                </a:ext>
              </a:extLst>
            </p:cNvPr>
            <p:cNvSpPr/>
            <p:nvPr/>
          </p:nvSpPr>
          <p:spPr>
            <a:xfrm>
              <a:off x="8337395" y="3247784"/>
              <a:ext cx="1451727" cy="678729"/>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dirty="0"/>
                <a:t>専用</a:t>
              </a:r>
              <a:r>
                <a:rPr kumimoji="1" lang="en-US" altLang="ja-JP" dirty="0"/>
                <a:t>PC</a:t>
              </a:r>
              <a:endParaRPr kumimoji="1" lang="ja-JP" altLang="en-US" dirty="0"/>
            </a:p>
          </p:txBody>
        </p:sp>
        <p:pic>
          <p:nvPicPr>
            <p:cNvPr id="20" name="図 19" descr="ゲームの画面&#10;&#10;AI 生成コンテンツは誤りを含む可能性があります。">
              <a:extLst>
                <a:ext uri="{FF2B5EF4-FFF2-40B4-BE49-F238E27FC236}">
                  <a16:creationId xmlns:a16="http://schemas.microsoft.com/office/drawing/2014/main" id="{9D16B629-E730-200A-4054-2BBBF7EFABB8}"/>
                </a:ext>
              </a:extLst>
            </p:cNvPr>
            <p:cNvPicPr>
              <a:picLocks noChangeAspect="1"/>
            </p:cNvPicPr>
            <p:nvPr/>
          </p:nvPicPr>
          <p:blipFill>
            <a:blip r:embed="rId4"/>
            <a:stretch>
              <a:fillRect/>
            </a:stretch>
          </p:blipFill>
          <p:spPr>
            <a:xfrm>
              <a:off x="10696557" y="3223777"/>
              <a:ext cx="1369994" cy="652222"/>
            </a:xfrm>
            <a:prstGeom prst="rect">
              <a:avLst/>
            </a:prstGeom>
          </p:spPr>
        </p:pic>
        <p:cxnSp>
          <p:nvCxnSpPr>
            <p:cNvPr id="24" name="直線矢印コネクタ 23">
              <a:extLst>
                <a:ext uri="{FF2B5EF4-FFF2-40B4-BE49-F238E27FC236}">
                  <a16:creationId xmlns:a16="http://schemas.microsoft.com/office/drawing/2014/main" id="{5AABA59D-36D3-17C5-7A45-614B3192C274}"/>
                </a:ext>
              </a:extLst>
            </p:cNvPr>
            <p:cNvCxnSpPr>
              <a:cxnSpLocks/>
              <a:stCxn id="20" idx="1"/>
              <a:endCxn id="6" idx="3"/>
            </p:cNvCxnSpPr>
            <p:nvPr/>
          </p:nvCxnSpPr>
          <p:spPr>
            <a:xfrm flipH="1">
              <a:off x="9789122" y="3549888"/>
              <a:ext cx="907435" cy="3726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nvGrpSpPr>
            <p:cNvPr id="14" name="グループ化 13">
              <a:extLst>
                <a:ext uri="{FF2B5EF4-FFF2-40B4-BE49-F238E27FC236}">
                  <a16:creationId xmlns:a16="http://schemas.microsoft.com/office/drawing/2014/main" id="{D4BF51E6-92E7-A290-8AC1-0642BDA47B24}"/>
                </a:ext>
              </a:extLst>
            </p:cNvPr>
            <p:cNvGrpSpPr/>
            <p:nvPr/>
          </p:nvGrpSpPr>
          <p:grpSpPr>
            <a:xfrm>
              <a:off x="9916778" y="3346832"/>
              <a:ext cx="653467" cy="402889"/>
              <a:chOff x="838200" y="3429000"/>
              <a:chExt cx="1253765" cy="772998"/>
            </a:xfrm>
          </p:grpSpPr>
          <p:sp>
            <p:nvSpPr>
              <p:cNvPr id="15" name="楕円 14">
                <a:extLst>
                  <a:ext uri="{FF2B5EF4-FFF2-40B4-BE49-F238E27FC236}">
                    <a16:creationId xmlns:a16="http://schemas.microsoft.com/office/drawing/2014/main" id="{170D1D1D-1988-95A1-D6D8-554D858C1E7B}"/>
                  </a:ext>
                </a:extLst>
              </p:cNvPr>
              <p:cNvSpPr/>
              <p:nvPr/>
            </p:nvSpPr>
            <p:spPr>
              <a:xfrm>
                <a:off x="838200" y="3429000"/>
                <a:ext cx="1253765" cy="772998"/>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ja-JP" altLang="en-US"/>
              </a:p>
            </p:txBody>
          </p:sp>
          <p:sp>
            <p:nvSpPr>
              <p:cNvPr id="16" name="正方形/長方形 15">
                <a:extLst>
                  <a:ext uri="{FF2B5EF4-FFF2-40B4-BE49-F238E27FC236}">
                    <a16:creationId xmlns:a16="http://schemas.microsoft.com/office/drawing/2014/main" id="{5999E748-C2D2-36BD-9896-B2C93DCFB81D}"/>
                  </a:ext>
                </a:extLst>
              </p:cNvPr>
              <p:cNvSpPr/>
              <p:nvPr/>
            </p:nvSpPr>
            <p:spPr>
              <a:xfrm>
                <a:off x="1097824" y="3559005"/>
                <a:ext cx="734518" cy="51298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正方形/長方形 16">
                <a:extLst>
                  <a:ext uri="{FF2B5EF4-FFF2-40B4-BE49-F238E27FC236}">
                    <a16:creationId xmlns:a16="http://schemas.microsoft.com/office/drawing/2014/main" id="{F8D6815F-B29B-DDDC-F891-D8DB9BA902F6}"/>
                  </a:ext>
                </a:extLst>
              </p:cNvPr>
              <p:cNvSpPr/>
              <p:nvPr/>
            </p:nvSpPr>
            <p:spPr>
              <a:xfrm>
                <a:off x="1097824" y="3566032"/>
                <a:ext cx="370695" cy="258894"/>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cxnSp>
        <p:nvCxnSpPr>
          <p:cNvPr id="45" name="直線矢印コネクタ 44">
            <a:extLst>
              <a:ext uri="{FF2B5EF4-FFF2-40B4-BE49-F238E27FC236}">
                <a16:creationId xmlns:a16="http://schemas.microsoft.com/office/drawing/2014/main" id="{ABD6983A-01D9-0501-5DCA-3F3B3FD225FA}"/>
              </a:ext>
            </a:extLst>
          </p:cNvPr>
          <p:cNvCxnSpPr>
            <a:cxnSpLocks/>
            <a:stCxn id="5" idx="3"/>
            <a:endCxn id="33" idx="1"/>
          </p:cNvCxnSpPr>
          <p:nvPr/>
        </p:nvCxnSpPr>
        <p:spPr>
          <a:xfrm flipV="1">
            <a:off x="4052747" y="2734458"/>
            <a:ext cx="284495" cy="2479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nvGrpSpPr>
          <p:cNvPr id="78" name="グループ化 77">
            <a:extLst>
              <a:ext uri="{FF2B5EF4-FFF2-40B4-BE49-F238E27FC236}">
                <a16:creationId xmlns:a16="http://schemas.microsoft.com/office/drawing/2014/main" id="{8732BA22-18E3-0E49-7DD3-5DBCDE609CCB}"/>
              </a:ext>
            </a:extLst>
          </p:cNvPr>
          <p:cNvGrpSpPr/>
          <p:nvPr/>
        </p:nvGrpSpPr>
        <p:grpSpPr>
          <a:xfrm>
            <a:off x="281647" y="2410446"/>
            <a:ext cx="3771100" cy="688170"/>
            <a:chOff x="281647" y="2410446"/>
            <a:chExt cx="3771100" cy="688170"/>
          </a:xfrm>
        </p:grpSpPr>
        <p:sp>
          <p:nvSpPr>
            <p:cNvPr id="5" name="四角形: 角を丸くする 4">
              <a:extLst>
                <a:ext uri="{FF2B5EF4-FFF2-40B4-BE49-F238E27FC236}">
                  <a16:creationId xmlns:a16="http://schemas.microsoft.com/office/drawing/2014/main" id="{70887ACE-35F3-717D-048C-3892178D5FF9}"/>
                </a:ext>
              </a:extLst>
            </p:cNvPr>
            <p:cNvSpPr/>
            <p:nvPr/>
          </p:nvSpPr>
          <p:spPr>
            <a:xfrm>
              <a:off x="2601020" y="2419887"/>
              <a:ext cx="1451727" cy="678729"/>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dirty="0"/>
                <a:t>専用</a:t>
              </a:r>
              <a:r>
                <a:rPr kumimoji="1" lang="en-US" altLang="ja-JP" dirty="0"/>
                <a:t>PC</a:t>
              </a:r>
              <a:endParaRPr kumimoji="1" lang="ja-JP" altLang="en-US" dirty="0"/>
            </a:p>
          </p:txBody>
        </p:sp>
        <p:pic>
          <p:nvPicPr>
            <p:cNvPr id="19" name="図 18" descr="ゲームの画面&#10;&#10;AI 生成コンテンツは誤りを含む可能性があります。">
              <a:extLst>
                <a:ext uri="{FF2B5EF4-FFF2-40B4-BE49-F238E27FC236}">
                  <a16:creationId xmlns:a16="http://schemas.microsoft.com/office/drawing/2014/main" id="{DE34013B-CC11-94A3-E56F-18A486651284}"/>
                </a:ext>
              </a:extLst>
            </p:cNvPr>
            <p:cNvPicPr>
              <a:picLocks noChangeAspect="1"/>
            </p:cNvPicPr>
            <p:nvPr/>
          </p:nvPicPr>
          <p:blipFill>
            <a:blip r:embed="rId4"/>
            <a:stretch>
              <a:fillRect/>
            </a:stretch>
          </p:blipFill>
          <p:spPr>
            <a:xfrm>
              <a:off x="352767" y="2410446"/>
              <a:ext cx="1369994" cy="652222"/>
            </a:xfrm>
            <a:prstGeom prst="rect">
              <a:avLst/>
            </a:prstGeom>
          </p:spPr>
        </p:pic>
        <p:cxnSp>
          <p:nvCxnSpPr>
            <p:cNvPr id="23" name="直線矢印コネクタ 22">
              <a:extLst>
                <a:ext uri="{FF2B5EF4-FFF2-40B4-BE49-F238E27FC236}">
                  <a16:creationId xmlns:a16="http://schemas.microsoft.com/office/drawing/2014/main" id="{55E0D737-E142-AB70-215E-896961A34F87}"/>
                </a:ext>
              </a:extLst>
            </p:cNvPr>
            <p:cNvCxnSpPr>
              <a:stCxn id="19" idx="3"/>
              <a:endCxn id="5" idx="1"/>
            </p:cNvCxnSpPr>
            <p:nvPr/>
          </p:nvCxnSpPr>
          <p:spPr>
            <a:xfrm>
              <a:off x="1722761" y="2736557"/>
              <a:ext cx="878259" cy="2269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nvGrpSpPr>
            <p:cNvPr id="13" name="グループ化 12">
              <a:extLst>
                <a:ext uri="{FF2B5EF4-FFF2-40B4-BE49-F238E27FC236}">
                  <a16:creationId xmlns:a16="http://schemas.microsoft.com/office/drawing/2014/main" id="{1FCAC090-A21C-F39C-CE77-BC636C72B1EE}"/>
                </a:ext>
              </a:extLst>
            </p:cNvPr>
            <p:cNvGrpSpPr/>
            <p:nvPr/>
          </p:nvGrpSpPr>
          <p:grpSpPr>
            <a:xfrm>
              <a:off x="1825081" y="2549892"/>
              <a:ext cx="626881" cy="386498"/>
              <a:chOff x="838200" y="3429000"/>
              <a:chExt cx="1253765" cy="772998"/>
            </a:xfrm>
          </p:grpSpPr>
          <p:sp>
            <p:nvSpPr>
              <p:cNvPr id="12" name="楕円 11">
                <a:extLst>
                  <a:ext uri="{FF2B5EF4-FFF2-40B4-BE49-F238E27FC236}">
                    <a16:creationId xmlns:a16="http://schemas.microsoft.com/office/drawing/2014/main" id="{26E2E794-A29D-294D-E6C8-B1F4363E4F63}"/>
                  </a:ext>
                </a:extLst>
              </p:cNvPr>
              <p:cNvSpPr/>
              <p:nvPr/>
            </p:nvSpPr>
            <p:spPr>
              <a:xfrm>
                <a:off x="838200" y="3429000"/>
                <a:ext cx="1253765" cy="772998"/>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ja-JP" altLang="en-US"/>
              </a:p>
            </p:txBody>
          </p:sp>
          <p:sp>
            <p:nvSpPr>
              <p:cNvPr id="10" name="正方形/長方形 9">
                <a:extLst>
                  <a:ext uri="{FF2B5EF4-FFF2-40B4-BE49-F238E27FC236}">
                    <a16:creationId xmlns:a16="http://schemas.microsoft.com/office/drawing/2014/main" id="{828A0ED8-7B1C-7FFF-3E06-156339246E10}"/>
                  </a:ext>
                </a:extLst>
              </p:cNvPr>
              <p:cNvSpPr/>
              <p:nvPr/>
            </p:nvSpPr>
            <p:spPr>
              <a:xfrm>
                <a:off x="1097824" y="3559005"/>
                <a:ext cx="734518" cy="51298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正方形/長方形 10">
                <a:extLst>
                  <a:ext uri="{FF2B5EF4-FFF2-40B4-BE49-F238E27FC236}">
                    <a16:creationId xmlns:a16="http://schemas.microsoft.com/office/drawing/2014/main" id="{D8A8D5FA-6C06-42CB-4AF5-DD0123A384F6}"/>
                  </a:ext>
                </a:extLst>
              </p:cNvPr>
              <p:cNvSpPr/>
              <p:nvPr/>
            </p:nvSpPr>
            <p:spPr>
              <a:xfrm>
                <a:off x="1097824" y="3566032"/>
                <a:ext cx="370695" cy="258894"/>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63" name="四角形: 角を丸くする 62">
              <a:extLst>
                <a:ext uri="{FF2B5EF4-FFF2-40B4-BE49-F238E27FC236}">
                  <a16:creationId xmlns:a16="http://schemas.microsoft.com/office/drawing/2014/main" id="{6BDBD090-C13A-D3E0-9A2C-F2666166CF54}"/>
                </a:ext>
              </a:extLst>
            </p:cNvPr>
            <p:cNvSpPr/>
            <p:nvPr/>
          </p:nvSpPr>
          <p:spPr>
            <a:xfrm>
              <a:off x="281647" y="2419887"/>
              <a:ext cx="2319373" cy="652223"/>
            </a:xfrm>
            <a:prstGeom prst="roundRect">
              <a:avLst/>
            </a:prstGeom>
            <a:solidFill>
              <a:srgbClr val="FFFFFF">
                <a:alpha val="85098"/>
              </a:srgbClr>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ja-JP" altLang="en-US" dirty="0"/>
            </a:p>
          </p:txBody>
        </p:sp>
      </p:grpSp>
      <p:sp>
        <p:nvSpPr>
          <p:cNvPr id="3" name="楕円 2">
            <a:extLst>
              <a:ext uri="{FF2B5EF4-FFF2-40B4-BE49-F238E27FC236}">
                <a16:creationId xmlns:a16="http://schemas.microsoft.com/office/drawing/2014/main" id="{AC79B91F-5497-84A7-6C02-4ACC03EF2B2C}"/>
              </a:ext>
            </a:extLst>
          </p:cNvPr>
          <p:cNvSpPr/>
          <p:nvPr/>
        </p:nvSpPr>
        <p:spPr>
          <a:xfrm>
            <a:off x="2628580" y="2030054"/>
            <a:ext cx="7059452" cy="2078434"/>
          </a:xfrm>
          <a:prstGeom prst="ellipse">
            <a:avLst/>
          </a:prstGeom>
          <a:noFill/>
          <a:ln w="38100">
            <a:solidFill>
              <a:schemeClr val="accent5"/>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kumimoji="1" lang="ja-JP" altLang="en-US"/>
          </a:p>
        </p:txBody>
      </p:sp>
      <p:sp>
        <p:nvSpPr>
          <p:cNvPr id="39" name="四角形: 角を丸くする 38">
            <a:extLst>
              <a:ext uri="{FF2B5EF4-FFF2-40B4-BE49-F238E27FC236}">
                <a16:creationId xmlns:a16="http://schemas.microsoft.com/office/drawing/2014/main" id="{AF25C42A-63FA-D354-8190-01D153ABD891}"/>
              </a:ext>
            </a:extLst>
          </p:cNvPr>
          <p:cNvSpPr/>
          <p:nvPr/>
        </p:nvSpPr>
        <p:spPr>
          <a:xfrm>
            <a:off x="5035172" y="1822074"/>
            <a:ext cx="2179480" cy="373316"/>
          </a:xfrm>
          <a:prstGeom prst="roundRect">
            <a:avLst/>
          </a:prstGeom>
          <a:solidFill>
            <a:schemeClr val="bg1"/>
          </a:solidFill>
          <a:ln>
            <a:solidFill>
              <a:schemeClr val="accent5"/>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ja-JP" dirty="0"/>
              <a:t>VPN</a:t>
            </a:r>
            <a:r>
              <a:rPr lang="ja-JP" altLang="en-US" dirty="0"/>
              <a:t>（</a:t>
            </a:r>
            <a:r>
              <a:rPr lang="en-US" altLang="ja-JP" b="1" dirty="0" err="1"/>
              <a:t>Tailscale</a:t>
            </a:r>
            <a:r>
              <a:rPr lang="ja-JP" altLang="en-US" dirty="0"/>
              <a:t>）</a:t>
            </a:r>
            <a:endParaRPr kumimoji="1" lang="ja-JP" altLang="en-US" dirty="0"/>
          </a:p>
        </p:txBody>
      </p:sp>
      <p:cxnSp>
        <p:nvCxnSpPr>
          <p:cNvPr id="27" name="直線コネクタ 26">
            <a:extLst>
              <a:ext uri="{FF2B5EF4-FFF2-40B4-BE49-F238E27FC236}">
                <a16:creationId xmlns:a16="http://schemas.microsoft.com/office/drawing/2014/main" id="{6053F9A8-FEBE-8628-F569-6B1C7F892490}"/>
              </a:ext>
            </a:extLst>
          </p:cNvPr>
          <p:cNvCxnSpPr/>
          <p:nvPr/>
        </p:nvCxnSpPr>
        <p:spPr>
          <a:xfrm>
            <a:off x="125450" y="4251820"/>
            <a:ext cx="11874872" cy="0"/>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31" name="四角形: 角を丸くする 30">
            <a:extLst>
              <a:ext uri="{FF2B5EF4-FFF2-40B4-BE49-F238E27FC236}">
                <a16:creationId xmlns:a16="http://schemas.microsoft.com/office/drawing/2014/main" id="{259BEB3B-4D58-983A-9FCF-2972A2540AB8}"/>
              </a:ext>
            </a:extLst>
          </p:cNvPr>
          <p:cNvSpPr/>
          <p:nvPr/>
        </p:nvSpPr>
        <p:spPr>
          <a:xfrm>
            <a:off x="125449" y="4631805"/>
            <a:ext cx="4512537" cy="1872003"/>
          </a:xfrm>
          <a:prstGeom prst="roundRect">
            <a:avLst/>
          </a:prstGeom>
        </p:spPr>
        <p:style>
          <a:lnRef idx="2">
            <a:schemeClr val="accent1"/>
          </a:lnRef>
          <a:fillRef idx="1">
            <a:schemeClr val="lt1"/>
          </a:fillRef>
          <a:effectRef idx="0">
            <a:schemeClr val="accent1"/>
          </a:effectRef>
          <a:fontRef idx="minor">
            <a:schemeClr val="dk1"/>
          </a:fontRef>
        </p:style>
        <p:txBody>
          <a:bodyPr rtlCol="0" anchor="b"/>
          <a:lstStyle/>
          <a:p>
            <a:pPr algn="ctr"/>
            <a:r>
              <a:rPr kumimoji="1" lang="ja-JP" altLang="en-US" dirty="0"/>
              <a:t>専用</a:t>
            </a:r>
            <a:r>
              <a:rPr kumimoji="1" lang="en-US" altLang="ja-JP" dirty="0"/>
              <a:t>PC</a:t>
            </a:r>
            <a:endParaRPr kumimoji="1" lang="ja-JP" altLang="en-US" dirty="0"/>
          </a:p>
        </p:txBody>
      </p:sp>
      <p:sp>
        <p:nvSpPr>
          <p:cNvPr id="36" name="四角形: 角を丸くする 35">
            <a:extLst>
              <a:ext uri="{FF2B5EF4-FFF2-40B4-BE49-F238E27FC236}">
                <a16:creationId xmlns:a16="http://schemas.microsoft.com/office/drawing/2014/main" id="{556048EE-D455-E821-E953-1F09BA5A568E}"/>
              </a:ext>
            </a:extLst>
          </p:cNvPr>
          <p:cNvSpPr/>
          <p:nvPr/>
        </p:nvSpPr>
        <p:spPr>
          <a:xfrm>
            <a:off x="7686160" y="4662603"/>
            <a:ext cx="4465233" cy="1830265"/>
          </a:xfrm>
          <a:prstGeom prst="roundRect">
            <a:avLst/>
          </a:prstGeom>
        </p:spPr>
        <p:style>
          <a:lnRef idx="2">
            <a:schemeClr val="accent1"/>
          </a:lnRef>
          <a:fillRef idx="1">
            <a:schemeClr val="lt1"/>
          </a:fillRef>
          <a:effectRef idx="0">
            <a:schemeClr val="accent1"/>
          </a:effectRef>
          <a:fontRef idx="minor">
            <a:schemeClr val="dk1"/>
          </a:fontRef>
        </p:style>
        <p:txBody>
          <a:bodyPr rtlCol="0" anchor="b"/>
          <a:lstStyle/>
          <a:p>
            <a:pPr algn="ctr"/>
            <a:r>
              <a:rPr kumimoji="1" lang="ja-JP" altLang="en-US" dirty="0"/>
              <a:t>専用</a:t>
            </a:r>
            <a:r>
              <a:rPr kumimoji="1" lang="en-US" altLang="ja-JP" dirty="0"/>
              <a:t>PC</a:t>
            </a:r>
            <a:endParaRPr kumimoji="1" lang="ja-JP" altLang="en-US" dirty="0"/>
          </a:p>
        </p:txBody>
      </p:sp>
      <p:cxnSp>
        <p:nvCxnSpPr>
          <p:cNvPr id="40" name="直線矢印コネクタ 39">
            <a:extLst>
              <a:ext uri="{FF2B5EF4-FFF2-40B4-BE49-F238E27FC236}">
                <a16:creationId xmlns:a16="http://schemas.microsoft.com/office/drawing/2014/main" id="{6C634B68-1877-54BB-9A34-FC4E3BBCA984}"/>
              </a:ext>
            </a:extLst>
          </p:cNvPr>
          <p:cNvCxnSpPr>
            <a:cxnSpLocks/>
            <a:stCxn id="36" idx="1"/>
            <a:endCxn id="31" idx="3"/>
          </p:cNvCxnSpPr>
          <p:nvPr/>
        </p:nvCxnSpPr>
        <p:spPr>
          <a:xfrm flipH="1" flipV="1">
            <a:off x="4637986" y="5567807"/>
            <a:ext cx="3048174" cy="9929"/>
          </a:xfrm>
          <a:prstGeom prst="straightConnector1">
            <a:avLst/>
          </a:prstGeom>
          <a:ln>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44" name="四角形: 角を丸くする 43">
            <a:extLst>
              <a:ext uri="{FF2B5EF4-FFF2-40B4-BE49-F238E27FC236}">
                <a16:creationId xmlns:a16="http://schemas.microsoft.com/office/drawing/2014/main" id="{ACE1F900-A792-B665-79A4-C496C43E89EC}"/>
              </a:ext>
            </a:extLst>
          </p:cNvPr>
          <p:cNvSpPr/>
          <p:nvPr/>
        </p:nvSpPr>
        <p:spPr>
          <a:xfrm>
            <a:off x="313266" y="4015165"/>
            <a:ext cx="876692" cy="473309"/>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ja-JP" altLang="en-US" dirty="0"/>
              <a:t>仮想</a:t>
            </a:r>
            <a:endParaRPr kumimoji="1" lang="ja-JP" altLang="en-US" dirty="0"/>
          </a:p>
        </p:txBody>
      </p:sp>
      <p:sp>
        <p:nvSpPr>
          <p:cNvPr id="57" name="四角形: 角を丸くする 56">
            <a:extLst>
              <a:ext uri="{FF2B5EF4-FFF2-40B4-BE49-F238E27FC236}">
                <a16:creationId xmlns:a16="http://schemas.microsoft.com/office/drawing/2014/main" id="{4C47C061-4288-8B4C-A33B-8DAFB848D7CE}"/>
              </a:ext>
            </a:extLst>
          </p:cNvPr>
          <p:cNvSpPr/>
          <p:nvPr/>
        </p:nvSpPr>
        <p:spPr>
          <a:xfrm>
            <a:off x="1453811" y="1571034"/>
            <a:ext cx="1892704" cy="542724"/>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ja-JP" altLang="en-US" dirty="0"/>
              <a:t>評価側（大学）</a:t>
            </a:r>
            <a:endParaRPr kumimoji="1" lang="ja-JP" altLang="en-US" dirty="0"/>
          </a:p>
        </p:txBody>
      </p:sp>
      <p:cxnSp>
        <p:nvCxnSpPr>
          <p:cNvPr id="49" name="直線矢印コネクタ 48">
            <a:extLst>
              <a:ext uri="{FF2B5EF4-FFF2-40B4-BE49-F238E27FC236}">
                <a16:creationId xmlns:a16="http://schemas.microsoft.com/office/drawing/2014/main" id="{F39E0012-2240-EFD9-0414-07AAB87F5962}"/>
              </a:ext>
            </a:extLst>
          </p:cNvPr>
          <p:cNvCxnSpPr>
            <a:cxnSpLocks/>
            <a:stCxn id="30" idx="2"/>
            <a:endCxn id="55" idx="0"/>
          </p:cNvCxnSpPr>
          <p:nvPr/>
        </p:nvCxnSpPr>
        <p:spPr>
          <a:xfrm>
            <a:off x="6116384" y="3140331"/>
            <a:ext cx="22037" cy="325429"/>
          </a:xfrm>
          <a:prstGeom prst="straightConnector1">
            <a:avLst/>
          </a:prstGeom>
          <a:ln>
            <a:prstDash val="dash"/>
            <a:headEnd type="triangle"/>
            <a:tailEnd type="triangle"/>
          </a:ln>
        </p:spPr>
        <p:style>
          <a:lnRef idx="2">
            <a:schemeClr val="accent2"/>
          </a:lnRef>
          <a:fillRef idx="0">
            <a:schemeClr val="accent2"/>
          </a:fillRef>
          <a:effectRef idx="1">
            <a:schemeClr val="accent2"/>
          </a:effectRef>
          <a:fontRef idx="minor">
            <a:schemeClr val="tx1"/>
          </a:fontRef>
        </p:style>
      </p:cxnSp>
      <p:sp>
        <p:nvSpPr>
          <p:cNvPr id="55" name="四角形: 角を丸くする 54">
            <a:extLst>
              <a:ext uri="{FF2B5EF4-FFF2-40B4-BE49-F238E27FC236}">
                <a16:creationId xmlns:a16="http://schemas.microsoft.com/office/drawing/2014/main" id="{A3671214-5A3A-39A4-7A18-F0B948BCE3B1}"/>
              </a:ext>
            </a:extLst>
          </p:cNvPr>
          <p:cNvSpPr/>
          <p:nvPr/>
        </p:nvSpPr>
        <p:spPr>
          <a:xfrm>
            <a:off x="5048681" y="3465760"/>
            <a:ext cx="2179480" cy="514903"/>
          </a:xfrm>
          <a:prstGeom prst="roundRect">
            <a:avLst/>
          </a:prstGeom>
          <a:solidFill>
            <a:schemeClr val="bg1"/>
          </a:solidFill>
          <a:ln>
            <a:solidFill>
              <a:schemeClr val="accent5"/>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ja-JP" b="1" dirty="0" err="1"/>
              <a:t>Tailscale</a:t>
            </a:r>
            <a:endParaRPr lang="en-US" altLang="ja-JP" b="1" dirty="0"/>
          </a:p>
          <a:p>
            <a:pPr algn="ctr"/>
            <a:r>
              <a:rPr lang="en-US" altLang="ja-JP" b="1" dirty="0"/>
              <a:t>VPN</a:t>
            </a:r>
            <a:r>
              <a:rPr lang="ja-JP" altLang="en-US" b="1" dirty="0"/>
              <a:t>サーバー</a:t>
            </a:r>
            <a:endParaRPr kumimoji="1" lang="ja-JP" altLang="en-US" dirty="0"/>
          </a:p>
        </p:txBody>
      </p:sp>
      <p:sp>
        <p:nvSpPr>
          <p:cNvPr id="77" name="四角形: 角を丸くする 76">
            <a:extLst>
              <a:ext uri="{FF2B5EF4-FFF2-40B4-BE49-F238E27FC236}">
                <a16:creationId xmlns:a16="http://schemas.microsoft.com/office/drawing/2014/main" id="{BD3DEA25-1B76-8D8C-61C1-22F46DBFA5CB}"/>
              </a:ext>
            </a:extLst>
          </p:cNvPr>
          <p:cNvSpPr/>
          <p:nvPr/>
        </p:nvSpPr>
        <p:spPr>
          <a:xfrm>
            <a:off x="4901859" y="4962332"/>
            <a:ext cx="2446106" cy="450982"/>
          </a:xfrm>
          <a:prstGeom prst="round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kumimoji="1" lang="en-US" altLang="ja-JP" dirty="0" err="1"/>
              <a:t>Tailscale</a:t>
            </a:r>
            <a:r>
              <a:rPr kumimoji="1" lang="ja-JP" altLang="en-US" dirty="0"/>
              <a:t> </a:t>
            </a:r>
            <a:r>
              <a:rPr kumimoji="1" lang="en-US" altLang="ja-JP" dirty="0"/>
              <a:t>VPN</a:t>
            </a:r>
            <a:r>
              <a:rPr kumimoji="1" lang="ja-JP" altLang="en-US" dirty="0"/>
              <a:t>による仮想</a:t>
            </a:r>
            <a:r>
              <a:rPr kumimoji="1" lang="en-US" altLang="ja-JP" dirty="0"/>
              <a:t>LAN</a:t>
            </a:r>
            <a:endParaRPr kumimoji="1" lang="ja-JP" altLang="en-US" dirty="0"/>
          </a:p>
        </p:txBody>
      </p:sp>
      <p:pic>
        <p:nvPicPr>
          <p:cNvPr id="80" name="図 79">
            <a:extLst>
              <a:ext uri="{FF2B5EF4-FFF2-40B4-BE49-F238E27FC236}">
                <a16:creationId xmlns:a16="http://schemas.microsoft.com/office/drawing/2014/main" id="{884313DD-2CEE-B41E-1478-AD8F2779C6DC}"/>
              </a:ext>
            </a:extLst>
          </p:cNvPr>
          <p:cNvPicPr>
            <a:picLocks noChangeAspect="1"/>
          </p:cNvPicPr>
          <p:nvPr/>
        </p:nvPicPr>
        <p:blipFill>
          <a:blip r:embed="rId5"/>
          <a:srcRect l="13187" t="10285" r="5246" b="10995"/>
          <a:stretch>
            <a:fillRect/>
          </a:stretch>
        </p:blipFill>
        <p:spPr>
          <a:xfrm>
            <a:off x="5095875" y="3571875"/>
            <a:ext cx="295275" cy="299961"/>
          </a:xfrm>
          <a:prstGeom prst="rect">
            <a:avLst/>
          </a:prstGeom>
        </p:spPr>
      </p:pic>
      <p:pic>
        <p:nvPicPr>
          <p:cNvPr id="81" name="図 80">
            <a:extLst>
              <a:ext uri="{FF2B5EF4-FFF2-40B4-BE49-F238E27FC236}">
                <a16:creationId xmlns:a16="http://schemas.microsoft.com/office/drawing/2014/main" id="{4E1D169C-365E-DDD7-305C-1F58332E2E11}"/>
              </a:ext>
            </a:extLst>
          </p:cNvPr>
          <p:cNvPicPr>
            <a:picLocks noChangeAspect="1"/>
          </p:cNvPicPr>
          <p:nvPr/>
        </p:nvPicPr>
        <p:blipFill>
          <a:blip r:embed="rId5"/>
          <a:srcRect l="13187" t="10285" r="5246" b="10995"/>
          <a:stretch>
            <a:fillRect/>
          </a:stretch>
        </p:blipFill>
        <p:spPr>
          <a:xfrm>
            <a:off x="8350423" y="4998224"/>
            <a:ext cx="732793" cy="744422"/>
          </a:xfrm>
          <a:prstGeom prst="rect">
            <a:avLst/>
          </a:prstGeom>
        </p:spPr>
      </p:pic>
      <p:sp>
        <p:nvSpPr>
          <p:cNvPr id="82" name="四角形: 角を丸くする 81">
            <a:extLst>
              <a:ext uri="{FF2B5EF4-FFF2-40B4-BE49-F238E27FC236}">
                <a16:creationId xmlns:a16="http://schemas.microsoft.com/office/drawing/2014/main" id="{A0762C05-502D-F435-C3C1-1736BAEF2819}"/>
              </a:ext>
            </a:extLst>
          </p:cNvPr>
          <p:cNvSpPr/>
          <p:nvPr/>
        </p:nvSpPr>
        <p:spPr>
          <a:xfrm>
            <a:off x="9150523" y="4998224"/>
            <a:ext cx="2827943" cy="736698"/>
          </a:xfrm>
          <a:prstGeom prst="round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ja-JP" dirty="0" err="1"/>
              <a:t>Tailscale</a:t>
            </a:r>
            <a:r>
              <a:rPr lang="en-US" altLang="ja-JP" dirty="0"/>
              <a:t> </a:t>
            </a:r>
            <a:r>
              <a:rPr lang="ja-JP" altLang="en-US" dirty="0"/>
              <a:t>を利用した</a:t>
            </a:r>
            <a:r>
              <a:rPr lang="en-US" altLang="ja-JP" dirty="0"/>
              <a:t>VPN</a:t>
            </a:r>
            <a:r>
              <a:rPr kumimoji="1" lang="ja-JP" altLang="en-US" dirty="0"/>
              <a:t>のための専用アプリをインストール</a:t>
            </a:r>
            <a:endParaRPr kumimoji="1" lang="en-US" altLang="ja-JP" dirty="0"/>
          </a:p>
          <a:p>
            <a:pPr algn="ctr"/>
            <a:r>
              <a:rPr lang="en-US" altLang="ja-JP" dirty="0" err="1"/>
              <a:t>Tailscale</a:t>
            </a:r>
            <a:r>
              <a:rPr lang="ja-JP" altLang="en-US" dirty="0"/>
              <a:t>のアカウントにログイン</a:t>
            </a:r>
            <a:endParaRPr kumimoji="1" lang="ja-JP" altLang="en-US" dirty="0"/>
          </a:p>
        </p:txBody>
      </p:sp>
      <p:pic>
        <p:nvPicPr>
          <p:cNvPr id="83" name="図 82">
            <a:extLst>
              <a:ext uri="{FF2B5EF4-FFF2-40B4-BE49-F238E27FC236}">
                <a16:creationId xmlns:a16="http://schemas.microsoft.com/office/drawing/2014/main" id="{C2AEB9CE-B4A6-563C-1860-6C4D8F866C6A}"/>
              </a:ext>
            </a:extLst>
          </p:cNvPr>
          <p:cNvPicPr>
            <a:picLocks noChangeAspect="1"/>
          </p:cNvPicPr>
          <p:nvPr/>
        </p:nvPicPr>
        <p:blipFill>
          <a:blip r:embed="rId5"/>
          <a:srcRect l="13187" t="10285" r="5246" b="10995"/>
          <a:stretch>
            <a:fillRect/>
          </a:stretch>
        </p:blipFill>
        <p:spPr>
          <a:xfrm>
            <a:off x="671748" y="4998224"/>
            <a:ext cx="732793" cy="744422"/>
          </a:xfrm>
          <a:prstGeom prst="rect">
            <a:avLst/>
          </a:prstGeom>
        </p:spPr>
      </p:pic>
      <p:sp>
        <p:nvSpPr>
          <p:cNvPr id="84" name="四角形: 角を丸くする 83">
            <a:extLst>
              <a:ext uri="{FF2B5EF4-FFF2-40B4-BE49-F238E27FC236}">
                <a16:creationId xmlns:a16="http://schemas.microsoft.com/office/drawing/2014/main" id="{6DD6B7CA-CC0B-60A5-456E-9251043D4802}"/>
              </a:ext>
            </a:extLst>
          </p:cNvPr>
          <p:cNvSpPr/>
          <p:nvPr/>
        </p:nvSpPr>
        <p:spPr>
          <a:xfrm>
            <a:off x="1471848" y="4998224"/>
            <a:ext cx="2827943" cy="736698"/>
          </a:xfrm>
          <a:prstGeom prst="round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ja-JP" dirty="0" err="1"/>
              <a:t>Tailscale</a:t>
            </a:r>
            <a:r>
              <a:rPr lang="en-US" altLang="ja-JP" dirty="0"/>
              <a:t> </a:t>
            </a:r>
            <a:r>
              <a:rPr lang="ja-JP" altLang="en-US" dirty="0"/>
              <a:t>を利用した</a:t>
            </a:r>
            <a:r>
              <a:rPr lang="en-US" altLang="ja-JP" dirty="0"/>
              <a:t>VPN</a:t>
            </a:r>
            <a:r>
              <a:rPr kumimoji="1" lang="ja-JP" altLang="en-US" dirty="0"/>
              <a:t>のための専用アプリをインストール</a:t>
            </a:r>
            <a:endParaRPr kumimoji="1" lang="en-US" altLang="ja-JP" dirty="0"/>
          </a:p>
          <a:p>
            <a:pPr algn="ctr"/>
            <a:r>
              <a:rPr kumimoji="1" lang="en-US" altLang="ja-JP" dirty="0" err="1"/>
              <a:t>Tailscale</a:t>
            </a:r>
            <a:r>
              <a:rPr kumimoji="1" lang="ja-JP" altLang="en-US" dirty="0"/>
              <a:t>のアカウントにログイン</a:t>
            </a:r>
          </a:p>
        </p:txBody>
      </p:sp>
      <p:sp>
        <p:nvSpPr>
          <p:cNvPr id="85" name="四角形: 角を丸くする 84">
            <a:extLst>
              <a:ext uri="{FF2B5EF4-FFF2-40B4-BE49-F238E27FC236}">
                <a16:creationId xmlns:a16="http://schemas.microsoft.com/office/drawing/2014/main" id="{668A2E94-6217-5190-5306-6E60CF76AAC7}"/>
              </a:ext>
            </a:extLst>
          </p:cNvPr>
          <p:cNvSpPr/>
          <p:nvPr/>
        </p:nvSpPr>
        <p:spPr>
          <a:xfrm>
            <a:off x="4754174" y="6093027"/>
            <a:ext cx="2884681" cy="450982"/>
          </a:xfrm>
          <a:prstGeom prst="round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b="1" dirty="0"/>
              <a:t>個人の</a:t>
            </a:r>
            <a:r>
              <a:rPr kumimoji="1" lang="en-US" altLang="ja-JP" b="1" dirty="0"/>
              <a:t>Google</a:t>
            </a:r>
            <a:r>
              <a:rPr kumimoji="1" lang="ja-JP" altLang="en-US" b="1" dirty="0"/>
              <a:t>アカウントで</a:t>
            </a:r>
            <a:r>
              <a:rPr kumimoji="1" lang="en-US" altLang="ja-JP" b="1" dirty="0" err="1"/>
              <a:t>Tailscale</a:t>
            </a:r>
            <a:r>
              <a:rPr kumimoji="1" lang="ja-JP" altLang="en-US" b="1" dirty="0"/>
              <a:t>のアカウントを作成</a:t>
            </a:r>
          </a:p>
        </p:txBody>
      </p:sp>
    </p:spTree>
    <p:extLst>
      <p:ext uri="{BB962C8B-B14F-4D97-AF65-F5344CB8AC3E}">
        <p14:creationId xmlns:p14="http://schemas.microsoft.com/office/powerpoint/2010/main" val="24791926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1F2D5DF-ADC6-71D6-289C-41654A8F21F9}"/>
              </a:ext>
            </a:extLst>
          </p:cNvPr>
          <p:cNvSpPr>
            <a:spLocks noGrp="1"/>
          </p:cNvSpPr>
          <p:nvPr>
            <p:ph type="title"/>
          </p:nvPr>
        </p:nvSpPr>
        <p:spPr/>
        <p:txBody>
          <a:bodyPr/>
          <a:lstStyle/>
          <a:p>
            <a:r>
              <a:rPr kumimoji="1" lang="en-US" altLang="ja-JP" dirty="0"/>
              <a:t>WebRTC(Real-Time Communication)</a:t>
            </a:r>
            <a:endParaRPr kumimoji="1" lang="ja-JP" altLang="en-US" dirty="0"/>
          </a:p>
        </p:txBody>
      </p:sp>
      <p:sp>
        <p:nvSpPr>
          <p:cNvPr id="3" name="コンテンツ プレースホルダー 2">
            <a:extLst>
              <a:ext uri="{FF2B5EF4-FFF2-40B4-BE49-F238E27FC236}">
                <a16:creationId xmlns:a16="http://schemas.microsoft.com/office/drawing/2014/main" id="{2E627E6E-546C-F197-4A37-E0C76CAC20F8}"/>
              </a:ext>
            </a:extLst>
          </p:cNvPr>
          <p:cNvSpPr>
            <a:spLocks noGrp="1"/>
          </p:cNvSpPr>
          <p:nvPr>
            <p:ph idx="1"/>
          </p:nvPr>
        </p:nvSpPr>
        <p:spPr>
          <a:xfrm>
            <a:off x="838200" y="1825624"/>
            <a:ext cx="10515600" cy="4822825"/>
          </a:xfrm>
        </p:spPr>
        <p:txBody>
          <a:bodyPr>
            <a:normAutofit fontScale="85000" lnSpcReduction="10000"/>
          </a:bodyPr>
          <a:lstStyle/>
          <a:p>
            <a:r>
              <a:rPr kumimoji="1" lang="ja-JP" altLang="en-US" dirty="0"/>
              <a:t>既存の</a:t>
            </a:r>
            <a:r>
              <a:rPr kumimoji="1" lang="en-US" altLang="ja-JP" dirty="0"/>
              <a:t>Web</a:t>
            </a:r>
            <a:r>
              <a:rPr kumimoji="1" lang="ja-JP" altLang="en-US" dirty="0"/>
              <a:t>ブラウザのみを使ってリアルタイムで音声・ビデオ・データ通信を可能にする技術（オンライン会議に利用される技術）</a:t>
            </a:r>
            <a:endParaRPr kumimoji="1" lang="en-US" altLang="ja-JP" dirty="0"/>
          </a:p>
          <a:p>
            <a:r>
              <a:rPr kumimoji="1" lang="ja-JP" altLang="en-US" dirty="0"/>
              <a:t>通信を行うブラウザ間で直接データをやり取りするため（</a:t>
            </a:r>
            <a:r>
              <a:rPr kumimoji="1" lang="en-US" altLang="ja-JP" dirty="0"/>
              <a:t>P2P</a:t>
            </a:r>
            <a:r>
              <a:rPr kumimoji="1" lang="ja-JP" altLang="en-US" dirty="0"/>
              <a:t>）データを流すためのサーバは不要</a:t>
            </a:r>
            <a:endParaRPr lang="en-US" altLang="ja-JP" dirty="0"/>
          </a:p>
          <a:p>
            <a:r>
              <a:rPr lang="ja-JP" altLang="en-US" dirty="0"/>
              <a:t>通信は暗号化済み（</a:t>
            </a:r>
            <a:r>
              <a:rPr lang="en-US" altLang="ja-JP" b="1" dirty="0"/>
              <a:t>VPN</a:t>
            </a:r>
            <a:r>
              <a:rPr lang="ja-JP" altLang="en-US" b="1" dirty="0"/>
              <a:t>を使わなくても最初から暗号化される</a:t>
            </a:r>
            <a:r>
              <a:rPr lang="ja-JP" altLang="en-US" dirty="0"/>
              <a:t>）</a:t>
            </a:r>
            <a:endParaRPr lang="en-US" altLang="ja-JP" dirty="0"/>
          </a:p>
          <a:p>
            <a:r>
              <a:rPr lang="ja-JP" altLang="en-US" dirty="0"/>
              <a:t>オープンソース</a:t>
            </a:r>
            <a:endParaRPr lang="en-US" altLang="ja-JP" dirty="0"/>
          </a:p>
          <a:p>
            <a:r>
              <a:rPr lang="ja-JP" altLang="en-US" dirty="0"/>
              <a:t>活用例：</a:t>
            </a:r>
            <a:r>
              <a:rPr lang="en-US" altLang="ja-JP" dirty="0" err="1"/>
              <a:t>GoogleMeet</a:t>
            </a:r>
            <a:r>
              <a:rPr lang="en-US" altLang="ja-JP" dirty="0"/>
              <a:t>,</a:t>
            </a:r>
            <a:r>
              <a:rPr lang="ja-JP" altLang="en-US" dirty="0"/>
              <a:t> </a:t>
            </a:r>
            <a:r>
              <a:rPr lang="en-US" altLang="ja-JP" dirty="0"/>
              <a:t>Web</a:t>
            </a:r>
            <a:r>
              <a:rPr lang="ja-JP" altLang="en-US" dirty="0"/>
              <a:t>版の</a:t>
            </a:r>
            <a:r>
              <a:rPr lang="en-US" altLang="ja-JP" dirty="0"/>
              <a:t>Zoom</a:t>
            </a:r>
            <a:r>
              <a:rPr lang="ja-JP" altLang="en-US" dirty="0"/>
              <a:t>など</a:t>
            </a:r>
            <a:endParaRPr lang="en-US" altLang="ja-JP" dirty="0"/>
          </a:p>
          <a:p>
            <a:endParaRPr kumimoji="1" lang="en-US" altLang="ja-JP" dirty="0"/>
          </a:p>
          <a:p>
            <a:r>
              <a:rPr kumimoji="1" lang="en-US" altLang="ja-JP" dirty="0"/>
              <a:t>1</a:t>
            </a:r>
            <a:r>
              <a:rPr kumimoji="1" lang="ja-JP" altLang="en-US" dirty="0"/>
              <a:t>対</a:t>
            </a:r>
            <a:r>
              <a:rPr kumimoji="1" lang="en-US" altLang="ja-JP" dirty="0"/>
              <a:t>1</a:t>
            </a:r>
            <a:r>
              <a:rPr lang="ja-JP" altLang="en-US" dirty="0"/>
              <a:t>が</a:t>
            </a:r>
            <a:r>
              <a:rPr kumimoji="1" lang="ja-JP" altLang="en-US" dirty="0"/>
              <a:t>前提　複数人は基本的に不可</a:t>
            </a:r>
            <a:endParaRPr kumimoji="1" lang="en-US" altLang="ja-JP" dirty="0"/>
          </a:p>
          <a:p>
            <a:r>
              <a:rPr lang="ja-JP" altLang="en-US" dirty="0"/>
              <a:t>ブラウザ</a:t>
            </a:r>
            <a:r>
              <a:rPr kumimoji="1" lang="ja-JP" altLang="en-US" dirty="0"/>
              <a:t>同士の通信のため</a:t>
            </a:r>
            <a:r>
              <a:rPr lang="ja-JP" altLang="en-US" dirty="0"/>
              <a:t>古い</a:t>
            </a:r>
            <a:r>
              <a:rPr lang="en-US" altLang="ja-JP" dirty="0"/>
              <a:t>PC</a:t>
            </a:r>
            <a:r>
              <a:rPr lang="ja-JP" altLang="en-US" dirty="0"/>
              <a:t>では動作が重くなる</a:t>
            </a:r>
            <a:endParaRPr lang="en-US" altLang="ja-JP" dirty="0"/>
          </a:p>
          <a:p>
            <a:endParaRPr lang="en-US" altLang="ja-JP" dirty="0"/>
          </a:p>
          <a:p>
            <a:pPr marL="0" indent="0" algn="ctr">
              <a:buNone/>
            </a:pPr>
            <a:r>
              <a:rPr kumimoji="1" lang="ja-JP" altLang="en-US" dirty="0">
                <a:solidFill>
                  <a:srgbClr val="FF0000"/>
                </a:solidFill>
              </a:rPr>
              <a:t>安定した既存技術でありサーバー不要という点で導入・維持しやすい？</a:t>
            </a:r>
            <a:endParaRPr kumimoji="1" lang="en-US" altLang="ja-JP" dirty="0">
              <a:solidFill>
                <a:srgbClr val="FF0000"/>
              </a:solidFill>
            </a:endParaRPr>
          </a:p>
        </p:txBody>
      </p:sp>
    </p:spTree>
    <p:extLst>
      <p:ext uri="{BB962C8B-B14F-4D97-AF65-F5344CB8AC3E}">
        <p14:creationId xmlns:p14="http://schemas.microsoft.com/office/powerpoint/2010/main" val="23883114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E9CE9E8-BB49-30C8-4EF8-655EAF778967}"/>
              </a:ext>
            </a:extLst>
          </p:cNvPr>
          <p:cNvSpPr>
            <a:spLocks noGrp="1"/>
          </p:cNvSpPr>
          <p:nvPr>
            <p:ph type="title"/>
          </p:nvPr>
        </p:nvSpPr>
        <p:spPr/>
        <p:txBody>
          <a:bodyPr/>
          <a:lstStyle/>
          <a:p>
            <a:r>
              <a:rPr lang="en-US" altLang="ja-JP" dirty="0"/>
              <a:t>WebRTC(Real-Time Communication)</a:t>
            </a:r>
            <a:endParaRPr kumimoji="1" lang="ja-JP" altLang="en-US" dirty="0"/>
          </a:p>
        </p:txBody>
      </p:sp>
      <p:sp>
        <p:nvSpPr>
          <p:cNvPr id="3" name="コンテンツ プレースホルダー 2">
            <a:extLst>
              <a:ext uri="{FF2B5EF4-FFF2-40B4-BE49-F238E27FC236}">
                <a16:creationId xmlns:a16="http://schemas.microsoft.com/office/drawing/2014/main" id="{8DD431F7-C256-E0D9-7BD6-22DA998733A1}"/>
              </a:ext>
            </a:extLst>
          </p:cNvPr>
          <p:cNvSpPr>
            <a:spLocks noGrp="1"/>
          </p:cNvSpPr>
          <p:nvPr>
            <p:ph idx="1"/>
          </p:nvPr>
        </p:nvSpPr>
        <p:spPr/>
        <p:txBody>
          <a:bodyPr>
            <a:normAutofit fontScale="85000" lnSpcReduction="10000"/>
          </a:bodyPr>
          <a:lstStyle/>
          <a:p>
            <a:r>
              <a:rPr lang="ja-JP" altLang="en-US" dirty="0"/>
              <a:t>サーバーが完全に不要なわけではない</a:t>
            </a:r>
            <a:endParaRPr lang="en-US" altLang="ja-JP" dirty="0"/>
          </a:p>
          <a:p>
            <a:pPr lvl="1"/>
            <a:r>
              <a:rPr lang="ja-JP" altLang="en-US" dirty="0"/>
              <a:t>①シグナリング：接続開始時には互いの接続方法を確認するためのサーバーが必要</a:t>
            </a:r>
            <a:endParaRPr lang="en-US" altLang="ja-JP" dirty="0"/>
          </a:p>
          <a:p>
            <a:pPr marL="457200" lvl="1" indent="0">
              <a:buNone/>
            </a:pPr>
            <a:r>
              <a:rPr lang="ja-JP" altLang="en-US" dirty="0"/>
              <a:t>（動画を渡すわけではないため低負荷，外部サービスを使用可能？）</a:t>
            </a:r>
            <a:endParaRPr lang="en-US" altLang="ja-JP" dirty="0"/>
          </a:p>
          <a:p>
            <a:pPr lvl="1"/>
            <a:r>
              <a:rPr lang="ja-JP" altLang="en-US" dirty="0"/>
              <a:t>②</a:t>
            </a:r>
            <a:r>
              <a:rPr lang="en-US" altLang="ja-JP" dirty="0"/>
              <a:t>STUN</a:t>
            </a:r>
            <a:r>
              <a:rPr lang="ja-JP" altLang="en-US" dirty="0"/>
              <a:t>・</a:t>
            </a:r>
            <a:r>
              <a:rPr lang="en-US" altLang="ja-JP" dirty="0"/>
              <a:t>TURN</a:t>
            </a:r>
            <a:r>
              <a:rPr lang="ja-JP" altLang="en-US" dirty="0"/>
              <a:t>：ローカルネットワーク内の</a:t>
            </a:r>
            <a:r>
              <a:rPr lang="en-US" altLang="ja-JP" dirty="0"/>
              <a:t>IP</a:t>
            </a:r>
            <a:r>
              <a:rPr lang="ja-JP" altLang="en-US" dirty="0"/>
              <a:t>アドレスを外部から見えるように変換する，大学のセキュリティを正常に通過する，大学のセキュリティ設定を変更する必要がある（</a:t>
            </a:r>
            <a:r>
              <a:rPr lang="en-US" altLang="ja-JP" dirty="0"/>
              <a:t>VPN</a:t>
            </a:r>
            <a:r>
              <a:rPr lang="ja-JP" altLang="en-US" dirty="0"/>
              <a:t>サービスによってはここも考慮してくれる）</a:t>
            </a:r>
            <a:endParaRPr lang="en-US" altLang="ja-JP" dirty="0"/>
          </a:p>
          <a:p>
            <a:pPr lvl="1"/>
            <a:endParaRPr lang="en-US" altLang="ja-JP" dirty="0"/>
          </a:p>
          <a:p>
            <a:pPr marL="457200" lvl="1" indent="0">
              <a:buNone/>
            </a:pPr>
            <a:r>
              <a:rPr lang="en-US" altLang="ja-JP" dirty="0">
                <a:hlinkClick r:id="rId2"/>
              </a:rPr>
              <a:t>https://jp.vcube.com/sdk/blog/webrtc-general-server-configuration-signaling-turn-sfu.html#section2</a:t>
            </a:r>
            <a:endParaRPr lang="en-US" altLang="ja-JP" dirty="0"/>
          </a:p>
          <a:p>
            <a:pPr marL="457200" lvl="1" indent="0">
              <a:buNone/>
            </a:pPr>
            <a:endParaRPr kumimoji="1" lang="en-US" altLang="ja-JP" dirty="0"/>
          </a:p>
          <a:p>
            <a:pPr marL="0" indent="0" algn="ctr">
              <a:buNone/>
            </a:pPr>
            <a:r>
              <a:rPr lang="ja-JP" altLang="en-US" dirty="0">
                <a:solidFill>
                  <a:srgbClr val="FF0000"/>
                </a:solidFill>
              </a:rPr>
              <a:t>課題</a:t>
            </a:r>
            <a:endParaRPr kumimoji="1" lang="en-US" altLang="ja-JP" dirty="0">
              <a:solidFill>
                <a:srgbClr val="FF0000"/>
              </a:solidFill>
            </a:endParaRPr>
          </a:p>
          <a:p>
            <a:pPr marL="0" indent="0">
              <a:buNone/>
            </a:pPr>
            <a:r>
              <a:rPr kumimoji="1" lang="ja-JP" altLang="en-US" dirty="0">
                <a:solidFill>
                  <a:srgbClr val="FF0000"/>
                </a:solidFill>
              </a:rPr>
              <a:t>①シグナリング　　→　解決する必要がある</a:t>
            </a:r>
            <a:endParaRPr kumimoji="1" lang="en-US" altLang="ja-JP" dirty="0">
              <a:solidFill>
                <a:srgbClr val="FF0000"/>
              </a:solidFill>
            </a:endParaRPr>
          </a:p>
          <a:p>
            <a:pPr marL="0" indent="0">
              <a:buNone/>
            </a:pPr>
            <a:r>
              <a:rPr kumimoji="1" lang="ja-JP" altLang="en-US" dirty="0">
                <a:solidFill>
                  <a:srgbClr val="FF0000"/>
                </a:solidFill>
              </a:rPr>
              <a:t>②</a:t>
            </a:r>
            <a:r>
              <a:rPr lang="en-US" altLang="ja-JP" dirty="0">
                <a:solidFill>
                  <a:srgbClr val="FF0000"/>
                </a:solidFill>
              </a:rPr>
              <a:t> STUN</a:t>
            </a:r>
            <a:r>
              <a:rPr lang="ja-JP" altLang="en-US" dirty="0">
                <a:solidFill>
                  <a:srgbClr val="FF0000"/>
                </a:solidFill>
              </a:rPr>
              <a:t>・</a:t>
            </a:r>
            <a:r>
              <a:rPr lang="en-US" altLang="ja-JP" dirty="0">
                <a:solidFill>
                  <a:srgbClr val="FF0000"/>
                </a:solidFill>
              </a:rPr>
              <a:t>TURN </a:t>
            </a:r>
            <a:r>
              <a:rPr lang="ja-JP" altLang="en-US" dirty="0">
                <a:solidFill>
                  <a:srgbClr val="FF0000"/>
                </a:solidFill>
              </a:rPr>
              <a:t>　→　</a:t>
            </a:r>
            <a:r>
              <a:rPr lang="en-US" altLang="ja-JP" dirty="0" err="1">
                <a:solidFill>
                  <a:srgbClr val="FF0000"/>
                </a:solidFill>
              </a:rPr>
              <a:t>Tailscale</a:t>
            </a:r>
            <a:r>
              <a:rPr lang="ja-JP" altLang="en-US" dirty="0">
                <a:solidFill>
                  <a:srgbClr val="FF0000"/>
                </a:solidFill>
              </a:rPr>
              <a:t>を利用すれば自動的に行ってくれる</a:t>
            </a:r>
            <a:endParaRPr kumimoji="1" lang="ja-JP" altLang="en-US" dirty="0">
              <a:solidFill>
                <a:srgbClr val="FF0000"/>
              </a:solidFill>
            </a:endParaRPr>
          </a:p>
        </p:txBody>
      </p:sp>
    </p:spTree>
    <p:extLst>
      <p:ext uri="{BB962C8B-B14F-4D97-AF65-F5344CB8AC3E}">
        <p14:creationId xmlns:p14="http://schemas.microsoft.com/office/powerpoint/2010/main" val="31849141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B5B58F-DE9A-B5B9-B8F8-7E3F986DE49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9B5CC1B-3F53-C091-2218-830A2CF09487}"/>
              </a:ext>
            </a:extLst>
          </p:cNvPr>
          <p:cNvSpPr>
            <a:spLocks noGrp="1"/>
          </p:cNvSpPr>
          <p:nvPr>
            <p:ph type="title"/>
          </p:nvPr>
        </p:nvSpPr>
        <p:spPr/>
        <p:txBody>
          <a:bodyPr/>
          <a:lstStyle/>
          <a:p>
            <a:r>
              <a:rPr kumimoji="1" lang="en-US" altLang="ja-JP" dirty="0"/>
              <a:t>WebRTC</a:t>
            </a:r>
            <a:r>
              <a:rPr kumimoji="1" lang="ja-JP" altLang="en-US" dirty="0"/>
              <a:t>を使った会議システム</a:t>
            </a:r>
          </a:p>
        </p:txBody>
      </p:sp>
      <p:sp>
        <p:nvSpPr>
          <p:cNvPr id="3" name="コンテンツ プレースホルダー 2">
            <a:extLst>
              <a:ext uri="{FF2B5EF4-FFF2-40B4-BE49-F238E27FC236}">
                <a16:creationId xmlns:a16="http://schemas.microsoft.com/office/drawing/2014/main" id="{8EEFECB3-986C-D378-976F-82A07DFD3DF8}"/>
              </a:ext>
            </a:extLst>
          </p:cNvPr>
          <p:cNvSpPr>
            <a:spLocks noGrp="1"/>
          </p:cNvSpPr>
          <p:nvPr>
            <p:ph idx="1"/>
          </p:nvPr>
        </p:nvSpPr>
        <p:spPr>
          <a:xfrm>
            <a:off x="838200" y="1825624"/>
            <a:ext cx="10515600" cy="4822825"/>
          </a:xfrm>
        </p:spPr>
        <p:txBody>
          <a:bodyPr>
            <a:normAutofit/>
          </a:bodyPr>
          <a:lstStyle/>
          <a:p>
            <a:r>
              <a:rPr lang="ja-JP" altLang="en-US" dirty="0"/>
              <a:t>無料のオンライン会議システム</a:t>
            </a:r>
            <a:endParaRPr lang="en-US" altLang="ja-JP" dirty="0"/>
          </a:p>
          <a:p>
            <a:pPr lvl="1"/>
            <a:r>
              <a:rPr lang="en-US" altLang="ja-JP" dirty="0" err="1"/>
              <a:t>jami</a:t>
            </a:r>
            <a:r>
              <a:rPr lang="ja-JP" altLang="en-US" dirty="0"/>
              <a:t>　</a:t>
            </a:r>
            <a:r>
              <a:rPr lang="en-US" altLang="ja-JP" dirty="0">
                <a:hlinkClick r:id="rId2"/>
              </a:rPr>
              <a:t>https://jami.net/ja/</a:t>
            </a:r>
            <a:endParaRPr lang="en-US" altLang="ja-JP" dirty="0"/>
          </a:p>
          <a:p>
            <a:pPr lvl="1"/>
            <a:r>
              <a:rPr lang="ja-JP" altLang="en-US" dirty="0"/>
              <a:t>いつまでサポートされるのか，開発が継続されるのか，信用できるのか？</a:t>
            </a:r>
            <a:endParaRPr lang="en-US" altLang="ja-JP" dirty="0"/>
          </a:p>
          <a:p>
            <a:pPr lvl="1"/>
            <a:r>
              <a:rPr lang="ja-JP" altLang="en-US" dirty="0"/>
              <a:t>①シグナリングは自動的に行われる</a:t>
            </a:r>
            <a:endParaRPr lang="en-US" altLang="ja-JP" dirty="0"/>
          </a:p>
          <a:p>
            <a:pPr marL="457200" lvl="1" indent="0">
              <a:buNone/>
            </a:pPr>
            <a:endParaRPr lang="en-US" altLang="ja-JP" dirty="0"/>
          </a:p>
          <a:p>
            <a:r>
              <a:rPr kumimoji="1" lang="ja-JP" altLang="en-US" dirty="0"/>
              <a:t>自分で実装</a:t>
            </a:r>
            <a:endParaRPr kumimoji="1" lang="en-US" altLang="ja-JP" dirty="0"/>
          </a:p>
          <a:p>
            <a:pPr lvl="1"/>
            <a:r>
              <a:rPr lang="ja-JP" altLang="en-US" dirty="0"/>
              <a:t>手間がかかる，機能が制限される</a:t>
            </a:r>
            <a:endParaRPr lang="en-US" altLang="ja-JP" dirty="0"/>
          </a:p>
          <a:p>
            <a:pPr lvl="1"/>
            <a:endParaRPr lang="en-US" altLang="ja-JP" dirty="0"/>
          </a:p>
          <a:p>
            <a:pPr lvl="1"/>
            <a:endParaRPr lang="en-US" altLang="ja-JP" dirty="0"/>
          </a:p>
          <a:p>
            <a:pPr marL="457200" lvl="1" indent="0" algn="ctr">
              <a:buNone/>
            </a:pPr>
            <a:r>
              <a:rPr lang="en-US" altLang="ja-JP" dirty="0">
                <a:solidFill>
                  <a:srgbClr val="FF0000"/>
                </a:solidFill>
              </a:rPr>
              <a:t>Gemini</a:t>
            </a:r>
            <a:r>
              <a:rPr lang="ja-JP" altLang="en-US" dirty="0">
                <a:solidFill>
                  <a:srgbClr val="FF0000"/>
                </a:solidFill>
              </a:rPr>
              <a:t>で映像のやり取りだけ行う機能を試しに実装</a:t>
            </a:r>
            <a:endParaRPr kumimoji="1" lang="en-US" altLang="ja-JP" dirty="0">
              <a:solidFill>
                <a:srgbClr val="FF0000"/>
              </a:solidFill>
            </a:endParaRPr>
          </a:p>
        </p:txBody>
      </p:sp>
    </p:spTree>
    <p:extLst>
      <p:ext uri="{BB962C8B-B14F-4D97-AF65-F5344CB8AC3E}">
        <p14:creationId xmlns:p14="http://schemas.microsoft.com/office/powerpoint/2010/main" val="32294132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4F1240-0CCD-3FA7-7717-1E0EAA4BE3B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EE0BB51-DDC3-1639-FD6E-C35616711BD1}"/>
              </a:ext>
            </a:extLst>
          </p:cNvPr>
          <p:cNvSpPr>
            <a:spLocks noGrp="1"/>
          </p:cNvSpPr>
          <p:nvPr>
            <p:ph type="title"/>
          </p:nvPr>
        </p:nvSpPr>
        <p:spPr>
          <a:xfrm>
            <a:off x="838200" y="365125"/>
            <a:ext cx="11353800" cy="1325563"/>
          </a:xfrm>
        </p:spPr>
        <p:txBody>
          <a:bodyPr/>
          <a:lstStyle/>
          <a:p>
            <a:r>
              <a:rPr lang="ja-JP" altLang="en-US" dirty="0"/>
              <a:t>内部実装</a:t>
            </a:r>
            <a:endParaRPr kumimoji="1" lang="ja-JP" altLang="en-US" dirty="0"/>
          </a:p>
        </p:txBody>
      </p:sp>
      <p:sp>
        <p:nvSpPr>
          <p:cNvPr id="31" name="四角形: 角を丸くする 30">
            <a:extLst>
              <a:ext uri="{FF2B5EF4-FFF2-40B4-BE49-F238E27FC236}">
                <a16:creationId xmlns:a16="http://schemas.microsoft.com/office/drawing/2014/main" id="{04B17D90-5995-FEFA-7607-770B2DE44B4E}"/>
              </a:ext>
            </a:extLst>
          </p:cNvPr>
          <p:cNvSpPr/>
          <p:nvPr/>
        </p:nvSpPr>
        <p:spPr>
          <a:xfrm>
            <a:off x="125448" y="1725104"/>
            <a:ext cx="7708225" cy="3674985"/>
          </a:xfrm>
          <a:prstGeom prst="roundRect">
            <a:avLst/>
          </a:prstGeom>
        </p:spPr>
        <p:style>
          <a:lnRef idx="2">
            <a:schemeClr val="accent1"/>
          </a:lnRef>
          <a:fillRef idx="1">
            <a:schemeClr val="lt1"/>
          </a:fillRef>
          <a:effectRef idx="0">
            <a:schemeClr val="accent1"/>
          </a:effectRef>
          <a:fontRef idx="minor">
            <a:schemeClr val="dk1"/>
          </a:fontRef>
        </p:style>
        <p:txBody>
          <a:bodyPr rtlCol="0" anchor="b"/>
          <a:lstStyle/>
          <a:p>
            <a:pPr algn="ctr"/>
            <a:r>
              <a:rPr kumimoji="1" lang="ja-JP" altLang="en-US" dirty="0"/>
              <a:t>専用</a:t>
            </a:r>
            <a:r>
              <a:rPr kumimoji="1" lang="en-US" altLang="ja-JP" dirty="0"/>
              <a:t>PC</a:t>
            </a:r>
            <a:endParaRPr kumimoji="1" lang="ja-JP" altLang="en-US" dirty="0"/>
          </a:p>
        </p:txBody>
      </p:sp>
      <p:sp>
        <p:nvSpPr>
          <p:cNvPr id="36" name="四角形: 角を丸くする 35">
            <a:extLst>
              <a:ext uri="{FF2B5EF4-FFF2-40B4-BE49-F238E27FC236}">
                <a16:creationId xmlns:a16="http://schemas.microsoft.com/office/drawing/2014/main" id="{6802EC2B-ED0D-9BDE-DA3B-2AD35AB86818}"/>
              </a:ext>
            </a:extLst>
          </p:cNvPr>
          <p:cNvSpPr/>
          <p:nvPr/>
        </p:nvSpPr>
        <p:spPr>
          <a:xfrm>
            <a:off x="9252205" y="1731328"/>
            <a:ext cx="2899187" cy="3670082"/>
          </a:xfrm>
          <a:prstGeom prst="roundRect">
            <a:avLst/>
          </a:prstGeom>
        </p:spPr>
        <p:style>
          <a:lnRef idx="2">
            <a:schemeClr val="accent1"/>
          </a:lnRef>
          <a:fillRef idx="1">
            <a:schemeClr val="lt1"/>
          </a:fillRef>
          <a:effectRef idx="0">
            <a:schemeClr val="accent1"/>
          </a:effectRef>
          <a:fontRef idx="minor">
            <a:schemeClr val="dk1"/>
          </a:fontRef>
        </p:style>
        <p:txBody>
          <a:bodyPr rtlCol="0" anchor="b"/>
          <a:lstStyle/>
          <a:p>
            <a:pPr algn="ctr"/>
            <a:r>
              <a:rPr kumimoji="1" lang="ja-JP" altLang="en-US" dirty="0"/>
              <a:t>専用</a:t>
            </a:r>
            <a:r>
              <a:rPr kumimoji="1" lang="en-US" altLang="ja-JP" dirty="0"/>
              <a:t>PC</a:t>
            </a:r>
            <a:endParaRPr kumimoji="1" lang="ja-JP" altLang="en-US" dirty="0"/>
          </a:p>
        </p:txBody>
      </p:sp>
      <p:cxnSp>
        <p:nvCxnSpPr>
          <p:cNvPr id="40" name="直線矢印コネクタ 39">
            <a:extLst>
              <a:ext uri="{FF2B5EF4-FFF2-40B4-BE49-F238E27FC236}">
                <a16:creationId xmlns:a16="http://schemas.microsoft.com/office/drawing/2014/main" id="{87AF71CB-89C5-C6FA-AF97-A078342BE291}"/>
              </a:ext>
            </a:extLst>
          </p:cNvPr>
          <p:cNvCxnSpPr>
            <a:cxnSpLocks/>
            <a:stCxn id="28" idx="1"/>
            <a:endCxn id="32" idx="3"/>
          </p:cNvCxnSpPr>
          <p:nvPr/>
        </p:nvCxnSpPr>
        <p:spPr>
          <a:xfrm flipH="1">
            <a:off x="7499322" y="4088840"/>
            <a:ext cx="1792028" cy="0"/>
          </a:xfrm>
          <a:prstGeom prst="straightConnector1">
            <a:avLst/>
          </a:prstGeom>
          <a:ln>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77" name="四角形: 角を丸くする 76">
            <a:extLst>
              <a:ext uri="{FF2B5EF4-FFF2-40B4-BE49-F238E27FC236}">
                <a16:creationId xmlns:a16="http://schemas.microsoft.com/office/drawing/2014/main" id="{58DD2949-BA10-3A51-D571-6E38FDE00773}"/>
              </a:ext>
            </a:extLst>
          </p:cNvPr>
          <p:cNvSpPr/>
          <p:nvPr/>
        </p:nvSpPr>
        <p:spPr>
          <a:xfrm>
            <a:off x="7908139" y="2826877"/>
            <a:ext cx="1219669" cy="1123980"/>
          </a:xfrm>
          <a:prstGeom prst="round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kumimoji="1" lang="en-US" altLang="ja-JP" sz="1600" dirty="0" err="1"/>
              <a:t>Tailscale</a:t>
            </a:r>
            <a:r>
              <a:rPr kumimoji="1" lang="ja-JP" altLang="en-US" sz="1600" dirty="0"/>
              <a:t> </a:t>
            </a:r>
            <a:r>
              <a:rPr kumimoji="1" lang="en-US" altLang="ja-JP" sz="1600" dirty="0"/>
              <a:t>VPN</a:t>
            </a:r>
          </a:p>
          <a:p>
            <a:pPr algn="ctr"/>
            <a:r>
              <a:rPr kumimoji="1" lang="ja-JP" altLang="en-US" sz="1600" dirty="0"/>
              <a:t>による仮想</a:t>
            </a:r>
            <a:r>
              <a:rPr kumimoji="1" lang="en-US" altLang="ja-JP" sz="1600" dirty="0"/>
              <a:t>LAN</a:t>
            </a:r>
            <a:endParaRPr kumimoji="1" lang="ja-JP" altLang="en-US" sz="1600" dirty="0"/>
          </a:p>
        </p:txBody>
      </p:sp>
      <p:sp>
        <p:nvSpPr>
          <p:cNvPr id="9" name="四角形: 角を丸くする 8">
            <a:extLst>
              <a:ext uri="{FF2B5EF4-FFF2-40B4-BE49-F238E27FC236}">
                <a16:creationId xmlns:a16="http://schemas.microsoft.com/office/drawing/2014/main" id="{5CB26D93-23F3-D9E7-2869-266CBC616B2E}"/>
              </a:ext>
            </a:extLst>
          </p:cNvPr>
          <p:cNvSpPr/>
          <p:nvPr/>
        </p:nvSpPr>
        <p:spPr>
          <a:xfrm>
            <a:off x="1453811" y="1457910"/>
            <a:ext cx="1892704" cy="542724"/>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ja-JP" altLang="en-US" dirty="0"/>
              <a:t>評価側（大学）</a:t>
            </a:r>
            <a:endParaRPr kumimoji="1" lang="ja-JP" altLang="en-US" dirty="0"/>
          </a:p>
        </p:txBody>
      </p:sp>
      <p:sp>
        <p:nvSpPr>
          <p:cNvPr id="18" name="四角形: 角を丸くする 17">
            <a:extLst>
              <a:ext uri="{FF2B5EF4-FFF2-40B4-BE49-F238E27FC236}">
                <a16:creationId xmlns:a16="http://schemas.microsoft.com/office/drawing/2014/main" id="{6B06C58B-C3EF-2F92-A1AC-4801BA197894}"/>
              </a:ext>
            </a:extLst>
          </p:cNvPr>
          <p:cNvSpPr/>
          <p:nvPr/>
        </p:nvSpPr>
        <p:spPr>
          <a:xfrm>
            <a:off x="9768621" y="1506127"/>
            <a:ext cx="1892704" cy="542724"/>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dirty="0"/>
              <a:t>相談側</a:t>
            </a:r>
          </a:p>
        </p:txBody>
      </p:sp>
      <p:pic>
        <p:nvPicPr>
          <p:cNvPr id="28" name="図 27">
            <a:extLst>
              <a:ext uri="{FF2B5EF4-FFF2-40B4-BE49-F238E27FC236}">
                <a16:creationId xmlns:a16="http://schemas.microsoft.com/office/drawing/2014/main" id="{0EB09089-C30A-AE1B-6DBF-AC23ADB533BB}"/>
              </a:ext>
            </a:extLst>
          </p:cNvPr>
          <p:cNvPicPr>
            <a:picLocks noChangeAspect="1"/>
          </p:cNvPicPr>
          <p:nvPr/>
        </p:nvPicPr>
        <p:blipFill>
          <a:blip r:embed="rId2"/>
          <a:srcRect l="13187" t="10285" r="5246" b="10995"/>
          <a:stretch>
            <a:fillRect/>
          </a:stretch>
        </p:blipFill>
        <p:spPr>
          <a:xfrm>
            <a:off x="9291350" y="3716629"/>
            <a:ext cx="732793" cy="744422"/>
          </a:xfrm>
          <a:prstGeom prst="rect">
            <a:avLst/>
          </a:prstGeom>
        </p:spPr>
      </p:pic>
      <p:pic>
        <p:nvPicPr>
          <p:cNvPr id="32" name="図 31">
            <a:extLst>
              <a:ext uri="{FF2B5EF4-FFF2-40B4-BE49-F238E27FC236}">
                <a16:creationId xmlns:a16="http://schemas.microsoft.com/office/drawing/2014/main" id="{027C7E70-51AA-61CC-6CAB-D5A06D808AD7}"/>
              </a:ext>
            </a:extLst>
          </p:cNvPr>
          <p:cNvPicPr>
            <a:picLocks noChangeAspect="1"/>
          </p:cNvPicPr>
          <p:nvPr/>
        </p:nvPicPr>
        <p:blipFill>
          <a:blip r:embed="rId2"/>
          <a:srcRect l="13187" t="10285" r="5246" b="10995"/>
          <a:stretch>
            <a:fillRect/>
          </a:stretch>
        </p:blipFill>
        <p:spPr>
          <a:xfrm>
            <a:off x="6766529" y="3716629"/>
            <a:ext cx="732793" cy="744422"/>
          </a:xfrm>
          <a:prstGeom prst="rect">
            <a:avLst/>
          </a:prstGeom>
        </p:spPr>
      </p:pic>
      <p:sp>
        <p:nvSpPr>
          <p:cNvPr id="35" name="四角形: 角を丸くする 34">
            <a:extLst>
              <a:ext uri="{FF2B5EF4-FFF2-40B4-BE49-F238E27FC236}">
                <a16:creationId xmlns:a16="http://schemas.microsoft.com/office/drawing/2014/main" id="{E81135C7-B4EF-BE61-5130-48CA6C873F15}"/>
              </a:ext>
            </a:extLst>
          </p:cNvPr>
          <p:cNvSpPr/>
          <p:nvPr/>
        </p:nvSpPr>
        <p:spPr>
          <a:xfrm>
            <a:off x="2989680" y="2274846"/>
            <a:ext cx="4387818" cy="965300"/>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r>
              <a:rPr kumimoji="1" lang="ja-JP" altLang="en-US" dirty="0"/>
              <a:t>シグナリング・</a:t>
            </a:r>
            <a:r>
              <a:rPr kumimoji="1" lang="en-US" altLang="ja-JP" dirty="0"/>
              <a:t>Web</a:t>
            </a:r>
            <a:r>
              <a:rPr kumimoji="1" lang="ja-JP" altLang="en-US" dirty="0"/>
              <a:t>サーバー</a:t>
            </a:r>
            <a:endParaRPr kumimoji="1" lang="en-US" altLang="ja-JP" dirty="0"/>
          </a:p>
          <a:p>
            <a:r>
              <a:rPr kumimoji="1" lang="ja-JP" altLang="en-US" dirty="0"/>
              <a:t>（バックグラウンドで動かしておく）</a:t>
            </a:r>
          </a:p>
        </p:txBody>
      </p:sp>
      <p:sp>
        <p:nvSpPr>
          <p:cNvPr id="41" name="四角形: 角を丸くする 40">
            <a:extLst>
              <a:ext uri="{FF2B5EF4-FFF2-40B4-BE49-F238E27FC236}">
                <a16:creationId xmlns:a16="http://schemas.microsoft.com/office/drawing/2014/main" id="{B3F195ED-B1B5-78ED-B99A-43C1731A2285}"/>
              </a:ext>
            </a:extLst>
          </p:cNvPr>
          <p:cNvSpPr/>
          <p:nvPr/>
        </p:nvSpPr>
        <p:spPr>
          <a:xfrm>
            <a:off x="729399" y="3289022"/>
            <a:ext cx="1633591" cy="1583291"/>
          </a:xfrm>
          <a:prstGeom prst="roundRect">
            <a:avLst/>
          </a:prstGeom>
        </p:spPr>
        <p:style>
          <a:lnRef idx="2">
            <a:schemeClr val="accent1"/>
          </a:lnRef>
          <a:fillRef idx="1">
            <a:schemeClr val="lt1"/>
          </a:fillRef>
          <a:effectRef idx="0">
            <a:schemeClr val="accent1"/>
          </a:effectRef>
          <a:fontRef idx="minor">
            <a:schemeClr val="dk1"/>
          </a:fontRef>
        </p:style>
        <p:txBody>
          <a:bodyPr rtlCol="0" anchor="t"/>
          <a:lstStyle/>
          <a:p>
            <a:pPr algn="ctr"/>
            <a:r>
              <a:rPr kumimoji="1" lang="ja-JP" altLang="en-US" dirty="0"/>
              <a:t>ブラウザ</a:t>
            </a:r>
            <a:endParaRPr kumimoji="1" lang="en-US" altLang="ja-JP" dirty="0"/>
          </a:p>
          <a:p>
            <a:pPr algn="ctr"/>
            <a:endParaRPr lang="en-US" altLang="ja-JP" dirty="0"/>
          </a:p>
          <a:p>
            <a:pPr algn="ctr"/>
            <a:endParaRPr kumimoji="1" lang="en-US" altLang="ja-JP" dirty="0"/>
          </a:p>
          <a:p>
            <a:pPr algn="ctr"/>
            <a:endParaRPr lang="en-US" altLang="ja-JP" dirty="0"/>
          </a:p>
          <a:p>
            <a:pPr algn="ctr"/>
            <a:r>
              <a:rPr kumimoji="1" lang="ja-JP" altLang="en-US" dirty="0"/>
              <a:t>自分　相手</a:t>
            </a:r>
          </a:p>
        </p:txBody>
      </p:sp>
      <p:sp>
        <p:nvSpPr>
          <p:cNvPr id="4" name="四角形: 角を丸くする 3">
            <a:extLst>
              <a:ext uri="{FF2B5EF4-FFF2-40B4-BE49-F238E27FC236}">
                <a16:creationId xmlns:a16="http://schemas.microsoft.com/office/drawing/2014/main" id="{FEB05E93-9AA1-EB18-85D4-2311E9EDA88B}"/>
              </a:ext>
            </a:extLst>
          </p:cNvPr>
          <p:cNvSpPr/>
          <p:nvPr/>
        </p:nvSpPr>
        <p:spPr>
          <a:xfrm>
            <a:off x="10432960" y="3280851"/>
            <a:ext cx="1633591" cy="1583291"/>
          </a:xfrm>
          <a:prstGeom prst="roundRect">
            <a:avLst/>
          </a:prstGeom>
        </p:spPr>
        <p:style>
          <a:lnRef idx="2">
            <a:schemeClr val="accent1"/>
          </a:lnRef>
          <a:fillRef idx="1">
            <a:schemeClr val="lt1"/>
          </a:fillRef>
          <a:effectRef idx="0">
            <a:schemeClr val="accent1"/>
          </a:effectRef>
          <a:fontRef idx="minor">
            <a:schemeClr val="dk1"/>
          </a:fontRef>
        </p:style>
        <p:txBody>
          <a:bodyPr rtlCol="0" anchor="t"/>
          <a:lstStyle/>
          <a:p>
            <a:pPr algn="ctr"/>
            <a:r>
              <a:rPr kumimoji="1" lang="ja-JP" altLang="en-US" dirty="0"/>
              <a:t>ブラウザ</a:t>
            </a:r>
            <a:endParaRPr kumimoji="1" lang="en-US" altLang="ja-JP" dirty="0"/>
          </a:p>
          <a:p>
            <a:pPr algn="ctr"/>
            <a:endParaRPr lang="en-US" altLang="ja-JP" dirty="0"/>
          </a:p>
          <a:p>
            <a:pPr algn="ctr"/>
            <a:endParaRPr kumimoji="1" lang="en-US" altLang="ja-JP" dirty="0"/>
          </a:p>
          <a:p>
            <a:pPr algn="ctr"/>
            <a:endParaRPr lang="en-US" altLang="ja-JP" dirty="0"/>
          </a:p>
          <a:p>
            <a:pPr algn="ctr"/>
            <a:r>
              <a:rPr kumimoji="1" lang="ja-JP" altLang="en-US" dirty="0"/>
              <a:t>自分　相手</a:t>
            </a:r>
          </a:p>
        </p:txBody>
      </p:sp>
      <p:grpSp>
        <p:nvGrpSpPr>
          <p:cNvPr id="7" name="グループ化 6">
            <a:extLst>
              <a:ext uri="{FF2B5EF4-FFF2-40B4-BE49-F238E27FC236}">
                <a16:creationId xmlns:a16="http://schemas.microsoft.com/office/drawing/2014/main" id="{97F2AB93-36EA-503F-0ABB-F1608CB4B5E5}"/>
              </a:ext>
            </a:extLst>
          </p:cNvPr>
          <p:cNvGrpSpPr/>
          <p:nvPr/>
        </p:nvGrpSpPr>
        <p:grpSpPr>
          <a:xfrm>
            <a:off x="11255604" y="3988390"/>
            <a:ext cx="540631" cy="377576"/>
            <a:chOff x="9985866" y="2582587"/>
            <a:chExt cx="382834" cy="267371"/>
          </a:xfrm>
        </p:grpSpPr>
        <p:sp>
          <p:nvSpPr>
            <p:cNvPr id="5" name="正方形/長方形 4">
              <a:extLst>
                <a:ext uri="{FF2B5EF4-FFF2-40B4-BE49-F238E27FC236}">
                  <a16:creationId xmlns:a16="http://schemas.microsoft.com/office/drawing/2014/main" id="{8D258F73-6EAF-1D71-D777-4D0A76639DC5}"/>
                </a:ext>
              </a:extLst>
            </p:cNvPr>
            <p:cNvSpPr/>
            <p:nvPr/>
          </p:nvSpPr>
          <p:spPr>
            <a:xfrm>
              <a:off x="9985866" y="2582587"/>
              <a:ext cx="382834" cy="26737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正方形/長方形 5">
              <a:extLst>
                <a:ext uri="{FF2B5EF4-FFF2-40B4-BE49-F238E27FC236}">
                  <a16:creationId xmlns:a16="http://schemas.microsoft.com/office/drawing/2014/main" id="{E3EB5908-A0F6-BD75-74D3-A1C4E9B25FC2}"/>
                </a:ext>
              </a:extLst>
            </p:cNvPr>
            <p:cNvSpPr/>
            <p:nvPr/>
          </p:nvSpPr>
          <p:spPr>
            <a:xfrm>
              <a:off x="9985866" y="2586250"/>
              <a:ext cx="193208" cy="134936"/>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8" name="グループ化 7">
            <a:extLst>
              <a:ext uri="{FF2B5EF4-FFF2-40B4-BE49-F238E27FC236}">
                <a16:creationId xmlns:a16="http://schemas.microsoft.com/office/drawing/2014/main" id="{1D6712EF-09F2-0D06-B72A-C14FBFD22A5C}"/>
              </a:ext>
            </a:extLst>
          </p:cNvPr>
          <p:cNvGrpSpPr/>
          <p:nvPr/>
        </p:nvGrpSpPr>
        <p:grpSpPr>
          <a:xfrm>
            <a:off x="10630131" y="3988390"/>
            <a:ext cx="540631" cy="377576"/>
            <a:chOff x="9985866" y="2582587"/>
            <a:chExt cx="382834" cy="267371"/>
          </a:xfrm>
        </p:grpSpPr>
        <p:sp>
          <p:nvSpPr>
            <p:cNvPr id="10" name="正方形/長方形 9">
              <a:extLst>
                <a:ext uri="{FF2B5EF4-FFF2-40B4-BE49-F238E27FC236}">
                  <a16:creationId xmlns:a16="http://schemas.microsoft.com/office/drawing/2014/main" id="{7102AD42-0A9C-2AE9-6EA4-118D3BC8B3C9}"/>
                </a:ext>
              </a:extLst>
            </p:cNvPr>
            <p:cNvSpPr/>
            <p:nvPr/>
          </p:nvSpPr>
          <p:spPr>
            <a:xfrm>
              <a:off x="9985866" y="2582587"/>
              <a:ext cx="382834" cy="26737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1" name="正方形/長方形 10">
              <a:extLst>
                <a:ext uri="{FF2B5EF4-FFF2-40B4-BE49-F238E27FC236}">
                  <a16:creationId xmlns:a16="http://schemas.microsoft.com/office/drawing/2014/main" id="{7467BCC9-3D12-7C03-DE32-51E17516A25F}"/>
                </a:ext>
              </a:extLst>
            </p:cNvPr>
            <p:cNvSpPr/>
            <p:nvPr/>
          </p:nvSpPr>
          <p:spPr>
            <a:xfrm>
              <a:off x="9985866" y="2586250"/>
              <a:ext cx="193208" cy="134936"/>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grpSp>
        <p:nvGrpSpPr>
          <p:cNvPr id="12" name="グループ化 11">
            <a:extLst>
              <a:ext uri="{FF2B5EF4-FFF2-40B4-BE49-F238E27FC236}">
                <a16:creationId xmlns:a16="http://schemas.microsoft.com/office/drawing/2014/main" id="{7C0F2DB1-0E86-B38F-B163-122EEA7FF430}"/>
              </a:ext>
            </a:extLst>
          </p:cNvPr>
          <p:cNvGrpSpPr/>
          <p:nvPr/>
        </p:nvGrpSpPr>
        <p:grpSpPr>
          <a:xfrm>
            <a:off x="1577284" y="3858577"/>
            <a:ext cx="540631" cy="377576"/>
            <a:chOff x="9985866" y="2582587"/>
            <a:chExt cx="382834" cy="267371"/>
          </a:xfrm>
        </p:grpSpPr>
        <p:sp>
          <p:nvSpPr>
            <p:cNvPr id="13" name="正方形/長方形 12">
              <a:extLst>
                <a:ext uri="{FF2B5EF4-FFF2-40B4-BE49-F238E27FC236}">
                  <a16:creationId xmlns:a16="http://schemas.microsoft.com/office/drawing/2014/main" id="{1F4AD4AD-D785-67AC-30AC-1F6FA3DC1502}"/>
                </a:ext>
              </a:extLst>
            </p:cNvPr>
            <p:cNvSpPr/>
            <p:nvPr/>
          </p:nvSpPr>
          <p:spPr>
            <a:xfrm>
              <a:off x="9985866" y="2582587"/>
              <a:ext cx="382834" cy="26737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正方形/長方形 13">
              <a:extLst>
                <a:ext uri="{FF2B5EF4-FFF2-40B4-BE49-F238E27FC236}">
                  <a16:creationId xmlns:a16="http://schemas.microsoft.com/office/drawing/2014/main" id="{FE2551D1-FB1F-FBEE-0834-E03A6B52F150}"/>
                </a:ext>
              </a:extLst>
            </p:cNvPr>
            <p:cNvSpPr/>
            <p:nvPr/>
          </p:nvSpPr>
          <p:spPr>
            <a:xfrm>
              <a:off x="9985866" y="2586250"/>
              <a:ext cx="193208" cy="134936"/>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grpSp>
        <p:nvGrpSpPr>
          <p:cNvPr id="15" name="グループ化 14">
            <a:extLst>
              <a:ext uri="{FF2B5EF4-FFF2-40B4-BE49-F238E27FC236}">
                <a16:creationId xmlns:a16="http://schemas.microsoft.com/office/drawing/2014/main" id="{229EA825-7EC3-23F8-DB53-760D56F34B17}"/>
              </a:ext>
            </a:extLst>
          </p:cNvPr>
          <p:cNvGrpSpPr/>
          <p:nvPr/>
        </p:nvGrpSpPr>
        <p:grpSpPr>
          <a:xfrm>
            <a:off x="951811" y="3858577"/>
            <a:ext cx="540631" cy="377576"/>
            <a:chOff x="9985866" y="2582587"/>
            <a:chExt cx="382834" cy="267371"/>
          </a:xfrm>
        </p:grpSpPr>
        <p:sp>
          <p:nvSpPr>
            <p:cNvPr id="16" name="正方形/長方形 15">
              <a:extLst>
                <a:ext uri="{FF2B5EF4-FFF2-40B4-BE49-F238E27FC236}">
                  <a16:creationId xmlns:a16="http://schemas.microsoft.com/office/drawing/2014/main" id="{FDCD1748-4398-8162-52D6-EBB3EC619412}"/>
                </a:ext>
              </a:extLst>
            </p:cNvPr>
            <p:cNvSpPr/>
            <p:nvPr/>
          </p:nvSpPr>
          <p:spPr>
            <a:xfrm>
              <a:off x="9985866" y="2582587"/>
              <a:ext cx="382834" cy="26737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7" name="正方形/長方形 16">
              <a:extLst>
                <a:ext uri="{FF2B5EF4-FFF2-40B4-BE49-F238E27FC236}">
                  <a16:creationId xmlns:a16="http://schemas.microsoft.com/office/drawing/2014/main" id="{652B57C2-D474-7E9D-E231-A6D18B4C4215}"/>
                </a:ext>
              </a:extLst>
            </p:cNvPr>
            <p:cNvSpPr/>
            <p:nvPr/>
          </p:nvSpPr>
          <p:spPr>
            <a:xfrm>
              <a:off x="9985866" y="2586250"/>
              <a:ext cx="193208" cy="134936"/>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cxnSp>
        <p:nvCxnSpPr>
          <p:cNvPr id="20" name="直線矢印コネクタ 19">
            <a:extLst>
              <a:ext uri="{FF2B5EF4-FFF2-40B4-BE49-F238E27FC236}">
                <a16:creationId xmlns:a16="http://schemas.microsoft.com/office/drawing/2014/main" id="{FE6E4770-4792-32AC-3F07-C8B49340DCEA}"/>
              </a:ext>
            </a:extLst>
          </p:cNvPr>
          <p:cNvCxnSpPr>
            <a:cxnSpLocks/>
            <a:stCxn id="32" idx="1"/>
            <a:endCxn id="41" idx="3"/>
          </p:cNvCxnSpPr>
          <p:nvPr/>
        </p:nvCxnSpPr>
        <p:spPr>
          <a:xfrm flipH="1" flipV="1">
            <a:off x="2362990" y="4080668"/>
            <a:ext cx="4403539" cy="8172"/>
          </a:xfrm>
          <a:prstGeom prst="straightConnector1">
            <a:avLst/>
          </a:prstGeom>
          <a:ln>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25" name="直線矢印コネクタ 24">
            <a:extLst>
              <a:ext uri="{FF2B5EF4-FFF2-40B4-BE49-F238E27FC236}">
                <a16:creationId xmlns:a16="http://schemas.microsoft.com/office/drawing/2014/main" id="{581EECF8-C529-15F2-05DD-9624A52DE436}"/>
              </a:ext>
            </a:extLst>
          </p:cNvPr>
          <p:cNvCxnSpPr>
            <a:cxnSpLocks/>
            <a:stCxn id="28" idx="3"/>
            <a:endCxn id="4" idx="1"/>
          </p:cNvCxnSpPr>
          <p:nvPr/>
        </p:nvCxnSpPr>
        <p:spPr>
          <a:xfrm flipV="1">
            <a:off x="10024143" y="4072497"/>
            <a:ext cx="408817" cy="16343"/>
          </a:xfrm>
          <a:prstGeom prst="straightConnector1">
            <a:avLst/>
          </a:prstGeom>
          <a:ln>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37" name="直線矢印コネクタ 36">
            <a:extLst>
              <a:ext uri="{FF2B5EF4-FFF2-40B4-BE49-F238E27FC236}">
                <a16:creationId xmlns:a16="http://schemas.microsoft.com/office/drawing/2014/main" id="{DA44337B-3B26-14F9-7988-D314DE43FC3C}"/>
              </a:ext>
            </a:extLst>
          </p:cNvPr>
          <p:cNvCxnSpPr>
            <a:cxnSpLocks/>
            <a:stCxn id="32" idx="1"/>
            <a:endCxn id="35" idx="2"/>
          </p:cNvCxnSpPr>
          <p:nvPr/>
        </p:nvCxnSpPr>
        <p:spPr>
          <a:xfrm flipH="1" flipV="1">
            <a:off x="5183589" y="3240146"/>
            <a:ext cx="1582940" cy="848694"/>
          </a:xfrm>
          <a:prstGeom prst="straightConnector1">
            <a:avLst/>
          </a:prstGeom>
          <a:ln>
            <a:headEnd type="triangle" w="med" len="med"/>
            <a:tailEnd type="triangle" w="med" len="med"/>
          </a:ln>
        </p:spPr>
        <p:style>
          <a:lnRef idx="2">
            <a:schemeClr val="accent2"/>
          </a:lnRef>
          <a:fillRef idx="0">
            <a:schemeClr val="accent2"/>
          </a:fillRef>
          <a:effectRef idx="1">
            <a:schemeClr val="accent2"/>
          </a:effectRef>
          <a:fontRef idx="minor">
            <a:schemeClr val="tx1"/>
          </a:fontRef>
        </p:style>
      </p:cxnSp>
      <p:cxnSp>
        <p:nvCxnSpPr>
          <p:cNvPr id="42" name="直線矢印コネクタ 41">
            <a:extLst>
              <a:ext uri="{FF2B5EF4-FFF2-40B4-BE49-F238E27FC236}">
                <a16:creationId xmlns:a16="http://schemas.microsoft.com/office/drawing/2014/main" id="{62C40609-072C-6DE3-7D13-386EE537C056}"/>
              </a:ext>
            </a:extLst>
          </p:cNvPr>
          <p:cNvCxnSpPr>
            <a:cxnSpLocks/>
            <a:stCxn id="35" idx="2"/>
            <a:endCxn id="41" idx="3"/>
          </p:cNvCxnSpPr>
          <p:nvPr/>
        </p:nvCxnSpPr>
        <p:spPr>
          <a:xfrm flipH="1">
            <a:off x="2362990" y="3240146"/>
            <a:ext cx="2820599" cy="840522"/>
          </a:xfrm>
          <a:prstGeom prst="straightConnector1">
            <a:avLst/>
          </a:prstGeom>
          <a:ln>
            <a:headEnd type="triangle" w="med" len="med"/>
            <a:tailEnd type="triangle" w="med" len="med"/>
          </a:ln>
        </p:spPr>
        <p:style>
          <a:lnRef idx="2">
            <a:schemeClr val="accent2"/>
          </a:lnRef>
          <a:fillRef idx="0">
            <a:schemeClr val="accent2"/>
          </a:fillRef>
          <a:effectRef idx="1">
            <a:schemeClr val="accent2"/>
          </a:effectRef>
          <a:fontRef idx="minor">
            <a:schemeClr val="tx1"/>
          </a:fontRef>
        </p:style>
      </p:cxnSp>
      <p:sp>
        <p:nvSpPr>
          <p:cNvPr id="66" name="テキスト ボックス 65">
            <a:extLst>
              <a:ext uri="{FF2B5EF4-FFF2-40B4-BE49-F238E27FC236}">
                <a16:creationId xmlns:a16="http://schemas.microsoft.com/office/drawing/2014/main" id="{B9A972F9-59D9-B97E-E351-F9490A511D12}"/>
              </a:ext>
            </a:extLst>
          </p:cNvPr>
          <p:cNvSpPr txBox="1"/>
          <p:nvPr/>
        </p:nvSpPr>
        <p:spPr>
          <a:xfrm>
            <a:off x="0" y="5798878"/>
            <a:ext cx="11941102" cy="923330"/>
          </a:xfrm>
          <a:prstGeom prst="rect">
            <a:avLst/>
          </a:prstGeom>
          <a:noFill/>
        </p:spPr>
        <p:txBody>
          <a:bodyPr wrap="square">
            <a:spAutoFit/>
          </a:bodyPr>
          <a:lstStyle/>
          <a:p>
            <a:pPr marL="457200" lvl="1" indent="0" algn="ctr">
              <a:buNone/>
            </a:pPr>
            <a:r>
              <a:rPr lang="ja-JP" altLang="en-US" dirty="0"/>
              <a:t>シグナリング・</a:t>
            </a:r>
            <a:r>
              <a:rPr lang="en-US" altLang="ja-JP" dirty="0"/>
              <a:t>Web</a:t>
            </a:r>
            <a:r>
              <a:rPr kumimoji="1" lang="ja-JP" altLang="en-US" dirty="0"/>
              <a:t>サーバーを評価側の</a:t>
            </a:r>
            <a:r>
              <a:rPr kumimoji="1" lang="en-US" altLang="ja-JP" dirty="0"/>
              <a:t>PC</a:t>
            </a:r>
            <a:r>
              <a:rPr kumimoji="1" lang="ja-JP" altLang="en-US" dirty="0"/>
              <a:t>に兼任させて，</a:t>
            </a:r>
            <a:r>
              <a:rPr kumimoji="1" lang="en-US" altLang="ja-JP" dirty="0"/>
              <a:t>PC</a:t>
            </a:r>
            <a:r>
              <a:rPr kumimoji="1" lang="ja-JP" altLang="en-US" dirty="0"/>
              <a:t>が</a:t>
            </a:r>
            <a:r>
              <a:rPr kumimoji="1" lang="en-US" altLang="ja-JP" dirty="0"/>
              <a:t>1</a:t>
            </a:r>
            <a:r>
              <a:rPr kumimoji="1" lang="ja-JP" altLang="en-US" dirty="0"/>
              <a:t>対</a:t>
            </a:r>
            <a:r>
              <a:rPr kumimoji="1" lang="en-US" altLang="ja-JP" dirty="0"/>
              <a:t>1</a:t>
            </a:r>
            <a:r>
              <a:rPr kumimoji="1" lang="ja-JP" altLang="en-US" dirty="0"/>
              <a:t>になるように実装</a:t>
            </a:r>
            <a:endParaRPr kumimoji="1" lang="en-US" altLang="ja-JP" dirty="0"/>
          </a:p>
          <a:p>
            <a:pPr lvl="1" algn="ctr"/>
            <a:r>
              <a:rPr kumimoji="1" lang="ja-JP" altLang="en-US" dirty="0"/>
              <a:t>（相談側は</a:t>
            </a:r>
            <a:r>
              <a:rPr kumimoji="1" lang="en-US" altLang="ja-JP" dirty="0"/>
              <a:t>Web</a:t>
            </a:r>
            <a:r>
              <a:rPr kumimoji="1" lang="ja-JP" altLang="en-US" dirty="0"/>
              <a:t>ブラウザでページ</a:t>
            </a:r>
            <a:r>
              <a:rPr kumimoji="1" lang="en-US" altLang="ja-JP" dirty="0"/>
              <a:t>(</a:t>
            </a:r>
            <a:r>
              <a:rPr lang="en-US" altLang="ja-JP" dirty="0"/>
              <a:t>http://</a:t>
            </a:r>
            <a:r>
              <a:rPr lang="ja-JP" altLang="en-US" dirty="0"/>
              <a:t>100.98.229.112:3000</a:t>
            </a:r>
            <a:r>
              <a:rPr kumimoji="1" lang="en-US" altLang="ja-JP" dirty="0"/>
              <a:t>)</a:t>
            </a:r>
            <a:r>
              <a:rPr kumimoji="1" lang="ja-JP" altLang="en-US" dirty="0"/>
              <a:t>を開くだけ</a:t>
            </a:r>
            <a:r>
              <a:rPr kumimoji="1" lang="en-US" altLang="ja-JP" dirty="0"/>
              <a:t>)(</a:t>
            </a:r>
            <a:r>
              <a:rPr kumimoji="1" lang="ja-JP" altLang="en-US" dirty="0"/>
              <a:t>証明書がないためスマホは不可）</a:t>
            </a:r>
            <a:endParaRPr kumimoji="1" lang="en-US" altLang="ja-JP" dirty="0"/>
          </a:p>
          <a:p>
            <a:pPr marL="457200" lvl="1" indent="0" algn="ctr">
              <a:buNone/>
            </a:pPr>
            <a:r>
              <a:rPr lang="ja-JP" altLang="en-US" dirty="0"/>
              <a:t>１．　　　シグナリングによる通信の確保　　　　　　　２．　　　暗号化した映像のやり取り</a:t>
            </a:r>
            <a:endParaRPr kumimoji="1" lang="en-US" altLang="ja-JP" dirty="0"/>
          </a:p>
        </p:txBody>
      </p:sp>
      <p:cxnSp>
        <p:nvCxnSpPr>
          <p:cNvPr id="68" name="直線矢印コネクタ 67">
            <a:extLst>
              <a:ext uri="{FF2B5EF4-FFF2-40B4-BE49-F238E27FC236}">
                <a16:creationId xmlns:a16="http://schemas.microsoft.com/office/drawing/2014/main" id="{5AF756B4-7F9B-02D6-2E4A-44538A24E01A}"/>
              </a:ext>
            </a:extLst>
          </p:cNvPr>
          <p:cNvCxnSpPr>
            <a:cxnSpLocks/>
          </p:cNvCxnSpPr>
          <p:nvPr/>
        </p:nvCxnSpPr>
        <p:spPr>
          <a:xfrm flipH="1">
            <a:off x="7509038" y="3981074"/>
            <a:ext cx="1767628" cy="0"/>
          </a:xfrm>
          <a:prstGeom prst="straightConnector1">
            <a:avLst/>
          </a:prstGeom>
          <a:ln>
            <a:headEnd type="triangle" w="med" len="med"/>
            <a:tailEnd type="triangle" w="med" len="med"/>
          </a:ln>
        </p:spPr>
        <p:style>
          <a:lnRef idx="2">
            <a:schemeClr val="accent2"/>
          </a:lnRef>
          <a:fillRef idx="0">
            <a:schemeClr val="accent2"/>
          </a:fillRef>
          <a:effectRef idx="1">
            <a:schemeClr val="accent2"/>
          </a:effectRef>
          <a:fontRef idx="minor">
            <a:schemeClr val="tx1"/>
          </a:fontRef>
        </p:style>
      </p:cxnSp>
      <p:cxnSp>
        <p:nvCxnSpPr>
          <p:cNvPr id="72" name="直線矢印コネクタ 71">
            <a:extLst>
              <a:ext uri="{FF2B5EF4-FFF2-40B4-BE49-F238E27FC236}">
                <a16:creationId xmlns:a16="http://schemas.microsoft.com/office/drawing/2014/main" id="{FA4477B0-A5E7-2AB3-A3DA-2C5154B6099B}"/>
              </a:ext>
            </a:extLst>
          </p:cNvPr>
          <p:cNvCxnSpPr>
            <a:cxnSpLocks/>
          </p:cNvCxnSpPr>
          <p:nvPr/>
        </p:nvCxnSpPr>
        <p:spPr>
          <a:xfrm flipH="1">
            <a:off x="10024143" y="3981074"/>
            <a:ext cx="408817" cy="7316"/>
          </a:xfrm>
          <a:prstGeom prst="straightConnector1">
            <a:avLst/>
          </a:prstGeom>
          <a:ln>
            <a:headEnd type="triangle" w="med" len="med"/>
            <a:tailEnd type="triangle" w="med" len="med"/>
          </a:ln>
        </p:spPr>
        <p:style>
          <a:lnRef idx="2">
            <a:schemeClr val="accent2"/>
          </a:lnRef>
          <a:fillRef idx="0">
            <a:schemeClr val="accent2"/>
          </a:fillRef>
          <a:effectRef idx="1">
            <a:schemeClr val="accent2"/>
          </a:effectRef>
          <a:fontRef idx="minor">
            <a:schemeClr val="tx1"/>
          </a:fontRef>
        </p:style>
      </p:cxnSp>
      <p:cxnSp>
        <p:nvCxnSpPr>
          <p:cNvPr id="74" name="直線矢印コネクタ 73">
            <a:extLst>
              <a:ext uri="{FF2B5EF4-FFF2-40B4-BE49-F238E27FC236}">
                <a16:creationId xmlns:a16="http://schemas.microsoft.com/office/drawing/2014/main" id="{ABA362DC-B311-73AE-1F5D-5D5362452766}"/>
              </a:ext>
            </a:extLst>
          </p:cNvPr>
          <p:cNvCxnSpPr>
            <a:cxnSpLocks/>
          </p:cNvCxnSpPr>
          <p:nvPr/>
        </p:nvCxnSpPr>
        <p:spPr>
          <a:xfrm flipH="1">
            <a:off x="1680358" y="6548308"/>
            <a:ext cx="719805" cy="0"/>
          </a:xfrm>
          <a:prstGeom prst="straightConnector1">
            <a:avLst/>
          </a:prstGeom>
          <a:ln>
            <a:headEnd type="triangle" w="med" len="med"/>
            <a:tailEnd type="triangle" w="med" len="med"/>
          </a:ln>
        </p:spPr>
        <p:style>
          <a:lnRef idx="2">
            <a:schemeClr val="accent2"/>
          </a:lnRef>
          <a:fillRef idx="0">
            <a:schemeClr val="accent2"/>
          </a:fillRef>
          <a:effectRef idx="1">
            <a:schemeClr val="accent2"/>
          </a:effectRef>
          <a:fontRef idx="minor">
            <a:schemeClr val="tx1"/>
          </a:fontRef>
        </p:style>
      </p:cxnSp>
      <p:cxnSp>
        <p:nvCxnSpPr>
          <p:cNvPr id="78" name="直線矢印コネクタ 77">
            <a:extLst>
              <a:ext uri="{FF2B5EF4-FFF2-40B4-BE49-F238E27FC236}">
                <a16:creationId xmlns:a16="http://schemas.microsoft.com/office/drawing/2014/main" id="{E6BADBB6-0983-6001-A7A4-CF514CFB0560}"/>
              </a:ext>
            </a:extLst>
          </p:cNvPr>
          <p:cNvCxnSpPr>
            <a:cxnSpLocks/>
          </p:cNvCxnSpPr>
          <p:nvPr/>
        </p:nvCxnSpPr>
        <p:spPr>
          <a:xfrm flipH="1">
            <a:off x="7606911" y="6548308"/>
            <a:ext cx="715918" cy="0"/>
          </a:xfrm>
          <a:prstGeom prst="straightConnector1">
            <a:avLst/>
          </a:prstGeom>
          <a:ln>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grpSp>
        <p:nvGrpSpPr>
          <p:cNvPr id="87" name="グループ化 86">
            <a:extLst>
              <a:ext uri="{FF2B5EF4-FFF2-40B4-BE49-F238E27FC236}">
                <a16:creationId xmlns:a16="http://schemas.microsoft.com/office/drawing/2014/main" id="{4614F553-953B-DEA0-AF6F-6EE5EF8484F9}"/>
              </a:ext>
            </a:extLst>
          </p:cNvPr>
          <p:cNvGrpSpPr/>
          <p:nvPr/>
        </p:nvGrpSpPr>
        <p:grpSpPr>
          <a:xfrm>
            <a:off x="1518751" y="2333244"/>
            <a:ext cx="540631" cy="377576"/>
            <a:chOff x="9985866" y="2582587"/>
            <a:chExt cx="382834" cy="267371"/>
          </a:xfrm>
        </p:grpSpPr>
        <p:sp>
          <p:nvSpPr>
            <p:cNvPr id="88" name="正方形/長方形 87">
              <a:extLst>
                <a:ext uri="{FF2B5EF4-FFF2-40B4-BE49-F238E27FC236}">
                  <a16:creationId xmlns:a16="http://schemas.microsoft.com/office/drawing/2014/main" id="{9499300C-EEF3-89A4-BB81-04C8B9D1DDAA}"/>
                </a:ext>
              </a:extLst>
            </p:cNvPr>
            <p:cNvSpPr/>
            <p:nvPr/>
          </p:nvSpPr>
          <p:spPr>
            <a:xfrm>
              <a:off x="9985866" y="2582587"/>
              <a:ext cx="382834" cy="26737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9" name="正方形/長方形 88">
              <a:extLst>
                <a:ext uri="{FF2B5EF4-FFF2-40B4-BE49-F238E27FC236}">
                  <a16:creationId xmlns:a16="http://schemas.microsoft.com/office/drawing/2014/main" id="{346FD2D0-B02A-E425-B568-C64DBD8A9A1E}"/>
                </a:ext>
              </a:extLst>
            </p:cNvPr>
            <p:cNvSpPr/>
            <p:nvPr/>
          </p:nvSpPr>
          <p:spPr>
            <a:xfrm>
              <a:off x="9985866" y="2586250"/>
              <a:ext cx="193208" cy="134936"/>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90" name="グループ化 89">
            <a:extLst>
              <a:ext uri="{FF2B5EF4-FFF2-40B4-BE49-F238E27FC236}">
                <a16:creationId xmlns:a16="http://schemas.microsoft.com/office/drawing/2014/main" id="{2F220CA6-52B3-B952-2A16-1426697A355E}"/>
              </a:ext>
            </a:extLst>
          </p:cNvPr>
          <p:cNvGrpSpPr/>
          <p:nvPr/>
        </p:nvGrpSpPr>
        <p:grpSpPr>
          <a:xfrm>
            <a:off x="10792440" y="2316761"/>
            <a:ext cx="540631" cy="377576"/>
            <a:chOff x="9985866" y="2582587"/>
            <a:chExt cx="382834" cy="267371"/>
          </a:xfrm>
        </p:grpSpPr>
        <p:sp>
          <p:nvSpPr>
            <p:cNvPr id="91" name="正方形/長方形 90">
              <a:extLst>
                <a:ext uri="{FF2B5EF4-FFF2-40B4-BE49-F238E27FC236}">
                  <a16:creationId xmlns:a16="http://schemas.microsoft.com/office/drawing/2014/main" id="{87B9E437-06B7-315A-C526-02C556FF8FBE}"/>
                </a:ext>
              </a:extLst>
            </p:cNvPr>
            <p:cNvSpPr/>
            <p:nvPr/>
          </p:nvSpPr>
          <p:spPr>
            <a:xfrm>
              <a:off x="9985866" y="2582587"/>
              <a:ext cx="382834" cy="26737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92" name="正方形/長方形 91">
              <a:extLst>
                <a:ext uri="{FF2B5EF4-FFF2-40B4-BE49-F238E27FC236}">
                  <a16:creationId xmlns:a16="http://schemas.microsoft.com/office/drawing/2014/main" id="{33CAFFEF-A179-3E8E-EA73-1E5AA09EBD9F}"/>
                </a:ext>
              </a:extLst>
            </p:cNvPr>
            <p:cNvSpPr/>
            <p:nvPr/>
          </p:nvSpPr>
          <p:spPr>
            <a:xfrm>
              <a:off x="9985866" y="2586250"/>
              <a:ext cx="193208" cy="134936"/>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pic>
        <p:nvPicPr>
          <p:cNvPr id="96" name="グラフィックス 95" descr="Web カメラ 単色塗りつぶし">
            <a:extLst>
              <a:ext uri="{FF2B5EF4-FFF2-40B4-BE49-F238E27FC236}">
                <a16:creationId xmlns:a16="http://schemas.microsoft.com/office/drawing/2014/main" id="{1A3BD87B-6B91-7735-3283-29EF329975B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99369" y="2000579"/>
            <a:ext cx="914400" cy="914400"/>
          </a:xfrm>
          <a:prstGeom prst="rect">
            <a:avLst/>
          </a:prstGeom>
        </p:spPr>
      </p:pic>
      <p:pic>
        <p:nvPicPr>
          <p:cNvPr id="97" name="グラフィックス 96" descr="Web カメラ 単色塗りつぶし">
            <a:extLst>
              <a:ext uri="{FF2B5EF4-FFF2-40B4-BE49-F238E27FC236}">
                <a16:creationId xmlns:a16="http://schemas.microsoft.com/office/drawing/2014/main" id="{E303D573-67C2-BEAE-3AB7-290477D4560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917158" y="1997330"/>
            <a:ext cx="914400" cy="914400"/>
          </a:xfrm>
          <a:prstGeom prst="rect">
            <a:avLst/>
          </a:prstGeom>
        </p:spPr>
      </p:pic>
      <p:sp>
        <p:nvSpPr>
          <p:cNvPr id="98" name="四角形: 角を丸くする 97">
            <a:extLst>
              <a:ext uri="{FF2B5EF4-FFF2-40B4-BE49-F238E27FC236}">
                <a16:creationId xmlns:a16="http://schemas.microsoft.com/office/drawing/2014/main" id="{8868FDB6-304E-852D-FBEC-52DC79942756}"/>
              </a:ext>
            </a:extLst>
          </p:cNvPr>
          <p:cNvSpPr/>
          <p:nvPr/>
        </p:nvSpPr>
        <p:spPr>
          <a:xfrm>
            <a:off x="264848" y="2794851"/>
            <a:ext cx="2662634" cy="338008"/>
          </a:xfrm>
          <a:prstGeom prst="round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ja-JP" dirty="0" err="1"/>
              <a:t>FullHD</a:t>
            </a:r>
            <a:r>
              <a:rPr lang="ja-JP" altLang="en-US" dirty="0"/>
              <a:t> </a:t>
            </a:r>
            <a:r>
              <a:rPr lang="en-US" altLang="ja-JP" dirty="0"/>
              <a:t>Web</a:t>
            </a:r>
            <a:r>
              <a:rPr lang="ja-JP" altLang="en-US" dirty="0"/>
              <a:t>カメラ映像</a:t>
            </a:r>
            <a:endParaRPr kumimoji="1" lang="ja-JP" altLang="en-US" dirty="0"/>
          </a:p>
        </p:txBody>
      </p:sp>
      <p:sp>
        <p:nvSpPr>
          <p:cNvPr id="99" name="四角形: 角を丸くする 98">
            <a:extLst>
              <a:ext uri="{FF2B5EF4-FFF2-40B4-BE49-F238E27FC236}">
                <a16:creationId xmlns:a16="http://schemas.microsoft.com/office/drawing/2014/main" id="{4903C81A-A904-AABE-3254-1DCCDD1B6739}"/>
              </a:ext>
            </a:extLst>
          </p:cNvPr>
          <p:cNvSpPr/>
          <p:nvPr/>
        </p:nvSpPr>
        <p:spPr>
          <a:xfrm>
            <a:off x="9403862" y="2794851"/>
            <a:ext cx="2662634" cy="338008"/>
          </a:xfrm>
          <a:prstGeom prst="round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ja-JP" dirty="0" err="1"/>
              <a:t>FullHD</a:t>
            </a:r>
            <a:r>
              <a:rPr lang="ja-JP" altLang="en-US" dirty="0"/>
              <a:t> </a:t>
            </a:r>
            <a:r>
              <a:rPr lang="en-US" altLang="ja-JP" dirty="0"/>
              <a:t>Web</a:t>
            </a:r>
            <a:r>
              <a:rPr lang="ja-JP" altLang="en-US" dirty="0"/>
              <a:t>カメラ映像</a:t>
            </a:r>
            <a:endParaRPr kumimoji="1" lang="ja-JP" altLang="en-US" dirty="0"/>
          </a:p>
        </p:txBody>
      </p:sp>
      <p:sp>
        <p:nvSpPr>
          <p:cNvPr id="101" name="テキスト ボックス 100">
            <a:extLst>
              <a:ext uri="{FF2B5EF4-FFF2-40B4-BE49-F238E27FC236}">
                <a16:creationId xmlns:a16="http://schemas.microsoft.com/office/drawing/2014/main" id="{85CC41AE-68D4-5349-AB29-158835F1F1FE}"/>
              </a:ext>
            </a:extLst>
          </p:cNvPr>
          <p:cNvSpPr txBox="1"/>
          <p:nvPr/>
        </p:nvSpPr>
        <p:spPr>
          <a:xfrm>
            <a:off x="6041643" y="4444707"/>
            <a:ext cx="1792029" cy="369332"/>
          </a:xfrm>
          <a:prstGeom prst="rect">
            <a:avLst/>
          </a:prstGeom>
          <a:noFill/>
        </p:spPr>
        <p:txBody>
          <a:bodyPr wrap="square">
            <a:spAutoFit/>
          </a:bodyPr>
          <a:lstStyle/>
          <a:p>
            <a:r>
              <a:rPr lang="ja-JP" altLang="en-US" dirty="0"/>
              <a:t>100.98.229.112</a:t>
            </a:r>
          </a:p>
        </p:txBody>
      </p:sp>
      <p:sp>
        <p:nvSpPr>
          <p:cNvPr id="102" name="テキスト ボックス 101">
            <a:extLst>
              <a:ext uri="{FF2B5EF4-FFF2-40B4-BE49-F238E27FC236}">
                <a16:creationId xmlns:a16="http://schemas.microsoft.com/office/drawing/2014/main" id="{1461049F-604F-E256-63A0-18DE8EA0D056}"/>
              </a:ext>
            </a:extLst>
          </p:cNvPr>
          <p:cNvSpPr txBox="1"/>
          <p:nvPr/>
        </p:nvSpPr>
        <p:spPr>
          <a:xfrm>
            <a:off x="8322829" y="4545158"/>
            <a:ext cx="1792029" cy="369332"/>
          </a:xfrm>
          <a:prstGeom prst="rect">
            <a:avLst/>
          </a:prstGeom>
          <a:noFill/>
        </p:spPr>
        <p:txBody>
          <a:bodyPr wrap="square">
            <a:spAutoFit/>
          </a:bodyPr>
          <a:lstStyle/>
          <a:p>
            <a:r>
              <a:rPr lang="ja-JP" altLang="en-US" dirty="0"/>
              <a:t>100.</a:t>
            </a:r>
            <a:r>
              <a:rPr lang="en-US" altLang="ja-JP" dirty="0"/>
              <a:t>127.57.72</a:t>
            </a:r>
            <a:endParaRPr lang="ja-JP" altLang="en-US" dirty="0"/>
          </a:p>
        </p:txBody>
      </p:sp>
    </p:spTree>
    <p:extLst>
      <p:ext uri="{BB962C8B-B14F-4D97-AF65-F5344CB8AC3E}">
        <p14:creationId xmlns:p14="http://schemas.microsoft.com/office/powerpoint/2010/main" val="2716147563"/>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255</TotalTime>
  <Words>869</Words>
  <Application>Microsoft Office PowerPoint</Application>
  <PresentationFormat>ワイド画面</PresentationFormat>
  <Paragraphs>145</Paragraphs>
  <Slides>11</Slides>
  <Notes>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11</vt:i4>
      </vt:variant>
    </vt:vector>
  </HeadingPairs>
  <TitlesOfParts>
    <vt:vector size="15" baseType="lpstr">
      <vt:lpstr>游ゴシック</vt:lpstr>
      <vt:lpstr>游ゴシック Light</vt:lpstr>
      <vt:lpstr>Arial</vt:lpstr>
      <vt:lpstr>Office テーマ</vt:lpstr>
      <vt:lpstr>VPN上での映像共有案</vt:lpstr>
      <vt:lpstr>前提（ネットワークのイメージ）</vt:lpstr>
      <vt:lpstr>前提（情報を暗号化してやり取りしたい）</vt:lpstr>
      <vt:lpstr>前提（VPNで仮想的な専用線を用意）</vt:lpstr>
      <vt:lpstr>VPN（インターネットVPNの場合）</vt:lpstr>
      <vt:lpstr>VPNの実現方法</vt:lpstr>
      <vt:lpstr>実装（VPN）</vt:lpstr>
      <vt:lpstr>WebRTC(Real-Time Communication)</vt:lpstr>
      <vt:lpstr>WebRTC(Real-Time Communication)</vt:lpstr>
      <vt:lpstr>WebRTCを使った会議システム</vt:lpstr>
      <vt:lpstr>内部実装</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yudai itou</dc:creator>
  <cp:lastModifiedBy>yudai itou</cp:lastModifiedBy>
  <cp:revision>33</cp:revision>
  <dcterms:created xsi:type="dcterms:W3CDTF">2025-12-25T00:00:26Z</dcterms:created>
  <dcterms:modified xsi:type="dcterms:W3CDTF">2025-12-25T04:23:04Z</dcterms:modified>
</cp:coreProperties>
</file>