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263" r:id="rId4"/>
    <p:sldId id="265" r:id="rId5"/>
    <p:sldId id="257" r:id="rId6"/>
    <p:sldId id="262" r:id="rId7"/>
    <p:sldId id="267" r:id="rId8"/>
    <p:sldId id="260" r:id="rId9"/>
    <p:sldId id="261" r:id="rId10"/>
    <p:sldId id="266" r:id="rId11"/>
    <p:sldId id="269" r:id="rId12"/>
    <p:sldId id="271" r:id="rId13"/>
    <p:sldId id="270"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0" d="100"/>
          <a:sy n="60" d="100"/>
        </p:scale>
        <p:origin x="78" y="11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D38294-B890-0C09-555F-978317C680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16DBD99C-A751-E79C-0E54-367DF1308C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E6AC9BD6-A52A-3004-BF02-CA4E0DCBF2DD}"/>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5" name="フッター プレースホルダー 4">
            <a:extLst>
              <a:ext uri="{FF2B5EF4-FFF2-40B4-BE49-F238E27FC236}">
                <a16:creationId xmlns:a16="http://schemas.microsoft.com/office/drawing/2014/main" id="{4D10A046-FF9C-9348-B097-CCFE3DC0784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823BDD-7755-9A5D-DA34-94A979891312}"/>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9474623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9E2AD9-E519-2622-7D17-D5B531B090F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8CCBA3A-621F-D431-95B5-766E03AE25E6}"/>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83DD827-0D59-FE1E-4709-13D39F910FD4}"/>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5" name="フッター プレースホルダー 4">
            <a:extLst>
              <a:ext uri="{FF2B5EF4-FFF2-40B4-BE49-F238E27FC236}">
                <a16:creationId xmlns:a16="http://schemas.microsoft.com/office/drawing/2014/main" id="{DDAC3C6F-B32F-0067-5FD1-DF73A9EAC8D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ECF99B-AB61-4498-EBA5-0C61EA0FD4CC}"/>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7497727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651ECF-E838-C77F-8D26-408CBA51F18A}"/>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408DE609-5476-8CF6-8CAB-658B5A9A47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6BC17BA-2FC6-F090-F2E9-51AFC0C70FB4}"/>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5" name="フッター プレースホルダー 4">
            <a:extLst>
              <a:ext uri="{FF2B5EF4-FFF2-40B4-BE49-F238E27FC236}">
                <a16:creationId xmlns:a16="http://schemas.microsoft.com/office/drawing/2014/main" id="{01A3B611-6930-51E1-EAA4-DBAB3C468D7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8AD6FB7-0C77-4C89-54FA-2DC52B2E003E}"/>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4282782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BA8AB4-6EC2-4EC2-EFEA-6115CD5BBDF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752C8AF-DB5C-249A-14D6-756A75F9D8C7}"/>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55FA7894-7ECC-84D6-497A-0D6480597DC0}"/>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BC1B5878-B005-5C68-9CDA-FE949E110209}"/>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6" name="フッター プレースホルダー 5">
            <a:extLst>
              <a:ext uri="{FF2B5EF4-FFF2-40B4-BE49-F238E27FC236}">
                <a16:creationId xmlns:a16="http://schemas.microsoft.com/office/drawing/2014/main" id="{F33CC519-529A-2F4E-1D44-F47EF9BC133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9BDC06-0BC5-FE98-283B-84F76BFAC0C6}"/>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6939949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8185D8-ADD5-5953-3405-6D2BD33AFCB7}"/>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F6DEEDD-2914-EC3E-BF84-C1DADDC56B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176781F-2885-1B6E-F85F-3E5AB13B9CFC}"/>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072362E-3F23-23DC-0E4C-9DEB5BF7EE3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0566680F-9905-21A4-CD17-6B52AF1C179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FBE7B95-EE33-83F6-0058-F37E301BE747}"/>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8" name="フッター プレースホルダー 7">
            <a:extLst>
              <a:ext uri="{FF2B5EF4-FFF2-40B4-BE49-F238E27FC236}">
                <a16:creationId xmlns:a16="http://schemas.microsoft.com/office/drawing/2014/main" id="{0D686654-EC6D-1C9B-EF85-A31BDA3DA6D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631D2B4-F52A-61DE-71BD-02D94BC768B7}"/>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22196455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2A818C-296C-A064-F39A-F5C9076DD65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4C9909D-675F-6655-2040-0339555B8F0D}"/>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4" name="フッター プレースホルダー 3">
            <a:extLst>
              <a:ext uri="{FF2B5EF4-FFF2-40B4-BE49-F238E27FC236}">
                <a16:creationId xmlns:a16="http://schemas.microsoft.com/office/drawing/2014/main" id="{E89FB9D5-092E-7F8E-2C59-A74883CAE38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C8B0E383-A545-2D01-4A06-3B0F35497345}"/>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1821670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253F32D0-1707-B581-04AB-09E783048D47}"/>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3" name="フッター プレースホルダー 2">
            <a:extLst>
              <a:ext uri="{FF2B5EF4-FFF2-40B4-BE49-F238E27FC236}">
                <a16:creationId xmlns:a16="http://schemas.microsoft.com/office/drawing/2014/main" id="{3D466141-8345-F2E4-E0FC-50677706B90A}"/>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1D26F56-A7E7-6E1A-AF3A-B79EEA51FF0B}"/>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27301704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2FE21-C982-FC81-9694-4083ED931A4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6AD031-C0B6-F428-73BD-4ACF8997BC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E945A1BC-DC3E-2350-2311-34620FFAD13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D64E6141-3DB3-B126-6B6B-776C8A28E498}"/>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6" name="フッター プレースホルダー 5">
            <a:extLst>
              <a:ext uri="{FF2B5EF4-FFF2-40B4-BE49-F238E27FC236}">
                <a16:creationId xmlns:a16="http://schemas.microsoft.com/office/drawing/2014/main" id="{79F13A36-F2A9-D2B8-B9B6-1C253AAC8DC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6130BC8-080A-39FD-6883-5566074F8155}"/>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6226056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FBB6F56-FB92-6D09-0995-9582FDB37CE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EBF73027-12BA-245A-FEFA-9A2DAA6160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FB4B4B1-7009-05AC-11F2-174106A708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DAA6BD0-FA4B-477B-FA24-B19998682100}"/>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6" name="フッター プレースホルダー 5">
            <a:extLst>
              <a:ext uri="{FF2B5EF4-FFF2-40B4-BE49-F238E27FC236}">
                <a16:creationId xmlns:a16="http://schemas.microsoft.com/office/drawing/2014/main" id="{51022D31-6A2A-7D32-DA88-0BC36587D5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B1E31AC-1767-63D7-1333-80554E5F5C8A}"/>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14018400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73091E-367F-EC48-7D49-260B3EC21DC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FA5F7D1-8585-031B-9B29-3B8058B2C6B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4EEE9AA-1F9F-9D27-C34C-6C89EA1035D5}"/>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5" name="フッター プレースホルダー 4">
            <a:extLst>
              <a:ext uri="{FF2B5EF4-FFF2-40B4-BE49-F238E27FC236}">
                <a16:creationId xmlns:a16="http://schemas.microsoft.com/office/drawing/2014/main" id="{352E06F4-32F2-0D6C-F9B5-ED5EFB10C993}"/>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264F363-FB38-D33B-449E-CDA9904E7A64}"/>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33650304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8F929D10-DC61-A0D0-A991-A2BD53570E70}"/>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C38ECFE-290C-1061-C064-11E55C3CC8B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F77FC3-B3F3-FCB9-5ECC-C0E30D4631FD}"/>
              </a:ext>
            </a:extLst>
          </p:cNvPr>
          <p:cNvSpPr>
            <a:spLocks noGrp="1"/>
          </p:cNvSpPr>
          <p:nvPr>
            <p:ph type="dt" sz="half" idx="10"/>
          </p:nvPr>
        </p:nvSpPr>
        <p:spPr/>
        <p:txBody>
          <a:bodyPr/>
          <a:lstStyle/>
          <a:p>
            <a:fld id="{B0518848-E628-4826-8FF2-35808C85F00A}" type="datetimeFigureOut">
              <a:rPr kumimoji="1" lang="ja-JP" altLang="en-US" smtClean="0"/>
              <a:t>2025/12/26</a:t>
            </a:fld>
            <a:endParaRPr kumimoji="1" lang="ja-JP" altLang="en-US"/>
          </a:p>
        </p:txBody>
      </p:sp>
      <p:sp>
        <p:nvSpPr>
          <p:cNvPr id="5" name="フッター プレースホルダー 4">
            <a:extLst>
              <a:ext uri="{FF2B5EF4-FFF2-40B4-BE49-F238E27FC236}">
                <a16:creationId xmlns:a16="http://schemas.microsoft.com/office/drawing/2014/main" id="{3DE98E1A-EACD-424A-E640-8A3460B8354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CDA8C18-580F-2A98-22AC-CD3A31889330}"/>
              </a:ext>
            </a:extLst>
          </p:cNvPr>
          <p:cNvSpPr>
            <a:spLocks noGrp="1"/>
          </p:cNvSpPr>
          <p:nvPr>
            <p:ph type="sldNum" sz="quarter" idx="12"/>
          </p:nvPr>
        </p:nvSpPr>
        <p:spPr/>
        <p:txBody>
          <a:body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15003737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07C4D0AA-6E1F-97B1-2A4D-6F997E798DE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6A7B0B-8D4E-3F3F-52AE-315F4A9BA6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5EAFF01-920E-02FA-B92E-BAC65054DB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0518848-E628-4826-8FF2-35808C85F00A}" type="datetimeFigureOut">
              <a:rPr kumimoji="1" lang="ja-JP" altLang="en-US" smtClean="0"/>
              <a:t>2025/12/26</a:t>
            </a:fld>
            <a:endParaRPr kumimoji="1" lang="ja-JP" altLang="en-US"/>
          </a:p>
        </p:txBody>
      </p:sp>
      <p:sp>
        <p:nvSpPr>
          <p:cNvPr id="5" name="フッター プレースホルダー 4">
            <a:extLst>
              <a:ext uri="{FF2B5EF4-FFF2-40B4-BE49-F238E27FC236}">
                <a16:creationId xmlns:a16="http://schemas.microsoft.com/office/drawing/2014/main" id="{3EFA4C3B-6171-0163-FA91-E8B9537D7C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D0549E49-A0FA-0835-4634-71438B62F5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5ABACDA-0557-4DC9-9101-16427DEE9152}" type="slidenum">
              <a:rPr kumimoji="1" lang="ja-JP" altLang="en-US" smtClean="0"/>
              <a:t>‹#›</a:t>
            </a:fld>
            <a:endParaRPr kumimoji="1" lang="ja-JP" altLang="en-US"/>
          </a:p>
        </p:txBody>
      </p:sp>
    </p:spTree>
    <p:extLst>
      <p:ext uri="{BB962C8B-B14F-4D97-AF65-F5344CB8AC3E}">
        <p14:creationId xmlns:p14="http://schemas.microsoft.com/office/powerpoint/2010/main" val="3960548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tailscale.com/pricin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jp.vcube.com/sdk/blog/webrtc-general-server-configuration-signaling-turn-sfu.html#section2"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jami.net/ja/"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4882D8-922C-3E60-362B-8E05193F443E}"/>
              </a:ext>
            </a:extLst>
          </p:cNvPr>
          <p:cNvSpPr>
            <a:spLocks noGrp="1"/>
          </p:cNvSpPr>
          <p:nvPr>
            <p:ph type="ctrTitle"/>
          </p:nvPr>
        </p:nvSpPr>
        <p:spPr/>
        <p:txBody>
          <a:bodyPr/>
          <a:lstStyle/>
          <a:p>
            <a:r>
              <a:rPr kumimoji="1" lang="en-US" altLang="ja-JP" dirty="0"/>
              <a:t>VPN</a:t>
            </a:r>
            <a:r>
              <a:rPr kumimoji="1" lang="ja-JP" altLang="en-US" dirty="0"/>
              <a:t>上での映像共有案</a:t>
            </a:r>
          </a:p>
        </p:txBody>
      </p:sp>
      <p:sp>
        <p:nvSpPr>
          <p:cNvPr id="3" name="字幕 2">
            <a:extLst>
              <a:ext uri="{FF2B5EF4-FFF2-40B4-BE49-F238E27FC236}">
                <a16:creationId xmlns:a16="http://schemas.microsoft.com/office/drawing/2014/main" id="{113A69F7-965E-BBE5-727C-82BE3A6DC54B}"/>
              </a:ext>
            </a:extLst>
          </p:cNvPr>
          <p:cNvSpPr>
            <a:spLocks noGrp="1"/>
          </p:cNvSpPr>
          <p:nvPr>
            <p:ph type="subTitle" idx="1"/>
          </p:nvPr>
        </p:nvSpPr>
        <p:spPr/>
        <p:txBody>
          <a:bodyPr/>
          <a:lstStyle/>
          <a:p>
            <a:r>
              <a:rPr kumimoji="1" lang="en-US" altLang="ja-JP"/>
              <a:t>2025/12/25</a:t>
            </a:r>
            <a:endParaRPr kumimoji="1" lang="ja-JP" altLang="en-US"/>
          </a:p>
        </p:txBody>
      </p:sp>
    </p:spTree>
    <p:extLst>
      <p:ext uri="{BB962C8B-B14F-4D97-AF65-F5344CB8AC3E}">
        <p14:creationId xmlns:p14="http://schemas.microsoft.com/office/powerpoint/2010/main" val="32204962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C2604-9773-DF2E-AB2F-1EDC35113A43}"/>
            </a:ext>
          </a:extLst>
        </p:cNvPr>
        <p:cNvGrpSpPr/>
        <p:nvPr/>
      </p:nvGrpSpPr>
      <p:grpSpPr>
        <a:xfrm>
          <a:off x="0" y="0"/>
          <a:ext cx="0" cy="0"/>
          <a:chOff x="0" y="0"/>
          <a:chExt cx="0" cy="0"/>
        </a:xfrm>
      </p:grpSpPr>
      <p:sp>
        <p:nvSpPr>
          <p:cNvPr id="38" name="四角形: 角を丸くする 37">
            <a:extLst>
              <a:ext uri="{FF2B5EF4-FFF2-40B4-BE49-F238E27FC236}">
                <a16:creationId xmlns:a16="http://schemas.microsoft.com/office/drawing/2014/main" id="{8090A0EA-CE23-0B5A-136B-69E812AF370C}"/>
              </a:ext>
            </a:extLst>
          </p:cNvPr>
          <p:cNvSpPr/>
          <p:nvPr/>
        </p:nvSpPr>
        <p:spPr>
          <a:xfrm>
            <a:off x="7638855" y="1809946"/>
            <a:ext cx="4512538" cy="4308050"/>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ja-JP" altLang="en-US" dirty="0"/>
              <a:t>ローカルネットワーク（</a:t>
            </a:r>
            <a:r>
              <a:rPr lang="en-US" altLang="ja-JP" dirty="0"/>
              <a:t>LAN</a:t>
            </a:r>
            <a:r>
              <a:rPr lang="ja-JP" altLang="en-US" dirty="0"/>
              <a:t>）</a:t>
            </a:r>
            <a:endParaRPr kumimoji="1" lang="ja-JP" altLang="en-US" dirty="0"/>
          </a:p>
        </p:txBody>
      </p:sp>
      <p:sp>
        <p:nvSpPr>
          <p:cNvPr id="37" name="四角形: 角を丸くする 36">
            <a:extLst>
              <a:ext uri="{FF2B5EF4-FFF2-40B4-BE49-F238E27FC236}">
                <a16:creationId xmlns:a16="http://schemas.microsoft.com/office/drawing/2014/main" id="{AB2F3304-F72D-638D-AD72-E00F1A4AE66C}"/>
              </a:ext>
            </a:extLst>
          </p:cNvPr>
          <p:cNvSpPr/>
          <p:nvPr/>
        </p:nvSpPr>
        <p:spPr>
          <a:xfrm>
            <a:off x="125450" y="1809946"/>
            <a:ext cx="4512538" cy="4308050"/>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ja-JP" altLang="en-US" dirty="0"/>
              <a:t>ローカルネットワーク（</a:t>
            </a:r>
            <a:r>
              <a:rPr lang="en-US" altLang="ja-JP" dirty="0"/>
              <a:t>LAN</a:t>
            </a:r>
            <a:r>
              <a:rPr lang="ja-JP" altLang="en-US" dirty="0"/>
              <a:t>）</a:t>
            </a:r>
            <a:endParaRPr kumimoji="1" lang="ja-JP" altLang="en-US" dirty="0"/>
          </a:p>
        </p:txBody>
      </p:sp>
      <p:sp>
        <p:nvSpPr>
          <p:cNvPr id="2" name="タイトル 1">
            <a:extLst>
              <a:ext uri="{FF2B5EF4-FFF2-40B4-BE49-F238E27FC236}">
                <a16:creationId xmlns:a16="http://schemas.microsoft.com/office/drawing/2014/main" id="{10C16BC7-EBF1-D8FD-DCB0-EFF666F0CA2B}"/>
              </a:ext>
            </a:extLst>
          </p:cNvPr>
          <p:cNvSpPr>
            <a:spLocks noGrp="1"/>
          </p:cNvSpPr>
          <p:nvPr>
            <p:ph type="title"/>
          </p:nvPr>
        </p:nvSpPr>
        <p:spPr/>
        <p:txBody>
          <a:bodyPr/>
          <a:lstStyle/>
          <a:p>
            <a:r>
              <a:rPr lang="ja-JP" altLang="en-US" dirty="0"/>
              <a:t>前提（ネットワークのイメージ）</a:t>
            </a:r>
            <a:endParaRPr kumimoji="1" lang="ja-JP" altLang="en-US" dirty="0"/>
          </a:p>
        </p:txBody>
      </p:sp>
      <p:sp>
        <p:nvSpPr>
          <p:cNvPr id="5" name="四角形: 角を丸くする 4">
            <a:extLst>
              <a:ext uri="{FF2B5EF4-FFF2-40B4-BE49-F238E27FC236}">
                <a16:creationId xmlns:a16="http://schemas.microsoft.com/office/drawing/2014/main" id="{281B7DBB-0799-8002-E641-D240FCD374A4}"/>
              </a:ext>
            </a:extLst>
          </p:cNvPr>
          <p:cNvSpPr/>
          <p:nvPr/>
        </p:nvSpPr>
        <p:spPr>
          <a:xfrm>
            <a:off x="2609372" y="3564993"/>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sp>
        <p:nvSpPr>
          <p:cNvPr id="6" name="四角形: 角を丸くする 5">
            <a:extLst>
              <a:ext uri="{FF2B5EF4-FFF2-40B4-BE49-F238E27FC236}">
                <a16:creationId xmlns:a16="http://schemas.microsoft.com/office/drawing/2014/main" id="{FBEC4B14-39BD-88E1-88A6-259D441ACDCC}"/>
              </a:ext>
            </a:extLst>
          </p:cNvPr>
          <p:cNvSpPr/>
          <p:nvPr/>
        </p:nvSpPr>
        <p:spPr>
          <a:xfrm>
            <a:off x="8337395" y="3564993"/>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cxnSp>
        <p:nvCxnSpPr>
          <p:cNvPr id="7" name="直線矢印コネクタ 6">
            <a:extLst>
              <a:ext uri="{FF2B5EF4-FFF2-40B4-BE49-F238E27FC236}">
                <a16:creationId xmlns:a16="http://schemas.microsoft.com/office/drawing/2014/main" id="{6C7F48D5-AEC2-C11F-0A4D-A0FE31C01CEC}"/>
              </a:ext>
            </a:extLst>
          </p:cNvPr>
          <p:cNvCxnSpPr>
            <a:cxnSpLocks/>
            <a:stCxn id="33" idx="3"/>
          </p:cNvCxnSpPr>
          <p:nvPr/>
        </p:nvCxnSpPr>
        <p:spPr>
          <a:xfrm flipV="1">
            <a:off x="4854804" y="3768364"/>
            <a:ext cx="837595" cy="135994"/>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9" name="図 18" descr="ゲームの画面&#10;&#10;AI 生成コンテンツは誤りを含む可能性があります。">
            <a:extLst>
              <a:ext uri="{FF2B5EF4-FFF2-40B4-BE49-F238E27FC236}">
                <a16:creationId xmlns:a16="http://schemas.microsoft.com/office/drawing/2014/main" id="{B35E39AC-E230-7F4E-B591-1D3764803E7B}"/>
              </a:ext>
            </a:extLst>
          </p:cNvPr>
          <p:cNvPicPr>
            <a:picLocks noChangeAspect="1"/>
          </p:cNvPicPr>
          <p:nvPr/>
        </p:nvPicPr>
        <p:blipFill>
          <a:blip r:embed="rId2"/>
          <a:stretch>
            <a:fillRect/>
          </a:stretch>
        </p:blipFill>
        <p:spPr>
          <a:xfrm>
            <a:off x="361119" y="3555552"/>
            <a:ext cx="1369994" cy="652222"/>
          </a:xfrm>
          <a:prstGeom prst="rect">
            <a:avLst/>
          </a:prstGeom>
        </p:spPr>
      </p:pic>
      <p:pic>
        <p:nvPicPr>
          <p:cNvPr id="20" name="図 19" descr="ゲームの画面&#10;&#10;AI 生成コンテンツは誤りを含む可能性があります。">
            <a:extLst>
              <a:ext uri="{FF2B5EF4-FFF2-40B4-BE49-F238E27FC236}">
                <a16:creationId xmlns:a16="http://schemas.microsoft.com/office/drawing/2014/main" id="{14C82E69-3F52-BB77-36A0-D5AE4E01715C}"/>
              </a:ext>
            </a:extLst>
          </p:cNvPr>
          <p:cNvPicPr>
            <a:picLocks noChangeAspect="1"/>
          </p:cNvPicPr>
          <p:nvPr/>
        </p:nvPicPr>
        <p:blipFill>
          <a:blip r:embed="rId2"/>
          <a:stretch>
            <a:fillRect/>
          </a:stretch>
        </p:blipFill>
        <p:spPr>
          <a:xfrm>
            <a:off x="10696557" y="3540986"/>
            <a:ext cx="1369994" cy="652222"/>
          </a:xfrm>
          <a:prstGeom prst="rect">
            <a:avLst/>
          </a:prstGeom>
        </p:spPr>
      </p:pic>
      <p:cxnSp>
        <p:nvCxnSpPr>
          <p:cNvPr id="23" name="直線矢印コネクタ 22">
            <a:extLst>
              <a:ext uri="{FF2B5EF4-FFF2-40B4-BE49-F238E27FC236}">
                <a16:creationId xmlns:a16="http://schemas.microsoft.com/office/drawing/2014/main" id="{16DF4702-ADD1-6F30-8FF6-3AE0165622B1}"/>
              </a:ext>
            </a:extLst>
          </p:cNvPr>
          <p:cNvCxnSpPr>
            <a:stCxn id="19" idx="3"/>
            <a:endCxn id="5" idx="1"/>
          </p:cNvCxnSpPr>
          <p:nvPr/>
        </p:nvCxnSpPr>
        <p:spPr>
          <a:xfrm>
            <a:off x="1731113" y="3881663"/>
            <a:ext cx="878259" cy="226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3" name="グループ化 12">
            <a:extLst>
              <a:ext uri="{FF2B5EF4-FFF2-40B4-BE49-F238E27FC236}">
                <a16:creationId xmlns:a16="http://schemas.microsoft.com/office/drawing/2014/main" id="{9278CA88-4946-0CAE-52C1-740B37DE8E5C}"/>
              </a:ext>
            </a:extLst>
          </p:cNvPr>
          <p:cNvGrpSpPr/>
          <p:nvPr/>
        </p:nvGrpSpPr>
        <p:grpSpPr>
          <a:xfrm>
            <a:off x="1833433" y="3694998"/>
            <a:ext cx="626881" cy="386498"/>
            <a:chOff x="838200" y="3429000"/>
            <a:chExt cx="1253765" cy="772998"/>
          </a:xfrm>
        </p:grpSpPr>
        <p:sp>
          <p:nvSpPr>
            <p:cNvPr id="12" name="楕円 11">
              <a:extLst>
                <a:ext uri="{FF2B5EF4-FFF2-40B4-BE49-F238E27FC236}">
                  <a16:creationId xmlns:a16="http://schemas.microsoft.com/office/drawing/2014/main" id="{74B2CB93-52F5-7ABB-B71B-2182D673A403}"/>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E6FE842D-D39B-8FC3-21F0-782A16E50921}"/>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82D9FDBB-EFF4-2A1F-AB12-739ABCB17DC2}"/>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4" name="直線矢印コネクタ 23">
            <a:extLst>
              <a:ext uri="{FF2B5EF4-FFF2-40B4-BE49-F238E27FC236}">
                <a16:creationId xmlns:a16="http://schemas.microsoft.com/office/drawing/2014/main" id="{3FFAA4B3-4332-FC72-05E0-928B4E6C1C09}"/>
              </a:ext>
            </a:extLst>
          </p:cNvPr>
          <p:cNvCxnSpPr>
            <a:cxnSpLocks/>
            <a:stCxn id="20" idx="1"/>
            <a:endCxn id="6" idx="3"/>
          </p:cNvCxnSpPr>
          <p:nvPr/>
        </p:nvCxnSpPr>
        <p:spPr>
          <a:xfrm flipH="1">
            <a:off x="9789122" y="3867097"/>
            <a:ext cx="907435" cy="372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グループ化 13">
            <a:extLst>
              <a:ext uri="{FF2B5EF4-FFF2-40B4-BE49-F238E27FC236}">
                <a16:creationId xmlns:a16="http://schemas.microsoft.com/office/drawing/2014/main" id="{E1FC2C7E-5095-29DE-A005-21BA12EAA2F4}"/>
              </a:ext>
            </a:extLst>
          </p:cNvPr>
          <p:cNvGrpSpPr/>
          <p:nvPr/>
        </p:nvGrpSpPr>
        <p:grpSpPr>
          <a:xfrm>
            <a:off x="9916778" y="3664041"/>
            <a:ext cx="653467" cy="402889"/>
            <a:chOff x="838200" y="3429000"/>
            <a:chExt cx="1253765" cy="772998"/>
          </a:xfrm>
        </p:grpSpPr>
        <p:sp>
          <p:nvSpPr>
            <p:cNvPr id="15" name="楕円 14">
              <a:extLst>
                <a:ext uri="{FF2B5EF4-FFF2-40B4-BE49-F238E27FC236}">
                  <a16:creationId xmlns:a16="http://schemas.microsoft.com/office/drawing/2014/main" id="{EBFFAD9D-F7B8-6B13-16C2-686FC22BD241}"/>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DEF83F14-5DDE-1C8C-F593-FAFE434DB177}"/>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98AF866A-FA80-1235-AB27-5A0720C214C0}"/>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0" name="グラフィックス 29" descr="世界 枠線">
            <a:extLst>
              <a:ext uri="{FF2B5EF4-FFF2-40B4-BE49-F238E27FC236}">
                <a16:creationId xmlns:a16="http://schemas.microsoft.com/office/drawing/2014/main" id="{EF736580-3DE8-BD47-FD2F-B49B8622196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92399" y="3303882"/>
            <a:ext cx="914400" cy="914400"/>
          </a:xfrm>
          <a:prstGeom prst="rect">
            <a:avLst/>
          </a:prstGeom>
        </p:spPr>
      </p:pic>
      <p:sp>
        <p:nvSpPr>
          <p:cNvPr id="33" name="四角形: 角を丸くする 32">
            <a:extLst>
              <a:ext uri="{FF2B5EF4-FFF2-40B4-BE49-F238E27FC236}">
                <a16:creationId xmlns:a16="http://schemas.microsoft.com/office/drawing/2014/main" id="{69ADFE7A-331E-635B-F50B-2F53F6635F37}"/>
              </a:ext>
            </a:extLst>
          </p:cNvPr>
          <p:cNvSpPr/>
          <p:nvPr/>
        </p:nvSpPr>
        <p:spPr>
          <a:xfrm>
            <a:off x="4339968" y="2369450"/>
            <a:ext cx="514836" cy="3069816"/>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lang="ja-JP" altLang="en-US" dirty="0"/>
              <a:t>ファイアウォール・</a:t>
            </a:r>
            <a:r>
              <a:rPr lang="en-US" altLang="ja-JP" dirty="0"/>
              <a:t>NAT</a:t>
            </a:r>
            <a:endParaRPr kumimoji="1" lang="ja-JP" altLang="en-US" dirty="0"/>
          </a:p>
        </p:txBody>
      </p:sp>
      <p:sp>
        <p:nvSpPr>
          <p:cNvPr id="34" name="四角形: 角を丸くする 33">
            <a:extLst>
              <a:ext uri="{FF2B5EF4-FFF2-40B4-BE49-F238E27FC236}">
                <a16:creationId xmlns:a16="http://schemas.microsoft.com/office/drawing/2014/main" id="{E5FD6CF7-424A-0C6B-9852-33283C62DFCC}"/>
              </a:ext>
            </a:extLst>
          </p:cNvPr>
          <p:cNvSpPr/>
          <p:nvPr/>
        </p:nvSpPr>
        <p:spPr>
          <a:xfrm>
            <a:off x="7431468" y="2369450"/>
            <a:ext cx="514836" cy="3069816"/>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kumimoji="1" lang="ja-JP" altLang="en-US" dirty="0"/>
              <a:t>ファイアウォール・</a:t>
            </a:r>
            <a:r>
              <a:rPr kumimoji="1" lang="en-US" altLang="ja-JP" dirty="0"/>
              <a:t>NAT</a:t>
            </a:r>
            <a:endParaRPr kumimoji="1" lang="ja-JP" altLang="en-US" dirty="0"/>
          </a:p>
        </p:txBody>
      </p:sp>
      <p:sp>
        <p:nvSpPr>
          <p:cNvPr id="39" name="四角形: 角を丸くする 38">
            <a:extLst>
              <a:ext uri="{FF2B5EF4-FFF2-40B4-BE49-F238E27FC236}">
                <a16:creationId xmlns:a16="http://schemas.microsoft.com/office/drawing/2014/main" id="{0F2D2F82-1629-B69D-BA18-CEB48AC189F6}"/>
              </a:ext>
            </a:extLst>
          </p:cNvPr>
          <p:cNvSpPr/>
          <p:nvPr/>
        </p:nvSpPr>
        <p:spPr>
          <a:xfrm>
            <a:off x="5067363" y="2803300"/>
            <a:ext cx="2179480"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インターネット（</a:t>
            </a:r>
            <a:r>
              <a:rPr lang="en-US" altLang="ja-JP" dirty="0"/>
              <a:t>WAN</a:t>
            </a:r>
            <a:r>
              <a:rPr lang="ja-JP" altLang="en-US" dirty="0"/>
              <a:t>）</a:t>
            </a:r>
            <a:endParaRPr kumimoji="1" lang="ja-JP" altLang="en-US" dirty="0"/>
          </a:p>
        </p:txBody>
      </p:sp>
      <p:cxnSp>
        <p:nvCxnSpPr>
          <p:cNvPr id="42" name="直線矢印コネクタ 41">
            <a:extLst>
              <a:ext uri="{FF2B5EF4-FFF2-40B4-BE49-F238E27FC236}">
                <a16:creationId xmlns:a16="http://schemas.microsoft.com/office/drawing/2014/main" id="{3EB4D9F0-5E66-0512-4CA1-182E2DE3F88F}"/>
              </a:ext>
            </a:extLst>
          </p:cNvPr>
          <p:cNvCxnSpPr>
            <a:cxnSpLocks/>
            <a:stCxn id="30" idx="3"/>
            <a:endCxn id="34" idx="1"/>
          </p:cNvCxnSpPr>
          <p:nvPr/>
        </p:nvCxnSpPr>
        <p:spPr>
          <a:xfrm>
            <a:off x="6606799" y="3761082"/>
            <a:ext cx="824669" cy="143276"/>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5" name="直線矢印コネクタ 44">
            <a:extLst>
              <a:ext uri="{FF2B5EF4-FFF2-40B4-BE49-F238E27FC236}">
                <a16:creationId xmlns:a16="http://schemas.microsoft.com/office/drawing/2014/main" id="{E5332287-435D-7D3C-67C5-8AF31111273A}"/>
              </a:ext>
            </a:extLst>
          </p:cNvPr>
          <p:cNvCxnSpPr>
            <a:cxnSpLocks/>
            <a:stCxn id="5" idx="3"/>
            <a:endCxn id="33" idx="1"/>
          </p:cNvCxnSpPr>
          <p:nvPr/>
        </p:nvCxnSpPr>
        <p:spPr>
          <a:xfrm>
            <a:off x="4061099" y="3904358"/>
            <a:ext cx="278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直線矢印コネクタ 49">
            <a:extLst>
              <a:ext uri="{FF2B5EF4-FFF2-40B4-BE49-F238E27FC236}">
                <a16:creationId xmlns:a16="http://schemas.microsoft.com/office/drawing/2014/main" id="{D441F40F-409A-582F-4EA1-11CE51695C74}"/>
              </a:ext>
            </a:extLst>
          </p:cNvPr>
          <p:cNvCxnSpPr>
            <a:cxnSpLocks/>
            <a:stCxn id="6" idx="1"/>
            <a:endCxn id="34" idx="3"/>
          </p:cNvCxnSpPr>
          <p:nvPr/>
        </p:nvCxnSpPr>
        <p:spPr>
          <a:xfrm flipH="1">
            <a:off x="7946304" y="3904358"/>
            <a:ext cx="39109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7" name="四角形: 角を丸くする 56">
            <a:extLst>
              <a:ext uri="{FF2B5EF4-FFF2-40B4-BE49-F238E27FC236}">
                <a16:creationId xmlns:a16="http://schemas.microsoft.com/office/drawing/2014/main" id="{CE0C19F4-E7C0-65FB-33FE-0DB900D2E1B5}"/>
              </a:ext>
            </a:extLst>
          </p:cNvPr>
          <p:cNvSpPr/>
          <p:nvPr/>
        </p:nvSpPr>
        <p:spPr>
          <a:xfrm>
            <a:off x="1453811"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評価側（大学）</a:t>
            </a:r>
            <a:endParaRPr kumimoji="1" lang="ja-JP" altLang="en-US" dirty="0"/>
          </a:p>
        </p:txBody>
      </p:sp>
      <p:sp>
        <p:nvSpPr>
          <p:cNvPr id="58" name="四角形: 角を丸くする 57">
            <a:extLst>
              <a:ext uri="{FF2B5EF4-FFF2-40B4-BE49-F238E27FC236}">
                <a16:creationId xmlns:a16="http://schemas.microsoft.com/office/drawing/2014/main" id="{0A2622D7-C9DA-07E0-CFFF-7CFA41F6C24E}"/>
              </a:ext>
            </a:extLst>
          </p:cNvPr>
          <p:cNvSpPr/>
          <p:nvPr/>
        </p:nvSpPr>
        <p:spPr>
          <a:xfrm>
            <a:off x="8977633"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相談側</a:t>
            </a:r>
          </a:p>
        </p:txBody>
      </p:sp>
      <p:sp>
        <p:nvSpPr>
          <p:cNvPr id="59" name="四角形: 角を丸くする 58">
            <a:extLst>
              <a:ext uri="{FF2B5EF4-FFF2-40B4-BE49-F238E27FC236}">
                <a16:creationId xmlns:a16="http://schemas.microsoft.com/office/drawing/2014/main" id="{DD97C9A5-D290-6447-2D36-52418DCCC99A}"/>
              </a:ext>
            </a:extLst>
          </p:cNvPr>
          <p:cNvSpPr/>
          <p:nvPr/>
        </p:nvSpPr>
        <p:spPr>
          <a:xfrm>
            <a:off x="8344086" y="3117916"/>
            <a:ext cx="3505407"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カルテのキャプチャ映像・音声</a:t>
            </a:r>
          </a:p>
        </p:txBody>
      </p:sp>
      <p:sp>
        <p:nvSpPr>
          <p:cNvPr id="60" name="四角形: 角を丸くする 59">
            <a:extLst>
              <a:ext uri="{FF2B5EF4-FFF2-40B4-BE49-F238E27FC236}">
                <a16:creationId xmlns:a16="http://schemas.microsoft.com/office/drawing/2014/main" id="{49122A6E-9421-9058-7667-E57390A65E1A}"/>
              </a:ext>
            </a:extLst>
          </p:cNvPr>
          <p:cNvSpPr/>
          <p:nvPr/>
        </p:nvSpPr>
        <p:spPr>
          <a:xfrm>
            <a:off x="779465" y="3117916"/>
            <a:ext cx="3102075"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音声</a:t>
            </a:r>
          </a:p>
        </p:txBody>
      </p:sp>
      <p:sp>
        <p:nvSpPr>
          <p:cNvPr id="63" name="四角形: 角を丸くする 62">
            <a:extLst>
              <a:ext uri="{FF2B5EF4-FFF2-40B4-BE49-F238E27FC236}">
                <a16:creationId xmlns:a16="http://schemas.microsoft.com/office/drawing/2014/main" id="{6D325B99-64A1-AA3A-2DAD-48F4D4DD8885}"/>
              </a:ext>
            </a:extLst>
          </p:cNvPr>
          <p:cNvSpPr/>
          <p:nvPr/>
        </p:nvSpPr>
        <p:spPr>
          <a:xfrm>
            <a:off x="289999" y="3564993"/>
            <a:ext cx="2319373" cy="652223"/>
          </a:xfrm>
          <a:prstGeom prst="roundRect">
            <a:avLst/>
          </a:prstGeom>
          <a:solidFill>
            <a:srgbClr val="FFFFFF">
              <a:alpha val="85098"/>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p>
        </p:txBody>
      </p:sp>
    </p:spTree>
    <p:extLst>
      <p:ext uri="{BB962C8B-B14F-4D97-AF65-F5344CB8AC3E}">
        <p14:creationId xmlns:p14="http://schemas.microsoft.com/office/powerpoint/2010/main" val="29442778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EE65AD-04A2-75CB-067B-5C2F35BB3ABD}"/>
            </a:ext>
          </a:extLst>
        </p:cNvPr>
        <p:cNvGrpSpPr/>
        <p:nvPr/>
      </p:nvGrpSpPr>
      <p:grpSpPr>
        <a:xfrm>
          <a:off x="0" y="0"/>
          <a:ext cx="0" cy="0"/>
          <a:chOff x="0" y="0"/>
          <a:chExt cx="0" cy="0"/>
        </a:xfrm>
      </p:grpSpPr>
      <p:sp>
        <p:nvSpPr>
          <p:cNvPr id="38" name="四角形: 角を丸くする 37">
            <a:extLst>
              <a:ext uri="{FF2B5EF4-FFF2-40B4-BE49-F238E27FC236}">
                <a16:creationId xmlns:a16="http://schemas.microsoft.com/office/drawing/2014/main" id="{E3AB834E-64FE-3BD2-FE71-B72FA2F04674}"/>
              </a:ext>
            </a:extLst>
          </p:cNvPr>
          <p:cNvSpPr/>
          <p:nvPr/>
        </p:nvSpPr>
        <p:spPr>
          <a:xfrm>
            <a:off x="7638855" y="1809946"/>
            <a:ext cx="4512538" cy="4308050"/>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ja-JP" altLang="en-US" dirty="0"/>
              <a:t>ローカルネットワーク（</a:t>
            </a:r>
            <a:r>
              <a:rPr lang="en-US" altLang="ja-JP" dirty="0"/>
              <a:t>LAN</a:t>
            </a:r>
            <a:r>
              <a:rPr lang="ja-JP" altLang="en-US" dirty="0"/>
              <a:t>）</a:t>
            </a:r>
            <a:endParaRPr kumimoji="1" lang="ja-JP" altLang="en-US" dirty="0"/>
          </a:p>
        </p:txBody>
      </p:sp>
      <p:sp>
        <p:nvSpPr>
          <p:cNvPr id="37" name="四角形: 角を丸くする 36">
            <a:extLst>
              <a:ext uri="{FF2B5EF4-FFF2-40B4-BE49-F238E27FC236}">
                <a16:creationId xmlns:a16="http://schemas.microsoft.com/office/drawing/2014/main" id="{4FDA173E-5AB9-3EC0-E64E-956EDF815795}"/>
              </a:ext>
            </a:extLst>
          </p:cNvPr>
          <p:cNvSpPr/>
          <p:nvPr/>
        </p:nvSpPr>
        <p:spPr>
          <a:xfrm>
            <a:off x="125450" y="1809946"/>
            <a:ext cx="4512538" cy="4308050"/>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ja-JP" altLang="en-US" dirty="0"/>
              <a:t>ローカルネットワーク（</a:t>
            </a:r>
            <a:r>
              <a:rPr lang="en-US" altLang="ja-JP" dirty="0"/>
              <a:t>LAN</a:t>
            </a:r>
            <a:r>
              <a:rPr lang="ja-JP" altLang="en-US" dirty="0"/>
              <a:t>）</a:t>
            </a:r>
            <a:endParaRPr kumimoji="1" lang="ja-JP" altLang="en-US" dirty="0"/>
          </a:p>
        </p:txBody>
      </p:sp>
      <p:sp>
        <p:nvSpPr>
          <p:cNvPr id="2" name="タイトル 1">
            <a:extLst>
              <a:ext uri="{FF2B5EF4-FFF2-40B4-BE49-F238E27FC236}">
                <a16:creationId xmlns:a16="http://schemas.microsoft.com/office/drawing/2014/main" id="{9AB3C189-380C-2E77-5BD1-DD766C51BB3F}"/>
              </a:ext>
            </a:extLst>
          </p:cNvPr>
          <p:cNvSpPr>
            <a:spLocks noGrp="1"/>
          </p:cNvSpPr>
          <p:nvPr>
            <p:ph type="title"/>
          </p:nvPr>
        </p:nvSpPr>
        <p:spPr>
          <a:xfrm>
            <a:off x="838199" y="365125"/>
            <a:ext cx="11011293" cy="1325563"/>
          </a:xfrm>
        </p:spPr>
        <p:txBody>
          <a:bodyPr/>
          <a:lstStyle/>
          <a:p>
            <a:r>
              <a:rPr lang="ja-JP" altLang="en-US" dirty="0"/>
              <a:t>前提（情報を暗号化してやり取りしたい）</a:t>
            </a:r>
            <a:endParaRPr kumimoji="1" lang="ja-JP" altLang="en-US" dirty="0"/>
          </a:p>
        </p:txBody>
      </p:sp>
      <p:sp>
        <p:nvSpPr>
          <p:cNvPr id="5" name="四角形: 角を丸くする 4">
            <a:extLst>
              <a:ext uri="{FF2B5EF4-FFF2-40B4-BE49-F238E27FC236}">
                <a16:creationId xmlns:a16="http://schemas.microsoft.com/office/drawing/2014/main" id="{EB486CD6-FF76-8699-9068-F6452AFB7CF0}"/>
              </a:ext>
            </a:extLst>
          </p:cNvPr>
          <p:cNvSpPr/>
          <p:nvPr/>
        </p:nvSpPr>
        <p:spPr>
          <a:xfrm>
            <a:off x="2609372" y="3564993"/>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sp>
        <p:nvSpPr>
          <p:cNvPr id="6" name="四角形: 角を丸くする 5">
            <a:extLst>
              <a:ext uri="{FF2B5EF4-FFF2-40B4-BE49-F238E27FC236}">
                <a16:creationId xmlns:a16="http://schemas.microsoft.com/office/drawing/2014/main" id="{99B79D72-8E9F-6A94-3E58-AFE6BFCAD769}"/>
              </a:ext>
            </a:extLst>
          </p:cNvPr>
          <p:cNvSpPr/>
          <p:nvPr/>
        </p:nvSpPr>
        <p:spPr>
          <a:xfrm>
            <a:off x="8337395" y="3564993"/>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cxnSp>
        <p:nvCxnSpPr>
          <p:cNvPr id="7" name="直線矢印コネクタ 6">
            <a:extLst>
              <a:ext uri="{FF2B5EF4-FFF2-40B4-BE49-F238E27FC236}">
                <a16:creationId xmlns:a16="http://schemas.microsoft.com/office/drawing/2014/main" id="{43051FB4-6316-C231-9BE6-6705D03D7D53}"/>
              </a:ext>
            </a:extLst>
          </p:cNvPr>
          <p:cNvCxnSpPr>
            <a:cxnSpLocks/>
            <a:stCxn id="33" idx="3"/>
          </p:cNvCxnSpPr>
          <p:nvPr/>
        </p:nvCxnSpPr>
        <p:spPr>
          <a:xfrm flipV="1">
            <a:off x="4854804" y="3768364"/>
            <a:ext cx="837595" cy="135994"/>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9" name="図 18" descr="ゲームの画面&#10;&#10;AI 生成コンテンツは誤りを含む可能性があります。">
            <a:extLst>
              <a:ext uri="{FF2B5EF4-FFF2-40B4-BE49-F238E27FC236}">
                <a16:creationId xmlns:a16="http://schemas.microsoft.com/office/drawing/2014/main" id="{2CFB5273-FE3F-D00E-5055-A84EBA25FD7D}"/>
              </a:ext>
            </a:extLst>
          </p:cNvPr>
          <p:cNvPicPr>
            <a:picLocks noChangeAspect="1"/>
          </p:cNvPicPr>
          <p:nvPr/>
        </p:nvPicPr>
        <p:blipFill>
          <a:blip r:embed="rId2"/>
          <a:stretch>
            <a:fillRect/>
          </a:stretch>
        </p:blipFill>
        <p:spPr>
          <a:xfrm>
            <a:off x="361119" y="3555552"/>
            <a:ext cx="1369994" cy="652222"/>
          </a:xfrm>
          <a:prstGeom prst="rect">
            <a:avLst/>
          </a:prstGeom>
        </p:spPr>
      </p:pic>
      <p:pic>
        <p:nvPicPr>
          <p:cNvPr id="20" name="図 19" descr="ゲームの画面&#10;&#10;AI 生成コンテンツは誤りを含む可能性があります。">
            <a:extLst>
              <a:ext uri="{FF2B5EF4-FFF2-40B4-BE49-F238E27FC236}">
                <a16:creationId xmlns:a16="http://schemas.microsoft.com/office/drawing/2014/main" id="{A0424896-C7B5-F166-1BF3-75A5613BB4AF}"/>
              </a:ext>
            </a:extLst>
          </p:cNvPr>
          <p:cNvPicPr>
            <a:picLocks noChangeAspect="1"/>
          </p:cNvPicPr>
          <p:nvPr/>
        </p:nvPicPr>
        <p:blipFill>
          <a:blip r:embed="rId2"/>
          <a:stretch>
            <a:fillRect/>
          </a:stretch>
        </p:blipFill>
        <p:spPr>
          <a:xfrm>
            <a:off x="10696557" y="3540986"/>
            <a:ext cx="1369994" cy="652222"/>
          </a:xfrm>
          <a:prstGeom prst="rect">
            <a:avLst/>
          </a:prstGeom>
        </p:spPr>
      </p:pic>
      <p:cxnSp>
        <p:nvCxnSpPr>
          <p:cNvPr id="23" name="直線矢印コネクタ 22">
            <a:extLst>
              <a:ext uri="{FF2B5EF4-FFF2-40B4-BE49-F238E27FC236}">
                <a16:creationId xmlns:a16="http://schemas.microsoft.com/office/drawing/2014/main" id="{7489C11F-A7A3-CA7B-6BFD-B4F8D1EA02B5}"/>
              </a:ext>
            </a:extLst>
          </p:cNvPr>
          <p:cNvCxnSpPr>
            <a:stCxn id="19" idx="3"/>
            <a:endCxn id="5" idx="1"/>
          </p:cNvCxnSpPr>
          <p:nvPr/>
        </p:nvCxnSpPr>
        <p:spPr>
          <a:xfrm>
            <a:off x="1731113" y="3881663"/>
            <a:ext cx="878259" cy="226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3" name="グループ化 12">
            <a:extLst>
              <a:ext uri="{FF2B5EF4-FFF2-40B4-BE49-F238E27FC236}">
                <a16:creationId xmlns:a16="http://schemas.microsoft.com/office/drawing/2014/main" id="{806B9B94-EF0E-91EB-7AB4-5D6DFD734B6B}"/>
              </a:ext>
            </a:extLst>
          </p:cNvPr>
          <p:cNvGrpSpPr/>
          <p:nvPr/>
        </p:nvGrpSpPr>
        <p:grpSpPr>
          <a:xfrm>
            <a:off x="1833433" y="3694998"/>
            <a:ext cx="626881" cy="386498"/>
            <a:chOff x="838200" y="3429000"/>
            <a:chExt cx="1253765" cy="772998"/>
          </a:xfrm>
        </p:grpSpPr>
        <p:sp>
          <p:nvSpPr>
            <p:cNvPr id="12" name="楕円 11">
              <a:extLst>
                <a:ext uri="{FF2B5EF4-FFF2-40B4-BE49-F238E27FC236}">
                  <a16:creationId xmlns:a16="http://schemas.microsoft.com/office/drawing/2014/main" id="{ACF03003-8586-776C-5BA3-423653043E74}"/>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9C325F82-AA6F-66A4-99FA-F867DAF2939A}"/>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6EC52054-E738-C007-6CF8-1C251AA2646E}"/>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4" name="直線矢印コネクタ 23">
            <a:extLst>
              <a:ext uri="{FF2B5EF4-FFF2-40B4-BE49-F238E27FC236}">
                <a16:creationId xmlns:a16="http://schemas.microsoft.com/office/drawing/2014/main" id="{8BF19DC3-1A5A-F1CE-C80C-54718A706585}"/>
              </a:ext>
            </a:extLst>
          </p:cNvPr>
          <p:cNvCxnSpPr>
            <a:cxnSpLocks/>
            <a:stCxn id="20" idx="1"/>
            <a:endCxn id="6" idx="3"/>
          </p:cNvCxnSpPr>
          <p:nvPr/>
        </p:nvCxnSpPr>
        <p:spPr>
          <a:xfrm flipH="1">
            <a:off x="9789122" y="3867097"/>
            <a:ext cx="907435" cy="372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グループ化 13">
            <a:extLst>
              <a:ext uri="{FF2B5EF4-FFF2-40B4-BE49-F238E27FC236}">
                <a16:creationId xmlns:a16="http://schemas.microsoft.com/office/drawing/2014/main" id="{1619D1D9-075D-9CED-3272-7DE6EBE2F080}"/>
              </a:ext>
            </a:extLst>
          </p:cNvPr>
          <p:cNvGrpSpPr/>
          <p:nvPr/>
        </p:nvGrpSpPr>
        <p:grpSpPr>
          <a:xfrm>
            <a:off x="9916778" y="3664041"/>
            <a:ext cx="653467" cy="402889"/>
            <a:chOff x="838200" y="3429000"/>
            <a:chExt cx="1253765" cy="772998"/>
          </a:xfrm>
        </p:grpSpPr>
        <p:sp>
          <p:nvSpPr>
            <p:cNvPr id="15" name="楕円 14">
              <a:extLst>
                <a:ext uri="{FF2B5EF4-FFF2-40B4-BE49-F238E27FC236}">
                  <a16:creationId xmlns:a16="http://schemas.microsoft.com/office/drawing/2014/main" id="{5C7A0BE4-2FB0-732D-A4B4-CB55F2DC4863}"/>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52322C47-2A79-9484-ED99-CFE33B352C00}"/>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4093E84-AFB4-D7EB-A90B-3E2A92CF1CEE}"/>
                </a:ext>
              </a:extLst>
            </p:cNvPr>
            <p:cNvSpPr/>
            <p:nvPr/>
          </p:nvSpPr>
          <p:spPr>
            <a:xfrm>
              <a:off x="1097824" y="3566033"/>
              <a:ext cx="370696" cy="25889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0" name="グラフィックス 29" descr="世界 枠線">
            <a:extLst>
              <a:ext uri="{FF2B5EF4-FFF2-40B4-BE49-F238E27FC236}">
                <a16:creationId xmlns:a16="http://schemas.microsoft.com/office/drawing/2014/main" id="{F3CE502B-1B24-042F-9382-1069329E316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92399" y="3303882"/>
            <a:ext cx="914400" cy="914400"/>
          </a:xfrm>
          <a:prstGeom prst="rect">
            <a:avLst/>
          </a:prstGeom>
        </p:spPr>
      </p:pic>
      <p:sp>
        <p:nvSpPr>
          <p:cNvPr id="33" name="四角形: 角を丸くする 32">
            <a:extLst>
              <a:ext uri="{FF2B5EF4-FFF2-40B4-BE49-F238E27FC236}">
                <a16:creationId xmlns:a16="http://schemas.microsoft.com/office/drawing/2014/main" id="{E51BED2A-60D9-D9E3-73CD-23471F9734CD}"/>
              </a:ext>
            </a:extLst>
          </p:cNvPr>
          <p:cNvSpPr/>
          <p:nvPr/>
        </p:nvSpPr>
        <p:spPr>
          <a:xfrm>
            <a:off x="4339968" y="2369450"/>
            <a:ext cx="514836" cy="3069816"/>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lang="ja-JP" altLang="en-US" dirty="0"/>
              <a:t>ファイアウォール・</a:t>
            </a:r>
            <a:r>
              <a:rPr lang="en-US" altLang="ja-JP" dirty="0"/>
              <a:t>NAT</a:t>
            </a:r>
            <a:endParaRPr kumimoji="1" lang="ja-JP" altLang="en-US" dirty="0"/>
          </a:p>
        </p:txBody>
      </p:sp>
      <p:sp>
        <p:nvSpPr>
          <p:cNvPr id="34" name="四角形: 角を丸くする 33">
            <a:extLst>
              <a:ext uri="{FF2B5EF4-FFF2-40B4-BE49-F238E27FC236}">
                <a16:creationId xmlns:a16="http://schemas.microsoft.com/office/drawing/2014/main" id="{62BCB9DB-29BE-9BDB-ECC6-7B655762C3CB}"/>
              </a:ext>
            </a:extLst>
          </p:cNvPr>
          <p:cNvSpPr/>
          <p:nvPr/>
        </p:nvSpPr>
        <p:spPr>
          <a:xfrm>
            <a:off x="7431468" y="2369450"/>
            <a:ext cx="514836" cy="3069816"/>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kumimoji="1" lang="ja-JP" altLang="en-US" dirty="0"/>
              <a:t>ファイアウォール・</a:t>
            </a:r>
            <a:r>
              <a:rPr kumimoji="1" lang="en-US" altLang="ja-JP" dirty="0"/>
              <a:t>NAT</a:t>
            </a:r>
            <a:endParaRPr kumimoji="1" lang="ja-JP" altLang="en-US" dirty="0"/>
          </a:p>
        </p:txBody>
      </p:sp>
      <p:cxnSp>
        <p:nvCxnSpPr>
          <p:cNvPr id="42" name="直線矢印コネクタ 41">
            <a:extLst>
              <a:ext uri="{FF2B5EF4-FFF2-40B4-BE49-F238E27FC236}">
                <a16:creationId xmlns:a16="http://schemas.microsoft.com/office/drawing/2014/main" id="{260D5F12-58CF-5659-2A94-C98F9EF47910}"/>
              </a:ext>
            </a:extLst>
          </p:cNvPr>
          <p:cNvCxnSpPr>
            <a:cxnSpLocks/>
            <a:stCxn id="30" idx="3"/>
            <a:endCxn id="34" idx="1"/>
          </p:cNvCxnSpPr>
          <p:nvPr/>
        </p:nvCxnSpPr>
        <p:spPr>
          <a:xfrm>
            <a:off x="6606799" y="3761082"/>
            <a:ext cx="824669" cy="143276"/>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5" name="直線矢印コネクタ 44">
            <a:extLst>
              <a:ext uri="{FF2B5EF4-FFF2-40B4-BE49-F238E27FC236}">
                <a16:creationId xmlns:a16="http://schemas.microsoft.com/office/drawing/2014/main" id="{B11F0010-30AE-2EB1-85DA-976FEBAA458F}"/>
              </a:ext>
            </a:extLst>
          </p:cNvPr>
          <p:cNvCxnSpPr>
            <a:cxnSpLocks/>
            <a:stCxn id="5" idx="3"/>
            <a:endCxn id="33" idx="1"/>
          </p:cNvCxnSpPr>
          <p:nvPr/>
        </p:nvCxnSpPr>
        <p:spPr>
          <a:xfrm>
            <a:off x="4061099" y="3904358"/>
            <a:ext cx="278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直線矢印コネクタ 49">
            <a:extLst>
              <a:ext uri="{FF2B5EF4-FFF2-40B4-BE49-F238E27FC236}">
                <a16:creationId xmlns:a16="http://schemas.microsoft.com/office/drawing/2014/main" id="{59C328A9-6DB7-18EF-ECA5-B37DD5623EAC}"/>
              </a:ext>
            </a:extLst>
          </p:cNvPr>
          <p:cNvCxnSpPr>
            <a:cxnSpLocks/>
            <a:stCxn id="6" idx="1"/>
            <a:endCxn id="34" idx="3"/>
          </p:cNvCxnSpPr>
          <p:nvPr/>
        </p:nvCxnSpPr>
        <p:spPr>
          <a:xfrm flipH="1">
            <a:off x="7946304" y="3904358"/>
            <a:ext cx="39109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7" name="四角形: 角を丸くする 56">
            <a:extLst>
              <a:ext uri="{FF2B5EF4-FFF2-40B4-BE49-F238E27FC236}">
                <a16:creationId xmlns:a16="http://schemas.microsoft.com/office/drawing/2014/main" id="{25C63E12-4E98-D9CA-03F2-6068E40144DF}"/>
              </a:ext>
            </a:extLst>
          </p:cNvPr>
          <p:cNvSpPr/>
          <p:nvPr/>
        </p:nvSpPr>
        <p:spPr>
          <a:xfrm>
            <a:off x="1453811"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評価側（大学）</a:t>
            </a:r>
            <a:endParaRPr kumimoji="1" lang="ja-JP" altLang="en-US" dirty="0"/>
          </a:p>
        </p:txBody>
      </p:sp>
      <p:sp>
        <p:nvSpPr>
          <p:cNvPr id="58" name="四角形: 角を丸くする 57">
            <a:extLst>
              <a:ext uri="{FF2B5EF4-FFF2-40B4-BE49-F238E27FC236}">
                <a16:creationId xmlns:a16="http://schemas.microsoft.com/office/drawing/2014/main" id="{72F8B7C8-C3FE-813E-5D08-887D7432CB5E}"/>
              </a:ext>
            </a:extLst>
          </p:cNvPr>
          <p:cNvSpPr/>
          <p:nvPr/>
        </p:nvSpPr>
        <p:spPr>
          <a:xfrm>
            <a:off x="8977633"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相談側</a:t>
            </a:r>
          </a:p>
        </p:txBody>
      </p:sp>
      <p:sp>
        <p:nvSpPr>
          <p:cNvPr id="59" name="四角形: 角を丸くする 58">
            <a:extLst>
              <a:ext uri="{FF2B5EF4-FFF2-40B4-BE49-F238E27FC236}">
                <a16:creationId xmlns:a16="http://schemas.microsoft.com/office/drawing/2014/main" id="{AE24C7CE-0189-7DA2-A90A-349ED2E6C7A9}"/>
              </a:ext>
            </a:extLst>
          </p:cNvPr>
          <p:cNvSpPr/>
          <p:nvPr/>
        </p:nvSpPr>
        <p:spPr>
          <a:xfrm>
            <a:off x="8344086" y="3117916"/>
            <a:ext cx="3505407"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カルテのキャプチャ映像・音声</a:t>
            </a:r>
          </a:p>
        </p:txBody>
      </p:sp>
      <p:sp>
        <p:nvSpPr>
          <p:cNvPr id="60" name="四角形: 角を丸くする 59">
            <a:extLst>
              <a:ext uri="{FF2B5EF4-FFF2-40B4-BE49-F238E27FC236}">
                <a16:creationId xmlns:a16="http://schemas.microsoft.com/office/drawing/2014/main" id="{C327A681-CDEC-B9C0-76D7-E7A56A5E0AD4}"/>
              </a:ext>
            </a:extLst>
          </p:cNvPr>
          <p:cNvSpPr/>
          <p:nvPr/>
        </p:nvSpPr>
        <p:spPr>
          <a:xfrm>
            <a:off x="779465" y="3117916"/>
            <a:ext cx="3102075"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音声</a:t>
            </a:r>
          </a:p>
        </p:txBody>
      </p:sp>
      <p:sp>
        <p:nvSpPr>
          <p:cNvPr id="63" name="四角形: 角を丸くする 62">
            <a:extLst>
              <a:ext uri="{FF2B5EF4-FFF2-40B4-BE49-F238E27FC236}">
                <a16:creationId xmlns:a16="http://schemas.microsoft.com/office/drawing/2014/main" id="{975ADE0F-3BE6-97EA-35DF-A823EF30BDC0}"/>
              </a:ext>
            </a:extLst>
          </p:cNvPr>
          <p:cNvSpPr/>
          <p:nvPr/>
        </p:nvSpPr>
        <p:spPr>
          <a:xfrm>
            <a:off x="289999" y="3564993"/>
            <a:ext cx="2319373" cy="652223"/>
          </a:xfrm>
          <a:prstGeom prst="roundRect">
            <a:avLst/>
          </a:prstGeom>
          <a:solidFill>
            <a:srgbClr val="FFFFFF">
              <a:alpha val="85098"/>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p>
        </p:txBody>
      </p:sp>
      <p:sp>
        <p:nvSpPr>
          <p:cNvPr id="18" name="矢印: 下カーブ 17">
            <a:extLst>
              <a:ext uri="{FF2B5EF4-FFF2-40B4-BE49-F238E27FC236}">
                <a16:creationId xmlns:a16="http://schemas.microsoft.com/office/drawing/2014/main" id="{3E39D1C4-49E1-1186-D091-90A839648A9C}"/>
              </a:ext>
            </a:extLst>
          </p:cNvPr>
          <p:cNvSpPr/>
          <p:nvPr/>
        </p:nvSpPr>
        <p:spPr>
          <a:xfrm flipH="1">
            <a:off x="3624534" y="2642717"/>
            <a:ext cx="4944430" cy="1142383"/>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1" name="矢印: 下カーブ 20">
            <a:extLst>
              <a:ext uri="{FF2B5EF4-FFF2-40B4-BE49-F238E27FC236}">
                <a16:creationId xmlns:a16="http://schemas.microsoft.com/office/drawing/2014/main" id="{F2CADCA2-8792-CE48-320D-3D6CBF3ADE9A}"/>
              </a:ext>
            </a:extLst>
          </p:cNvPr>
          <p:cNvSpPr/>
          <p:nvPr/>
        </p:nvSpPr>
        <p:spPr>
          <a:xfrm flipV="1">
            <a:off x="3756510" y="4066926"/>
            <a:ext cx="4944430" cy="1187371"/>
          </a:xfrm>
          <a:prstGeom prst="curved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22" name="グループ化 21">
            <a:extLst>
              <a:ext uri="{FF2B5EF4-FFF2-40B4-BE49-F238E27FC236}">
                <a16:creationId xmlns:a16="http://schemas.microsoft.com/office/drawing/2014/main" id="{552E4C0F-B83D-7A8A-1CF8-F6603BF55874}"/>
              </a:ext>
            </a:extLst>
          </p:cNvPr>
          <p:cNvGrpSpPr/>
          <p:nvPr/>
        </p:nvGrpSpPr>
        <p:grpSpPr>
          <a:xfrm>
            <a:off x="5791692" y="2424978"/>
            <a:ext cx="653467" cy="402889"/>
            <a:chOff x="838200" y="3429000"/>
            <a:chExt cx="1253765" cy="772998"/>
          </a:xfrm>
        </p:grpSpPr>
        <p:sp>
          <p:nvSpPr>
            <p:cNvPr id="25" name="楕円 24">
              <a:extLst>
                <a:ext uri="{FF2B5EF4-FFF2-40B4-BE49-F238E27FC236}">
                  <a16:creationId xmlns:a16="http://schemas.microsoft.com/office/drawing/2014/main" id="{8314F247-958F-6A55-EC76-491997965E62}"/>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6B00E223-26B3-2B18-C7B5-A30FB6C54704}"/>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06B87BA1-A15A-A45C-D8F4-EE7952674903}"/>
                </a:ext>
              </a:extLst>
            </p:cNvPr>
            <p:cNvSpPr/>
            <p:nvPr/>
          </p:nvSpPr>
          <p:spPr>
            <a:xfrm>
              <a:off x="1097824" y="3566033"/>
              <a:ext cx="370696" cy="25889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8" name="グループ化 27">
            <a:extLst>
              <a:ext uri="{FF2B5EF4-FFF2-40B4-BE49-F238E27FC236}">
                <a16:creationId xmlns:a16="http://schemas.microsoft.com/office/drawing/2014/main" id="{7A32A937-2510-0066-812B-77952E0605F4}"/>
              </a:ext>
            </a:extLst>
          </p:cNvPr>
          <p:cNvGrpSpPr/>
          <p:nvPr/>
        </p:nvGrpSpPr>
        <p:grpSpPr>
          <a:xfrm>
            <a:off x="5791692" y="5013975"/>
            <a:ext cx="653467" cy="402889"/>
            <a:chOff x="838200" y="3429000"/>
            <a:chExt cx="1253765" cy="772998"/>
          </a:xfrm>
        </p:grpSpPr>
        <p:sp>
          <p:nvSpPr>
            <p:cNvPr id="29" name="楕円 28">
              <a:extLst>
                <a:ext uri="{FF2B5EF4-FFF2-40B4-BE49-F238E27FC236}">
                  <a16:creationId xmlns:a16="http://schemas.microsoft.com/office/drawing/2014/main" id="{EEDAE57C-7DE8-0231-AA64-015379077A94}"/>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A90C0FCA-EC34-0EDB-234A-C5B2ABD4482F}"/>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正方形/長方形 31">
              <a:extLst>
                <a:ext uri="{FF2B5EF4-FFF2-40B4-BE49-F238E27FC236}">
                  <a16:creationId xmlns:a16="http://schemas.microsoft.com/office/drawing/2014/main" id="{105CF509-2E0F-360A-3F5F-1BEBF51D4D91}"/>
                </a:ext>
              </a:extLst>
            </p:cNvPr>
            <p:cNvSpPr/>
            <p:nvPr/>
          </p:nvSpPr>
          <p:spPr>
            <a:xfrm>
              <a:off x="1097824" y="3566033"/>
              <a:ext cx="370696" cy="258893"/>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5" name="四角形: 角を丸くする 34">
            <a:extLst>
              <a:ext uri="{FF2B5EF4-FFF2-40B4-BE49-F238E27FC236}">
                <a16:creationId xmlns:a16="http://schemas.microsoft.com/office/drawing/2014/main" id="{98F7BFB5-C6D2-D235-8EDD-7E8EFA27EFFD}"/>
              </a:ext>
            </a:extLst>
          </p:cNvPr>
          <p:cNvSpPr/>
          <p:nvPr/>
        </p:nvSpPr>
        <p:spPr>
          <a:xfrm>
            <a:off x="4660857" y="1840474"/>
            <a:ext cx="2893157"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カルテのキャプチャ映像</a:t>
            </a:r>
            <a:endParaRPr kumimoji="1" lang="en-US" altLang="ja-JP" dirty="0"/>
          </a:p>
          <a:p>
            <a:pPr algn="ctr"/>
            <a:r>
              <a:rPr kumimoji="1" lang="ja-JP" altLang="en-US" dirty="0"/>
              <a:t>音声</a:t>
            </a:r>
            <a:r>
              <a:rPr kumimoji="1" lang="ja-JP" altLang="en-US" b="1" dirty="0"/>
              <a:t>（暗号化）</a:t>
            </a:r>
          </a:p>
        </p:txBody>
      </p:sp>
      <p:sp>
        <p:nvSpPr>
          <p:cNvPr id="36" name="四角形: 角を丸くする 35">
            <a:extLst>
              <a:ext uri="{FF2B5EF4-FFF2-40B4-BE49-F238E27FC236}">
                <a16:creationId xmlns:a16="http://schemas.microsoft.com/office/drawing/2014/main" id="{2660B8BB-D4AC-F06A-56B0-AF113B8DFF6F}"/>
              </a:ext>
            </a:extLst>
          </p:cNvPr>
          <p:cNvSpPr/>
          <p:nvPr/>
        </p:nvSpPr>
        <p:spPr>
          <a:xfrm>
            <a:off x="4885651" y="5507025"/>
            <a:ext cx="2686147"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音声</a:t>
            </a:r>
            <a:r>
              <a:rPr kumimoji="1" lang="ja-JP" altLang="en-US" b="1" dirty="0"/>
              <a:t>（暗号化）</a:t>
            </a:r>
          </a:p>
        </p:txBody>
      </p:sp>
    </p:spTree>
    <p:extLst>
      <p:ext uri="{BB962C8B-B14F-4D97-AF65-F5344CB8AC3E}">
        <p14:creationId xmlns:p14="http://schemas.microsoft.com/office/powerpoint/2010/main" val="31026866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B9B757-D4B9-165F-B6A3-F09851B446FD}"/>
            </a:ext>
          </a:extLst>
        </p:cNvPr>
        <p:cNvGrpSpPr/>
        <p:nvPr/>
      </p:nvGrpSpPr>
      <p:grpSpPr>
        <a:xfrm>
          <a:off x="0" y="0"/>
          <a:ext cx="0" cy="0"/>
          <a:chOff x="0" y="0"/>
          <a:chExt cx="0" cy="0"/>
        </a:xfrm>
      </p:grpSpPr>
      <p:sp>
        <p:nvSpPr>
          <p:cNvPr id="38" name="四角形: 角を丸くする 37">
            <a:extLst>
              <a:ext uri="{FF2B5EF4-FFF2-40B4-BE49-F238E27FC236}">
                <a16:creationId xmlns:a16="http://schemas.microsoft.com/office/drawing/2014/main" id="{7B337E6B-9565-BAE2-BD1C-3517BD3D4B63}"/>
              </a:ext>
            </a:extLst>
          </p:cNvPr>
          <p:cNvSpPr/>
          <p:nvPr/>
        </p:nvSpPr>
        <p:spPr>
          <a:xfrm>
            <a:off x="7638855" y="1809946"/>
            <a:ext cx="4512538" cy="3176833"/>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ja-JP" altLang="en-US" dirty="0"/>
              <a:t>ローカルネットワーク（</a:t>
            </a:r>
            <a:r>
              <a:rPr lang="en-US" altLang="ja-JP" dirty="0"/>
              <a:t>LAN</a:t>
            </a:r>
            <a:r>
              <a:rPr lang="ja-JP" altLang="en-US" dirty="0"/>
              <a:t>）</a:t>
            </a:r>
            <a:endParaRPr kumimoji="1" lang="ja-JP" altLang="en-US" dirty="0"/>
          </a:p>
        </p:txBody>
      </p:sp>
      <p:sp>
        <p:nvSpPr>
          <p:cNvPr id="37" name="四角形: 角を丸くする 36">
            <a:extLst>
              <a:ext uri="{FF2B5EF4-FFF2-40B4-BE49-F238E27FC236}">
                <a16:creationId xmlns:a16="http://schemas.microsoft.com/office/drawing/2014/main" id="{085C8D27-2D85-6CC9-59D3-FA0B4098CFAB}"/>
              </a:ext>
            </a:extLst>
          </p:cNvPr>
          <p:cNvSpPr/>
          <p:nvPr/>
        </p:nvSpPr>
        <p:spPr>
          <a:xfrm>
            <a:off x="125450" y="1809946"/>
            <a:ext cx="4512538" cy="3280528"/>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ja-JP" altLang="en-US" dirty="0"/>
              <a:t>ローカルネットワーク（</a:t>
            </a:r>
            <a:r>
              <a:rPr lang="en-US" altLang="ja-JP" dirty="0"/>
              <a:t>LAN</a:t>
            </a:r>
            <a:r>
              <a:rPr lang="ja-JP" altLang="en-US" dirty="0"/>
              <a:t>）</a:t>
            </a:r>
            <a:endParaRPr kumimoji="1" lang="ja-JP" altLang="en-US" dirty="0"/>
          </a:p>
        </p:txBody>
      </p:sp>
      <p:sp>
        <p:nvSpPr>
          <p:cNvPr id="2" name="タイトル 1">
            <a:extLst>
              <a:ext uri="{FF2B5EF4-FFF2-40B4-BE49-F238E27FC236}">
                <a16:creationId xmlns:a16="http://schemas.microsoft.com/office/drawing/2014/main" id="{BE3F67FB-4DF1-A0A3-B803-E2F84DF9F390}"/>
              </a:ext>
            </a:extLst>
          </p:cNvPr>
          <p:cNvSpPr>
            <a:spLocks noGrp="1"/>
          </p:cNvSpPr>
          <p:nvPr>
            <p:ph type="title"/>
          </p:nvPr>
        </p:nvSpPr>
        <p:spPr>
          <a:xfrm>
            <a:off x="838200" y="365125"/>
            <a:ext cx="11353800" cy="1325563"/>
          </a:xfrm>
        </p:spPr>
        <p:txBody>
          <a:bodyPr/>
          <a:lstStyle/>
          <a:p>
            <a:r>
              <a:rPr lang="ja-JP" altLang="en-US" dirty="0"/>
              <a:t>前提（</a:t>
            </a:r>
            <a:r>
              <a:rPr lang="en-US" altLang="ja-JP" dirty="0"/>
              <a:t>VPN</a:t>
            </a:r>
            <a:r>
              <a:rPr lang="ja-JP" altLang="en-US" dirty="0"/>
              <a:t>で仮想的な専用線を用意）</a:t>
            </a:r>
            <a:endParaRPr kumimoji="1" lang="ja-JP" altLang="en-US" dirty="0"/>
          </a:p>
        </p:txBody>
      </p:sp>
      <p:sp>
        <p:nvSpPr>
          <p:cNvPr id="5" name="四角形: 角を丸くする 4">
            <a:extLst>
              <a:ext uri="{FF2B5EF4-FFF2-40B4-BE49-F238E27FC236}">
                <a16:creationId xmlns:a16="http://schemas.microsoft.com/office/drawing/2014/main" id="{EF97C250-160C-8663-9369-C114E7D21649}"/>
              </a:ext>
            </a:extLst>
          </p:cNvPr>
          <p:cNvSpPr/>
          <p:nvPr/>
        </p:nvSpPr>
        <p:spPr>
          <a:xfrm>
            <a:off x="2609372" y="3274170"/>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sp>
        <p:nvSpPr>
          <p:cNvPr id="6" name="四角形: 角を丸くする 5">
            <a:extLst>
              <a:ext uri="{FF2B5EF4-FFF2-40B4-BE49-F238E27FC236}">
                <a16:creationId xmlns:a16="http://schemas.microsoft.com/office/drawing/2014/main" id="{13CDEB4F-FDCA-471A-CEEB-38DDF91A1AD0}"/>
              </a:ext>
            </a:extLst>
          </p:cNvPr>
          <p:cNvSpPr/>
          <p:nvPr/>
        </p:nvSpPr>
        <p:spPr>
          <a:xfrm>
            <a:off x="8337395" y="3247784"/>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cxnSp>
        <p:nvCxnSpPr>
          <p:cNvPr id="7" name="直線矢印コネクタ 6">
            <a:extLst>
              <a:ext uri="{FF2B5EF4-FFF2-40B4-BE49-F238E27FC236}">
                <a16:creationId xmlns:a16="http://schemas.microsoft.com/office/drawing/2014/main" id="{56F7EDE0-6742-2CF0-DCC9-4359D5F1F104}"/>
              </a:ext>
            </a:extLst>
          </p:cNvPr>
          <p:cNvCxnSpPr>
            <a:cxnSpLocks/>
            <a:stCxn id="33" idx="3"/>
          </p:cNvCxnSpPr>
          <p:nvPr/>
        </p:nvCxnSpPr>
        <p:spPr>
          <a:xfrm>
            <a:off x="4854804" y="3602701"/>
            <a:ext cx="837595" cy="165663"/>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pic>
        <p:nvPicPr>
          <p:cNvPr id="19" name="図 18" descr="ゲームの画面&#10;&#10;AI 生成コンテンツは誤りを含む可能性があります。">
            <a:extLst>
              <a:ext uri="{FF2B5EF4-FFF2-40B4-BE49-F238E27FC236}">
                <a16:creationId xmlns:a16="http://schemas.microsoft.com/office/drawing/2014/main" id="{34CE071B-4D0A-EEC1-7591-DFFA3980D5C2}"/>
              </a:ext>
            </a:extLst>
          </p:cNvPr>
          <p:cNvPicPr>
            <a:picLocks noChangeAspect="1"/>
          </p:cNvPicPr>
          <p:nvPr/>
        </p:nvPicPr>
        <p:blipFill>
          <a:blip r:embed="rId2"/>
          <a:stretch>
            <a:fillRect/>
          </a:stretch>
        </p:blipFill>
        <p:spPr>
          <a:xfrm>
            <a:off x="361119" y="3264729"/>
            <a:ext cx="1369994" cy="652222"/>
          </a:xfrm>
          <a:prstGeom prst="rect">
            <a:avLst/>
          </a:prstGeom>
        </p:spPr>
      </p:pic>
      <p:pic>
        <p:nvPicPr>
          <p:cNvPr id="20" name="図 19" descr="ゲームの画面&#10;&#10;AI 生成コンテンツは誤りを含む可能性があります。">
            <a:extLst>
              <a:ext uri="{FF2B5EF4-FFF2-40B4-BE49-F238E27FC236}">
                <a16:creationId xmlns:a16="http://schemas.microsoft.com/office/drawing/2014/main" id="{20245F86-FE2A-B799-8E06-B85BF58C034C}"/>
              </a:ext>
            </a:extLst>
          </p:cNvPr>
          <p:cNvPicPr>
            <a:picLocks noChangeAspect="1"/>
          </p:cNvPicPr>
          <p:nvPr/>
        </p:nvPicPr>
        <p:blipFill>
          <a:blip r:embed="rId2"/>
          <a:stretch>
            <a:fillRect/>
          </a:stretch>
        </p:blipFill>
        <p:spPr>
          <a:xfrm>
            <a:off x="10696557" y="3223777"/>
            <a:ext cx="1369994" cy="652222"/>
          </a:xfrm>
          <a:prstGeom prst="rect">
            <a:avLst/>
          </a:prstGeom>
        </p:spPr>
      </p:pic>
      <p:cxnSp>
        <p:nvCxnSpPr>
          <p:cNvPr id="23" name="直線矢印コネクタ 22">
            <a:extLst>
              <a:ext uri="{FF2B5EF4-FFF2-40B4-BE49-F238E27FC236}">
                <a16:creationId xmlns:a16="http://schemas.microsoft.com/office/drawing/2014/main" id="{574B22E8-7CAD-76BE-4890-919C91C01E0C}"/>
              </a:ext>
            </a:extLst>
          </p:cNvPr>
          <p:cNvCxnSpPr>
            <a:stCxn id="19" idx="3"/>
            <a:endCxn id="5" idx="1"/>
          </p:cNvCxnSpPr>
          <p:nvPr/>
        </p:nvCxnSpPr>
        <p:spPr>
          <a:xfrm>
            <a:off x="1731113" y="3590840"/>
            <a:ext cx="878259" cy="226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3" name="グループ化 12">
            <a:extLst>
              <a:ext uri="{FF2B5EF4-FFF2-40B4-BE49-F238E27FC236}">
                <a16:creationId xmlns:a16="http://schemas.microsoft.com/office/drawing/2014/main" id="{B4F3CE9D-2C31-9707-D0FA-EA8330A1F72F}"/>
              </a:ext>
            </a:extLst>
          </p:cNvPr>
          <p:cNvGrpSpPr/>
          <p:nvPr/>
        </p:nvGrpSpPr>
        <p:grpSpPr>
          <a:xfrm>
            <a:off x="1833433" y="3404175"/>
            <a:ext cx="626881" cy="386498"/>
            <a:chOff x="838200" y="3429000"/>
            <a:chExt cx="1253765" cy="772998"/>
          </a:xfrm>
        </p:grpSpPr>
        <p:sp>
          <p:nvSpPr>
            <p:cNvPr id="12" name="楕円 11">
              <a:extLst>
                <a:ext uri="{FF2B5EF4-FFF2-40B4-BE49-F238E27FC236}">
                  <a16:creationId xmlns:a16="http://schemas.microsoft.com/office/drawing/2014/main" id="{5F9A75CD-A465-39B8-2EF6-915F76D614B1}"/>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E2FBE593-A865-4B93-F83E-7CB12BE91B88}"/>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B3294B37-14D8-D4F2-B069-A98332E4C83F}"/>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4" name="直線矢印コネクタ 23">
            <a:extLst>
              <a:ext uri="{FF2B5EF4-FFF2-40B4-BE49-F238E27FC236}">
                <a16:creationId xmlns:a16="http://schemas.microsoft.com/office/drawing/2014/main" id="{2F45B2AE-C6BA-023A-3E2E-7AA6E4B6B4AF}"/>
              </a:ext>
            </a:extLst>
          </p:cNvPr>
          <p:cNvCxnSpPr>
            <a:cxnSpLocks/>
            <a:stCxn id="20" idx="1"/>
            <a:endCxn id="6" idx="3"/>
          </p:cNvCxnSpPr>
          <p:nvPr/>
        </p:nvCxnSpPr>
        <p:spPr>
          <a:xfrm flipH="1">
            <a:off x="9789122" y="3549888"/>
            <a:ext cx="907435" cy="372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グループ化 13">
            <a:extLst>
              <a:ext uri="{FF2B5EF4-FFF2-40B4-BE49-F238E27FC236}">
                <a16:creationId xmlns:a16="http://schemas.microsoft.com/office/drawing/2014/main" id="{AF9DBEFB-4783-4F4C-91EA-CF690F5A94E5}"/>
              </a:ext>
            </a:extLst>
          </p:cNvPr>
          <p:cNvGrpSpPr/>
          <p:nvPr/>
        </p:nvGrpSpPr>
        <p:grpSpPr>
          <a:xfrm>
            <a:off x="9916778" y="3346832"/>
            <a:ext cx="653467" cy="402889"/>
            <a:chOff x="838200" y="3429000"/>
            <a:chExt cx="1253765" cy="772998"/>
          </a:xfrm>
        </p:grpSpPr>
        <p:sp>
          <p:nvSpPr>
            <p:cNvPr id="15" name="楕円 14">
              <a:extLst>
                <a:ext uri="{FF2B5EF4-FFF2-40B4-BE49-F238E27FC236}">
                  <a16:creationId xmlns:a16="http://schemas.microsoft.com/office/drawing/2014/main" id="{41D2F008-79B5-C2DF-0CFA-B7E747FFA3C3}"/>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2535F4C9-CBC4-3772-DEC3-C38EB1F59E6E}"/>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225951AA-3E03-1A4F-C529-890F1B285070}"/>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0" name="グラフィックス 29" descr="世界 枠線">
            <a:extLst>
              <a:ext uri="{FF2B5EF4-FFF2-40B4-BE49-F238E27FC236}">
                <a16:creationId xmlns:a16="http://schemas.microsoft.com/office/drawing/2014/main" id="{8029382A-F767-BBCA-09BD-5D4A6637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692399" y="3303882"/>
            <a:ext cx="914400" cy="914400"/>
          </a:xfrm>
          <a:prstGeom prst="rect">
            <a:avLst/>
          </a:prstGeom>
        </p:spPr>
      </p:pic>
      <p:sp>
        <p:nvSpPr>
          <p:cNvPr id="33" name="四角形: 角を丸くする 32">
            <a:extLst>
              <a:ext uri="{FF2B5EF4-FFF2-40B4-BE49-F238E27FC236}">
                <a16:creationId xmlns:a16="http://schemas.microsoft.com/office/drawing/2014/main" id="{545F5343-3448-E343-B6CA-515377EC65F8}"/>
              </a:ext>
            </a:extLst>
          </p:cNvPr>
          <p:cNvSpPr/>
          <p:nvPr/>
        </p:nvSpPr>
        <p:spPr>
          <a:xfrm>
            <a:off x="4339968" y="2369450"/>
            <a:ext cx="514836" cy="2466501"/>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lang="ja-JP" altLang="en-US" dirty="0"/>
              <a:t>ファイアウォール・</a:t>
            </a:r>
            <a:r>
              <a:rPr lang="en-US" altLang="ja-JP" dirty="0"/>
              <a:t>NAT</a:t>
            </a:r>
            <a:endParaRPr kumimoji="1" lang="ja-JP" altLang="en-US" dirty="0"/>
          </a:p>
        </p:txBody>
      </p:sp>
      <p:sp>
        <p:nvSpPr>
          <p:cNvPr id="34" name="四角形: 角を丸くする 33">
            <a:extLst>
              <a:ext uri="{FF2B5EF4-FFF2-40B4-BE49-F238E27FC236}">
                <a16:creationId xmlns:a16="http://schemas.microsoft.com/office/drawing/2014/main" id="{F5B9032A-4E74-B8EC-2EEA-F9CE69B3BBDC}"/>
              </a:ext>
            </a:extLst>
          </p:cNvPr>
          <p:cNvSpPr/>
          <p:nvPr/>
        </p:nvSpPr>
        <p:spPr>
          <a:xfrm>
            <a:off x="7431468" y="2369450"/>
            <a:ext cx="514836" cy="2466501"/>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kumimoji="1" lang="ja-JP" altLang="en-US" dirty="0"/>
              <a:t>ファイアウォール・</a:t>
            </a:r>
            <a:r>
              <a:rPr kumimoji="1" lang="en-US" altLang="ja-JP" dirty="0"/>
              <a:t>NAT</a:t>
            </a:r>
            <a:endParaRPr kumimoji="1" lang="ja-JP" altLang="en-US" dirty="0"/>
          </a:p>
        </p:txBody>
      </p:sp>
      <p:cxnSp>
        <p:nvCxnSpPr>
          <p:cNvPr id="42" name="直線矢印コネクタ 41">
            <a:extLst>
              <a:ext uri="{FF2B5EF4-FFF2-40B4-BE49-F238E27FC236}">
                <a16:creationId xmlns:a16="http://schemas.microsoft.com/office/drawing/2014/main" id="{3361C5F5-7143-60CA-4A10-3C75844D7498}"/>
              </a:ext>
            </a:extLst>
          </p:cNvPr>
          <p:cNvCxnSpPr>
            <a:cxnSpLocks/>
            <a:stCxn id="30" idx="3"/>
            <a:endCxn id="34" idx="1"/>
          </p:cNvCxnSpPr>
          <p:nvPr/>
        </p:nvCxnSpPr>
        <p:spPr>
          <a:xfrm flipV="1">
            <a:off x="6606799" y="3602701"/>
            <a:ext cx="824669" cy="158381"/>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45" name="直線矢印コネクタ 44">
            <a:extLst>
              <a:ext uri="{FF2B5EF4-FFF2-40B4-BE49-F238E27FC236}">
                <a16:creationId xmlns:a16="http://schemas.microsoft.com/office/drawing/2014/main" id="{8B20718C-C6F3-33EC-18AE-46D096E1377D}"/>
              </a:ext>
            </a:extLst>
          </p:cNvPr>
          <p:cNvCxnSpPr>
            <a:cxnSpLocks/>
            <a:stCxn id="5" idx="3"/>
            <a:endCxn id="33" idx="1"/>
          </p:cNvCxnSpPr>
          <p:nvPr/>
        </p:nvCxnSpPr>
        <p:spPr>
          <a:xfrm flipV="1">
            <a:off x="4061099" y="3602701"/>
            <a:ext cx="278869" cy="108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直線矢印コネクタ 49">
            <a:extLst>
              <a:ext uri="{FF2B5EF4-FFF2-40B4-BE49-F238E27FC236}">
                <a16:creationId xmlns:a16="http://schemas.microsoft.com/office/drawing/2014/main" id="{F884DEC7-A754-BAB2-200A-E65AAD805A6E}"/>
              </a:ext>
            </a:extLst>
          </p:cNvPr>
          <p:cNvCxnSpPr>
            <a:cxnSpLocks/>
            <a:stCxn id="6" idx="1"/>
            <a:endCxn id="34" idx="3"/>
          </p:cNvCxnSpPr>
          <p:nvPr/>
        </p:nvCxnSpPr>
        <p:spPr>
          <a:xfrm flipH="1">
            <a:off x="7946304" y="3587149"/>
            <a:ext cx="391091" cy="155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7" name="四角形: 角を丸くする 56">
            <a:extLst>
              <a:ext uri="{FF2B5EF4-FFF2-40B4-BE49-F238E27FC236}">
                <a16:creationId xmlns:a16="http://schemas.microsoft.com/office/drawing/2014/main" id="{C7886DAB-D437-55CC-B86E-9CD29317E0E6}"/>
              </a:ext>
            </a:extLst>
          </p:cNvPr>
          <p:cNvSpPr/>
          <p:nvPr/>
        </p:nvSpPr>
        <p:spPr>
          <a:xfrm>
            <a:off x="1453811"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評価側（大学）</a:t>
            </a:r>
            <a:endParaRPr kumimoji="1" lang="ja-JP" altLang="en-US" dirty="0"/>
          </a:p>
        </p:txBody>
      </p:sp>
      <p:sp>
        <p:nvSpPr>
          <p:cNvPr id="58" name="四角形: 角を丸くする 57">
            <a:extLst>
              <a:ext uri="{FF2B5EF4-FFF2-40B4-BE49-F238E27FC236}">
                <a16:creationId xmlns:a16="http://schemas.microsoft.com/office/drawing/2014/main" id="{E4DD317B-3B03-774A-2190-9BE62CDE4137}"/>
              </a:ext>
            </a:extLst>
          </p:cNvPr>
          <p:cNvSpPr/>
          <p:nvPr/>
        </p:nvSpPr>
        <p:spPr>
          <a:xfrm>
            <a:off x="8977633"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相談側</a:t>
            </a:r>
          </a:p>
        </p:txBody>
      </p:sp>
      <p:sp>
        <p:nvSpPr>
          <p:cNvPr id="59" name="四角形: 角を丸くする 58">
            <a:extLst>
              <a:ext uri="{FF2B5EF4-FFF2-40B4-BE49-F238E27FC236}">
                <a16:creationId xmlns:a16="http://schemas.microsoft.com/office/drawing/2014/main" id="{59D45FC5-6EBD-D800-4DFC-B140715D4C2C}"/>
              </a:ext>
            </a:extLst>
          </p:cNvPr>
          <p:cNvSpPr/>
          <p:nvPr/>
        </p:nvSpPr>
        <p:spPr>
          <a:xfrm>
            <a:off x="8344086" y="2800707"/>
            <a:ext cx="3505407"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カルテのキャプチャ映像・音声</a:t>
            </a:r>
          </a:p>
        </p:txBody>
      </p:sp>
      <p:sp>
        <p:nvSpPr>
          <p:cNvPr id="60" name="四角形: 角を丸くする 59">
            <a:extLst>
              <a:ext uri="{FF2B5EF4-FFF2-40B4-BE49-F238E27FC236}">
                <a16:creationId xmlns:a16="http://schemas.microsoft.com/office/drawing/2014/main" id="{79744D9C-EE8C-7661-5650-EC67061806FD}"/>
              </a:ext>
            </a:extLst>
          </p:cNvPr>
          <p:cNvSpPr/>
          <p:nvPr/>
        </p:nvSpPr>
        <p:spPr>
          <a:xfrm>
            <a:off x="779465" y="2827093"/>
            <a:ext cx="3102075" cy="373316"/>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音声</a:t>
            </a:r>
          </a:p>
        </p:txBody>
      </p:sp>
      <p:sp>
        <p:nvSpPr>
          <p:cNvPr id="63" name="四角形: 角を丸くする 62">
            <a:extLst>
              <a:ext uri="{FF2B5EF4-FFF2-40B4-BE49-F238E27FC236}">
                <a16:creationId xmlns:a16="http://schemas.microsoft.com/office/drawing/2014/main" id="{495C6840-722F-F761-5FF0-CFA6A92A7013}"/>
              </a:ext>
            </a:extLst>
          </p:cNvPr>
          <p:cNvSpPr/>
          <p:nvPr/>
        </p:nvSpPr>
        <p:spPr>
          <a:xfrm>
            <a:off x="289999" y="3274170"/>
            <a:ext cx="2319373" cy="652223"/>
          </a:xfrm>
          <a:prstGeom prst="roundRect">
            <a:avLst/>
          </a:prstGeom>
          <a:solidFill>
            <a:srgbClr val="FFFFFF">
              <a:alpha val="85098"/>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p>
        </p:txBody>
      </p:sp>
      <p:sp>
        <p:nvSpPr>
          <p:cNvPr id="3" name="楕円 2">
            <a:extLst>
              <a:ext uri="{FF2B5EF4-FFF2-40B4-BE49-F238E27FC236}">
                <a16:creationId xmlns:a16="http://schemas.microsoft.com/office/drawing/2014/main" id="{B6ADA894-3EFA-47C7-A313-0BD2E3247086}"/>
              </a:ext>
            </a:extLst>
          </p:cNvPr>
          <p:cNvSpPr/>
          <p:nvPr/>
        </p:nvSpPr>
        <p:spPr>
          <a:xfrm>
            <a:off x="2667701" y="2896597"/>
            <a:ext cx="7059452" cy="1468013"/>
          </a:xfrm>
          <a:prstGeom prst="ellipse">
            <a:avLst/>
          </a:prstGeom>
          <a:noFill/>
          <a:ln w="38100">
            <a:solidFill>
              <a:schemeClr val="accent5"/>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92192F6B-AA62-BAB0-B277-E05FE19DE528}"/>
              </a:ext>
            </a:extLst>
          </p:cNvPr>
          <p:cNvSpPr/>
          <p:nvPr/>
        </p:nvSpPr>
        <p:spPr>
          <a:xfrm>
            <a:off x="5035172" y="2745063"/>
            <a:ext cx="2179480" cy="373316"/>
          </a:xfrm>
          <a:prstGeom prst="roundRect">
            <a:avLst/>
          </a:prstGeom>
          <a:solidFill>
            <a:schemeClr val="bg1"/>
          </a:solidFill>
          <a:ln>
            <a:solidFill>
              <a:schemeClr val="accent5"/>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dirty="0"/>
              <a:t>VPN</a:t>
            </a:r>
            <a:endParaRPr kumimoji="1" lang="ja-JP" altLang="en-US" dirty="0"/>
          </a:p>
        </p:txBody>
      </p:sp>
      <p:cxnSp>
        <p:nvCxnSpPr>
          <p:cNvPr id="27" name="直線コネクタ 26">
            <a:extLst>
              <a:ext uri="{FF2B5EF4-FFF2-40B4-BE49-F238E27FC236}">
                <a16:creationId xmlns:a16="http://schemas.microsoft.com/office/drawing/2014/main" id="{A31910A7-4687-8B1D-0AA2-FEB2D72AE58C}"/>
              </a:ext>
            </a:extLst>
          </p:cNvPr>
          <p:cNvCxnSpPr/>
          <p:nvPr/>
        </p:nvCxnSpPr>
        <p:spPr>
          <a:xfrm>
            <a:off x="125450" y="5476973"/>
            <a:ext cx="11874872"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1" name="四角形: 角を丸くする 30">
            <a:extLst>
              <a:ext uri="{FF2B5EF4-FFF2-40B4-BE49-F238E27FC236}">
                <a16:creationId xmlns:a16="http://schemas.microsoft.com/office/drawing/2014/main" id="{A4382DAC-75E9-F79E-65BD-511C927DE1B6}"/>
              </a:ext>
            </a:extLst>
          </p:cNvPr>
          <p:cNvSpPr/>
          <p:nvPr/>
        </p:nvSpPr>
        <p:spPr>
          <a:xfrm>
            <a:off x="2609371" y="5768297"/>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sp>
        <p:nvSpPr>
          <p:cNvPr id="36" name="四角形: 角を丸くする 35">
            <a:extLst>
              <a:ext uri="{FF2B5EF4-FFF2-40B4-BE49-F238E27FC236}">
                <a16:creationId xmlns:a16="http://schemas.microsoft.com/office/drawing/2014/main" id="{8DA3B013-8D76-BB9C-4909-692C2E1BA040}"/>
              </a:ext>
            </a:extLst>
          </p:cNvPr>
          <p:cNvSpPr/>
          <p:nvPr/>
        </p:nvSpPr>
        <p:spPr>
          <a:xfrm>
            <a:off x="8337395" y="5768297"/>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cxnSp>
        <p:nvCxnSpPr>
          <p:cNvPr id="40" name="直線矢印コネクタ 39">
            <a:extLst>
              <a:ext uri="{FF2B5EF4-FFF2-40B4-BE49-F238E27FC236}">
                <a16:creationId xmlns:a16="http://schemas.microsoft.com/office/drawing/2014/main" id="{FBBAC9AB-0098-A09F-E265-1680822F569D}"/>
              </a:ext>
            </a:extLst>
          </p:cNvPr>
          <p:cNvCxnSpPr>
            <a:cxnSpLocks/>
            <a:stCxn id="36" idx="1"/>
            <a:endCxn id="31" idx="3"/>
          </p:cNvCxnSpPr>
          <p:nvPr/>
        </p:nvCxnSpPr>
        <p:spPr>
          <a:xfrm flipH="1">
            <a:off x="4061098" y="6107662"/>
            <a:ext cx="4276297" cy="0"/>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四角形: 角を丸くする 43">
            <a:extLst>
              <a:ext uri="{FF2B5EF4-FFF2-40B4-BE49-F238E27FC236}">
                <a16:creationId xmlns:a16="http://schemas.microsoft.com/office/drawing/2014/main" id="{EC7A42C0-A992-D296-72CB-C8CCFE0FB907}"/>
              </a:ext>
            </a:extLst>
          </p:cNvPr>
          <p:cNvSpPr/>
          <p:nvPr/>
        </p:nvSpPr>
        <p:spPr>
          <a:xfrm>
            <a:off x="313266" y="5240318"/>
            <a:ext cx="876692" cy="473309"/>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t>仮想</a:t>
            </a:r>
            <a:endParaRPr kumimoji="1" lang="ja-JP" altLang="en-US" dirty="0"/>
          </a:p>
        </p:txBody>
      </p:sp>
      <p:sp>
        <p:nvSpPr>
          <p:cNvPr id="47" name="四角形: 角を丸くする 46">
            <a:extLst>
              <a:ext uri="{FF2B5EF4-FFF2-40B4-BE49-F238E27FC236}">
                <a16:creationId xmlns:a16="http://schemas.microsoft.com/office/drawing/2014/main" id="{BFA51CEC-53F2-5AAB-7106-A7BE3F7D8045}"/>
              </a:ext>
            </a:extLst>
          </p:cNvPr>
          <p:cNvSpPr/>
          <p:nvPr/>
        </p:nvSpPr>
        <p:spPr>
          <a:xfrm>
            <a:off x="4597386" y="5721162"/>
            <a:ext cx="3441377" cy="291321"/>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仮想的なローカルネットワーク</a:t>
            </a:r>
          </a:p>
        </p:txBody>
      </p:sp>
    </p:spTree>
    <p:extLst>
      <p:ext uri="{BB962C8B-B14F-4D97-AF65-F5344CB8AC3E}">
        <p14:creationId xmlns:p14="http://schemas.microsoft.com/office/powerpoint/2010/main" val="154876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1EE621-A56D-28E7-A69D-0337D9DA1054}"/>
              </a:ext>
            </a:extLst>
          </p:cNvPr>
          <p:cNvSpPr>
            <a:spLocks noGrp="1"/>
          </p:cNvSpPr>
          <p:nvPr>
            <p:ph type="title"/>
          </p:nvPr>
        </p:nvSpPr>
        <p:spPr/>
        <p:txBody>
          <a:bodyPr/>
          <a:lstStyle/>
          <a:p>
            <a:r>
              <a:rPr kumimoji="1" lang="en-US" altLang="ja-JP" dirty="0"/>
              <a:t>VPN</a:t>
            </a:r>
            <a:r>
              <a:rPr lang="ja-JP" altLang="en-US" dirty="0"/>
              <a:t>（インターネット</a:t>
            </a:r>
            <a:r>
              <a:rPr lang="en-US" altLang="ja-JP" dirty="0"/>
              <a:t>VPN</a:t>
            </a:r>
            <a:r>
              <a:rPr lang="ja-JP" altLang="en-US" dirty="0"/>
              <a:t>の場合）</a:t>
            </a:r>
            <a:endParaRPr kumimoji="1" lang="ja-JP" altLang="en-US" dirty="0"/>
          </a:p>
        </p:txBody>
      </p:sp>
      <p:sp>
        <p:nvSpPr>
          <p:cNvPr id="3" name="コンテンツ プレースホルダー 2">
            <a:extLst>
              <a:ext uri="{FF2B5EF4-FFF2-40B4-BE49-F238E27FC236}">
                <a16:creationId xmlns:a16="http://schemas.microsoft.com/office/drawing/2014/main" id="{7BD78896-54C1-1A3C-8EE1-A50E7B5D91DC}"/>
              </a:ext>
            </a:extLst>
          </p:cNvPr>
          <p:cNvSpPr>
            <a:spLocks noGrp="1"/>
          </p:cNvSpPr>
          <p:nvPr>
            <p:ph idx="1"/>
          </p:nvPr>
        </p:nvSpPr>
        <p:spPr>
          <a:xfrm>
            <a:off x="838199" y="1825625"/>
            <a:ext cx="10920663" cy="4351338"/>
          </a:xfrm>
        </p:spPr>
        <p:txBody>
          <a:bodyPr>
            <a:normAutofit lnSpcReduction="10000"/>
          </a:bodyPr>
          <a:lstStyle/>
          <a:p>
            <a:r>
              <a:rPr kumimoji="1" lang="ja-JP" altLang="en-US" dirty="0"/>
              <a:t>仮想的</a:t>
            </a:r>
            <a:r>
              <a:rPr lang="ja-JP" altLang="en-US" dirty="0"/>
              <a:t>で</a:t>
            </a:r>
            <a:r>
              <a:rPr kumimoji="1" lang="ja-JP" altLang="en-US" dirty="0"/>
              <a:t>プライベートなネットワーク</a:t>
            </a:r>
            <a:endParaRPr kumimoji="1" lang="en-US" altLang="ja-JP" dirty="0"/>
          </a:p>
          <a:p>
            <a:r>
              <a:rPr lang="ja-JP" altLang="en-US" dirty="0"/>
              <a:t>インターネット上の任意の機器同士だけが通信可能なネットワークを仮想的に作成</a:t>
            </a:r>
            <a:endParaRPr lang="en-US" altLang="ja-JP" dirty="0"/>
          </a:p>
          <a:p>
            <a:r>
              <a:rPr lang="ja-JP" altLang="en-US" b="1" dirty="0"/>
              <a:t>暗号化された情報を既存のインターネット上に流す</a:t>
            </a:r>
            <a:r>
              <a:rPr lang="ja-JP" altLang="en-US" dirty="0"/>
              <a:t>ことで実現する（外部の人間は情報を取得できても暗号化されているため閲覧できない）</a:t>
            </a:r>
            <a:endParaRPr lang="en-US" altLang="ja-JP" dirty="0"/>
          </a:p>
          <a:p>
            <a:r>
              <a:rPr lang="ja-JP" altLang="en-US" dirty="0"/>
              <a:t>インターネット</a:t>
            </a:r>
            <a:r>
              <a:rPr lang="en-US" altLang="ja-JP" dirty="0"/>
              <a:t>VPN</a:t>
            </a:r>
            <a:r>
              <a:rPr lang="ja-JP" altLang="en-US" dirty="0"/>
              <a:t>の他に</a:t>
            </a:r>
            <a:r>
              <a:rPr lang="en-US" altLang="ja-JP" dirty="0"/>
              <a:t>IP-VPN</a:t>
            </a:r>
            <a:r>
              <a:rPr lang="ja-JP" altLang="en-US" dirty="0"/>
              <a:t>，広域イーサネットもある</a:t>
            </a:r>
            <a:endParaRPr lang="en-US" altLang="ja-JP" dirty="0"/>
          </a:p>
          <a:p>
            <a:endParaRPr lang="en-US" altLang="ja-JP" dirty="0"/>
          </a:p>
          <a:p>
            <a:pPr marL="0" indent="0" algn="ctr">
              <a:buNone/>
            </a:pPr>
            <a:r>
              <a:rPr lang="ja-JP" altLang="en-US" dirty="0">
                <a:solidFill>
                  <a:srgbClr val="FF0000"/>
                </a:solidFill>
              </a:rPr>
              <a:t>インターネットから切り離されたローカルネットワーク上で</a:t>
            </a:r>
            <a:endParaRPr lang="en-US" altLang="ja-JP" dirty="0">
              <a:solidFill>
                <a:srgbClr val="FF0000"/>
              </a:solidFill>
            </a:endParaRPr>
          </a:p>
          <a:p>
            <a:pPr marL="0" indent="0" algn="ctr">
              <a:buNone/>
            </a:pPr>
            <a:r>
              <a:rPr lang="ja-JP" altLang="en-US" dirty="0">
                <a:solidFill>
                  <a:srgbClr val="FF0000"/>
                </a:solidFill>
              </a:rPr>
              <a:t>動画をやり取りする方法が必要</a:t>
            </a:r>
            <a:endParaRPr kumimoji="1" lang="ja-JP" altLang="en-US" dirty="0">
              <a:solidFill>
                <a:srgbClr val="FF0000"/>
              </a:solidFill>
            </a:endParaRPr>
          </a:p>
        </p:txBody>
      </p:sp>
    </p:spTree>
    <p:extLst>
      <p:ext uri="{BB962C8B-B14F-4D97-AF65-F5344CB8AC3E}">
        <p14:creationId xmlns:p14="http://schemas.microsoft.com/office/powerpoint/2010/main" val="1568599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72CC0-3B00-A270-EE92-D2B743E16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2D6DF95-3EC8-FC41-54D7-550A1E7FC29C}"/>
              </a:ext>
            </a:extLst>
          </p:cNvPr>
          <p:cNvSpPr>
            <a:spLocks noGrp="1"/>
          </p:cNvSpPr>
          <p:nvPr>
            <p:ph type="title"/>
          </p:nvPr>
        </p:nvSpPr>
        <p:spPr/>
        <p:txBody>
          <a:bodyPr/>
          <a:lstStyle/>
          <a:p>
            <a:r>
              <a:rPr kumimoji="1" lang="en-US" altLang="ja-JP" dirty="0"/>
              <a:t>VPN</a:t>
            </a:r>
            <a:r>
              <a:rPr kumimoji="1" lang="ja-JP" altLang="en-US" dirty="0"/>
              <a:t>の実現方法</a:t>
            </a:r>
          </a:p>
        </p:txBody>
      </p:sp>
      <p:sp>
        <p:nvSpPr>
          <p:cNvPr id="3" name="コンテンツ プレースホルダー 2">
            <a:extLst>
              <a:ext uri="{FF2B5EF4-FFF2-40B4-BE49-F238E27FC236}">
                <a16:creationId xmlns:a16="http://schemas.microsoft.com/office/drawing/2014/main" id="{02C0FDBC-9B64-34E9-9D09-D4019600CC44}"/>
              </a:ext>
            </a:extLst>
          </p:cNvPr>
          <p:cNvSpPr>
            <a:spLocks noGrp="1"/>
          </p:cNvSpPr>
          <p:nvPr>
            <p:ph idx="1"/>
          </p:nvPr>
        </p:nvSpPr>
        <p:spPr>
          <a:xfrm>
            <a:off x="838200" y="1825624"/>
            <a:ext cx="10515600" cy="4830009"/>
          </a:xfrm>
        </p:spPr>
        <p:txBody>
          <a:bodyPr>
            <a:normAutofit fontScale="92500" lnSpcReduction="20000"/>
          </a:bodyPr>
          <a:lstStyle/>
          <a:p>
            <a:r>
              <a:rPr kumimoji="1" lang="ja-JP" altLang="en-US" dirty="0"/>
              <a:t>既存のサービスを利用する</a:t>
            </a:r>
            <a:endParaRPr lang="en-US" altLang="ja-JP" dirty="0"/>
          </a:p>
          <a:p>
            <a:pPr lvl="1"/>
            <a:r>
              <a:rPr lang="ja-JP" altLang="en-US" dirty="0"/>
              <a:t>費用感がどれくらいかかるか</a:t>
            </a:r>
            <a:endParaRPr lang="en-US" altLang="ja-JP" dirty="0"/>
          </a:p>
          <a:p>
            <a:pPr lvl="1"/>
            <a:r>
              <a:rPr lang="ja-JP" altLang="en-US" dirty="0"/>
              <a:t>通信事業者が用意する閉域網を使用する方法も選択可能（</a:t>
            </a:r>
            <a:r>
              <a:rPr lang="en-US" altLang="ja-JP" dirty="0"/>
              <a:t> IP-VPN</a:t>
            </a:r>
            <a:r>
              <a:rPr lang="ja-JP" altLang="en-US" dirty="0"/>
              <a:t>・広域イーサネット），外部の人間が暗号化された情報の取得さえできない（高価）</a:t>
            </a:r>
            <a:endParaRPr lang="en-US" altLang="ja-JP" dirty="0"/>
          </a:p>
          <a:p>
            <a:pPr lvl="1"/>
            <a:r>
              <a:rPr lang="en-US" altLang="ja-JP" dirty="0" err="1"/>
              <a:t>Tailscale</a:t>
            </a:r>
            <a:r>
              <a:rPr lang="ja-JP" altLang="en-US" dirty="0"/>
              <a:t>が使いやすい？　</a:t>
            </a:r>
            <a:r>
              <a:rPr lang="en-US" altLang="ja-JP" dirty="0">
                <a:hlinkClick r:id="rId2"/>
              </a:rPr>
              <a:t>https://tailscale.com/pricing</a:t>
            </a:r>
            <a:endParaRPr lang="en-US" altLang="ja-JP" dirty="0"/>
          </a:p>
          <a:p>
            <a:pPr marL="457200" lvl="1" indent="0">
              <a:buNone/>
            </a:pPr>
            <a:endParaRPr lang="en-US" altLang="ja-JP" dirty="0"/>
          </a:p>
          <a:p>
            <a:r>
              <a:rPr kumimoji="1" lang="ja-JP" altLang="en-US" dirty="0"/>
              <a:t>自前で</a:t>
            </a:r>
            <a:r>
              <a:rPr kumimoji="1" lang="en-US" altLang="ja-JP" dirty="0"/>
              <a:t>VPN</a:t>
            </a:r>
            <a:r>
              <a:rPr kumimoji="1" lang="ja-JP" altLang="en-US" dirty="0"/>
              <a:t>サーバーを用意する</a:t>
            </a:r>
            <a:endParaRPr kumimoji="1" lang="en-US" altLang="ja-JP" dirty="0"/>
          </a:p>
          <a:p>
            <a:pPr lvl="1"/>
            <a:r>
              <a:rPr lang="ja-JP" altLang="en-US" dirty="0"/>
              <a:t>運用・更新の手間，機器の用意，情報統括センターに対する申請（大学のセキュリティに一部穴をあける形になる）</a:t>
            </a:r>
            <a:endParaRPr lang="en-US" altLang="ja-JP" dirty="0"/>
          </a:p>
          <a:p>
            <a:pPr lvl="1"/>
            <a:endParaRPr kumimoji="1" lang="en-US" altLang="ja-JP" dirty="0"/>
          </a:p>
          <a:p>
            <a:r>
              <a:rPr lang="ja-JP" altLang="en-US" dirty="0"/>
              <a:t>自前で</a:t>
            </a:r>
            <a:r>
              <a:rPr lang="en-US" altLang="ja-JP" dirty="0"/>
              <a:t>VPN</a:t>
            </a:r>
            <a:r>
              <a:rPr lang="ja-JP" altLang="en-US" dirty="0"/>
              <a:t>ルーターを用意する</a:t>
            </a:r>
            <a:endParaRPr lang="en-US" altLang="ja-JP" dirty="0"/>
          </a:p>
          <a:p>
            <a:pPr lvl="1"/>
            <a:r>
              <a:rPr kumimoji="1" lang="ja-JP" altLang="en-US" dirty="0"/>
              <a:t>運用・更新の手間，機器の用意？</a:t>
            </a:r>
            <a:endParaRPr kumimoji="1" lang="en-US" altLang="ja-JP" dirty="0"/>
          </a:p>
          <a:p>
            <a:pPr lvl="1"/>
            <a:endParaRPr lang="en-US" altLang="ja-JP" dirty="0"/>
          </a:p>
          <a:p>
            <a:pPr marL="0" indent="0" algn="ctr">
              <a:buNone/>
            </a:pPr>
            <a:r>
              <a:rPr lang="en-US" altLang="ja-JP" dirty="0" err="1">
                <a:solidFill>
                  <a:srgbClr val="FF0000"/>
                </a:solidFill>
              </a:rPr>
              <a:t>Tailscale</a:t>
            </a:r>
            <a:r>
              <a:rPr lang="ja-JP" altLang="en-US" dirty="0">
                <a:solidFill>
                  <a:srgbClr val="FF0000"/>
                </a:solidFill>
              </a:rPr>
              <a:t>は個人が無料，すぐ試せるため試用</a:t>
            </a:r>
            <a:endParaRPr lang="en-US" altLang="ja-JP" dirty="0">
              <a:solidFill>
                <a:srgbClr val="FF0000"/>
              </a:solidFill>
            </a:endParaRPr>
          </a:p>
        </p:txBody>
      </p:sp>
    </p:spTree>
    <p:extLst>
      <p:ext uri="{BB962C8B-B14F-4D97-AF65-F5344CB8AC3E}">
        <p14:creationId xmlns:p14="http://schemas.microsoft.com/office/powerpoint/2010/main" val="25337863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718109-4B9F-1F53-7021-040D06E673EB}"/>
            </a:ext>
          </a:extLst>
        </p:cNvPr>
        <p:cNvGrpSpPr/>
        <p:nvPr/>
      </p:nvGrpSpPr>
      <p:grpSpPr>
        <a:xfrm>
          <a:off x="0" y="0"/>
          <a:ext cx="0" cy="0"/>
          <a:chOff x="0" y="0"/>
          <a:chExt cx="0" cy="0"/>
        </a:xfrm>
      </p:grpSpPr>
      <p:sp>
        <p:nvSpPr>
          <p:cNvPr id="38" name="四角形: 角を丸くする 37">
            <a:extLst>
              <a:ext uri="{FF2B5EF4-FFF2-40B4-BE49-F238E27FC236}">
                <a16:creationId xmlns:a16="http://schemas.microsoft.com/office/drawing/2014/main" id="{E0056DD3-2A43-BE05-DCA1-7E2F481FA8BC}"/>
              </a:ext>
            </a:extLst>
          </p:cNvPr>
          <p:cNvSpPr/>
          <p:nvPr/>
        </p:nvSpPr>
        <p:spPr>
          <a:xfrm>
            <a:off x="7638855" y="1809947"/>
            <a:ext cx="4512538" cy="1951136"/>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en-US" altLang="ja-JP" dirty="0"/>
              <a:t>LAN</a:t>
            </a:r>
            <a:endParaRPr kumimoji="1" lang="ja-JP" altLang="en-US" dirty="0"/>
          </a:p>
        </p:txBody>
      </p:sp>
      <p:sp>
        <p:nvSpPr>
          <p:cNvPr id="37" name="四角形: 角を丸くする 36">
            <a:extLst>
              <a:ext uri="{FF2B5EF4-FFF2-40B4-BE49-F238E27FC236}">
                <a16:creationId xmlns:a16="http://schemas.microsoft.com/office/drawing/2014/main" id="{CB265478-6FB9-298D-17DE-6A05F4438405}"/>
              </a:ext>
            </a:extLst>
          </p:cNvPr>
          <p:cNvSpPr/>
          <p:nvPr/>
        </p:nvSpPr>
        <p:spPr>
          <a:xfrm>
            <a:off x="125450" y="1809946"/>
            <a:ext cx="4512538" cy="1872015"/>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lang="en-US" altLang="ja-JP" dirty="0"/>
              <a:t>LAN</a:t>
            </a:r>
            <a:endParaRPr kumimoji="1" lang="ja-JP" altLang="en-US" dirty="0"/>
          </a:p>
        </p:txBody>
      </p:sp>
      <p:sp>
        <p:nvSpPr>
          <p:cNvPr id="2" name="タイトル 1">
            <a:extLst>
              <a:ext uri="{FF2B5EF4-FFF2-40B4-BE49-F238E27FC236}">
                <a16:creationId xmlns:a16="http://schemas.microsoft.com/office/drawing/2014/main" id="{046C2CF9-CB6C-769C-96EC-226239854741}"/>
              </a:ext>
            </a:extLst>
          </p:cNvPr>
          <p:cNvSpPr>
            <a:spLocks noGrp="1"/>
          </p:cNvSpPr>
          <p:nvPr>
            <p:ph type="title"/>
          </p:nvPr>
        </p:nvSpPr>
        <p:spPr>
          <a:xfrm>
            <a:off x="838200" y="365125"/>
            <a:ext cx="11353800" cy="1325563"/>
          </a:xfrm>
        </p:spPr>
        <p:txBody>
          <a:bodyPr/>
          <a:lstStyle/>
          <a:p>
            <a:r>
              <a:rPr lang="ja-JP" altLang="en-US" dirty="0"/>
              <a:t>実装（</a:t>
            </a:r>
            <a:r>
              <a:rPr lang="en-US" altLang="ja-JP" dirty="0"/>
              <a:t>VPN</a:t>
            </a:r>
            <a:r>
              <a:rPr lang="ja-JP" altLang="en-US" dirty="0"/>
              <a:t>）</a:t>
            </a:r>
            <a:endParaRPr kumimoji="1" lang="ja-JP" altLang="en-US" dirty="0"/>
          </a:p>
        </p:txBody>
      </p:sp>
      <p:cxnSp>
        <p:nvCxnSpPr>
          <p:cNvPr id="7" name="直線矢印コネクタ 6">
            <a:extLst>
              <a:ext uri="{FF2B5EF4-FFF2-40B4-BE49-F238E27FC236}">
                <a16:creationId xmlns:a16="http://schemas.microsoft.com/office/drawing/2014/main" id="{C3E21ED3-E02F-B4E5-CB74-FA1177A363F9}"/>
              </a:ext>
            </a:extLst>
          </p:cNvPr>
          <p:cNvCxnSpPr>
            <a:cxnSpLocks/>
            <a:stCxn id="33" idx="3"/>
            <a:endCxn id="30" idx="1"/>
          </p:cNvCxnSpPr>
          <p:nvPr/>
        </p:nvCxnSpPr>
        <p:spPr>
          <a:xfrm flipV="1">
            <a:off x="4852078" y="2683131"/>
            <a:ext cx="807106" cy="51327"/>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pic>
        <p:nvPicPr>
          <p:cNvPr id="30" name="グラフィックス 29" descr="世界 枠線">
            <a:extLst>
              <a:ext uri="{FF2B5EF4-FFF2-40B4-BE49-F238E27FC236}">
                <a16:creationId xmlns:a16="http://schemas.microsoft.com/office/drawing/2014/main" id="{20CF1E13-FFA4-D52A-8D6D-478544F4F6C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59184" y="2225931"/>
            <a:ext cx="914400" cy="914400"/>
          </a:xfrm>
          <a:prstGeom prst="rect">
            <a:avLst/>
          </a:prstGeom>
        </p:spPr>
      </p:pic>
      <p:sp>
        <p:nvSpPr>
          <p:cNvPr id="33" name="四角形: 角を丸くする 32">
            <a:extLst>
              <a:ext uri="{FF2B5EF4-FFF2-40B4-BE49-F238E27FC236}">
                <a16:creationId xmlns:a16="http://schemas.microsoft.com/office/drawing/2014/main" id="{6AC02903-7007-5400-5370-67C5E97FF74C}"/>
              </a:ext>
            </a:extLst>
          </p:cNvPr>
          <p:cNvSpPr/>
          <p:nvPr/>
        </p:nvSpPr>
        <p:spPr>
          <a:xfrm>
            <a:off x="4337242" y="2117832"/>
            <a:ext cx="514836" cy="1233251"/>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lang="en-US" altLang="ja-JP" dirty="0"/>
              <a:t>FW/NAT</a:t>
            </a:r>
            <a:endParaRPr kumimoji="1" lang="ja-JP" altLang="en-US" dirty="0"/>
          </a:p>
        </p:txBody>
      </p:sp>
      <p:sp>
        <p:nvSpPr>
          <p:cNvPr id="34" name="四角形: 角を丸くする 33">
            <a:extLst>
              <a:ext uri="{FF2B5EF4-FFF2-40B4-BE49-F238E27FC236}">
                <a16:creationId xmlns:a16="http://schemas.microsoft.com/office/drawing/2014/main" id="{E564CA3F-6BF2-D66F-E8CA-04AB721EEC00}"/>
              </a:ext>
            </a:extLst>
          </p:cNvPr>
          <p:cNvSpPr/>
          <p:nvPr/>
        </p:nvSpPr>
        <p:spPr>
          <a:xfrm>
            <a:off x="7428742" y="2117833"/>
            <a:ext cx="514836" cy="1312510"/>
          </a:xfrm>
          <a:prstGeom prst="roundRect">
            <a:avLst/>
          </a:prstGeom>
        </p:spPr>
        <p:style>
          <a:lnRef idx="2">
            <a:schemeClr val="accent1"/>
          </a:lnRef>
          <a:fillRef idx="1">
            <a:schemeClr val="lt1"/>
          </a:fillRef>
          <a:effectRef idx="0">
            <a:schemeClr val="accent1"/>
          </a:effectRef>
          <a:fontRef idx="minor">
            <a:schemeClr val="dk1"/>
          </a:fontRef>
        </p:style>
        <p:txBody>
          <a:bodyPr vert="eaVert" rtlCol="0" anchor="ctr"/>
          <a:lstStyle/>
          <a:p>
            <a:pPr algn="ctr"/>
            <a:r>
              <a:rPr kumimoji="1" lang="en-US" altLang="ja-JP" dirty="0"/>
              <a:t>FW/NAT</a:t>
            </a:r>
            <a:endParaRPr kumimoji="1" lang="ja-JP" altLang="en-US" dirty="0"/>
          </a:p>
        </p:txBody>
      </p:sp>
      <p:cxnSp>
        <p:nvCxnSpPr>
          <p:cNvPr id="42" name="直線矢印コネクタ 41">
            <a:extLst>
              <a:ext uri="{FF2B5EF4-FFF2-40B4-BE49-F238E27FC236}">
                <a16:creationId xmlns:a16="http://schemas.microsoft.com/office/drawing/2014/main" id="{08947066-B29D-DD39-5AF7-075298A3B438}"/>
              </a:ext>
            </a:extLst>
          </p:cNvPr>
          <p:cNvCxnSpPr>
            <a:cxnSpLocks/>
            <a:stCxn id="30" idx="3"/>
            <a:endCxn id="34" idx="1"/>
          </p:cNvCxnSpPr>
          <p:nvPr/>
        </p:nvCxnSpPr>
        <p:spPr>
          <a:xfrm>
            <a:off x="6573584" y="2683131"/>
            <a:ext cx="855158" cy="90957"/>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cxnSp>
        <p:nvCxnSpPr>
          <p:cNvPr id="50" name="直線矢印コネクタ 49">
            <a:extLst>
              <a:ext uri="{FF2B5EF4-FFF2-40B4-BE49-F238E27FC236}">
                <a16:creationId xmlns:a16="http://schemas.microsoft.com/office/drawing/2014/main" id="{F92AEBF5-340B-F247-47AF-9DDA03B08445}"/>
              </a:ext>
            </a:extLst>
          </p:cNvPr>
          <p:cNvCxnSpPr>
            <a:cxnSpLocks/>
            <a:stCxn id="6" idx="1"/>
            <a:endCxn id="34" idx="3"/>
          </p:cNvCxnSpPr>
          <p:nvPr/>
        </p:nvCxnSpPr>
        <p:spPr>
          <a:xfrm flipH="1">
            <a:off x="7943578" y="2755145"/>
            <a:ext cx="327588" cy="1894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DBC0BB68-5D6D-BBF5-3E9D-7F96FE62310C}"/>
              </a:ext>
            </a:extLst>
          </p:cNvPr>
          <p:cNvSpPr/>
          <p:nvPr/>
        </p:nvSpPr>
        <p:spPr>
          <a:xfrm>
            <a:off x="8977633"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相談側</a:t>
            </a:r>
          </a:p>
        </p:txBody>
      </p:sp>
      <p:grpSp>
        <p:nvGrpSpPr>
          <p:cNvPr id="8" name="グループ化 7">
            <a:extLst>
              <a:ext uri="{FF2B5EF4-FFF2-40B4-BE49-F238E27FC236}">
                <a16:creationId xmlns:a16="http://schemas.microsoft.com/office/drawing/2014/main" id="{47AF29DA-5F4C-C387-F964-F5430E34885A}"/>
              </a:ext>
            </a:extLst>
          </p:cNvPr>
          <p:cNvGrpSpPr/>
          <p:nvPr/>
        </p:nvGrpSpPr>
        <p:grpSpPr>
          <a:xfrm>
            <a:off x="8271166" y="2391773"/>
            <a:ext cx="3729156" cy="702736"/>
            <a:chOff x="8337395" y="3223777"/>
            <a:chExt cx="3729156" cy="702736"/>
          </a:xfrm>
        </p:grpSpPr>
        <p:sp>
          <p:nvSpPr>
            <p:cNvPr id="6" name="四角形: 角を丸くする 5">
              <a:extLst>
                <a:ext uri="{FF2B5EF4-FFF2-40B4-BE49-F238E27FC236}">
                  <a16:creationId xmlns:a16="http://schemas.microsoft.com/office/drawing/2014/main" id="{FF23ACA2-9D1E-FB46-57BB-7917E3FE7DA3}"/>
                </a:ext>
              </a:extLst>
            </p:cNvPr>
            <p:cNvSpPr/>
            <p:nvPr/>
          </p:nvSpPr>
          <p:spPr>
            <a:xfrm>
              <a:off x="8337395" y="3247784"/>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pic>
          <p:nvPicPr>
            <p:cNvPr id="20" name="図 19" descr="ゲームの画面&#10;&#10;AI 生成コンテンツは誤りを含む可能性があります。">
              <a:extLst>
                <a:ext uri="{FF2B5EF4-FFF2-40B4-BE49-F238E27FC236}">
                  <a16:creationId xmlns:a16="http://schemas.microsoft.com/office/drawing/2014/main" id="{9D16B629-E730-200A-4054-2BBBF7EFABB8}"/>
                </a:ext>
              </a:extLst>
            </p:cNvPr>
            <p:cNvPicPr>
              <a:picLocks noChangeAspect="1"/>
            </p:cNvPicPr>
            <p:nvPr/>
          </p:nvPicPr>
          <p:blipFill>
            <a:blip r:embed="rId4"/>
            <a:stretch>
              <a:fillRect/>
            </a:stretch>
          </p:blipFill>
          <p:spPr>
            <a:xfrm>
              <a:off x="10696557" y="3223777"/>
              <a:ext cx="1369994" cy="652222"/>
            </a:xfrm>
            <a:prstGeom prst="rect">
              <a:avLst/>
            </a:prstGeom>
          </p:spPr>
        </p:pic>
        <p:cxnSp>
          <p:nvCxnSpPr>
            <p:cNvPr id="24" name="直線矢印コネクタ 23">
              <a:extLst>
                <a:ext uri="{FF2B5EF4-FFF2-40B4-BE49-F238E27FC236}">
                  <a16:creationId xmlns:a16="http://schemas.microsoft.com/office/drawing/2014/main" id="{5AABA59D-36D3-17C5-7A45-614B3192C274}"/>
                </a:ext>
              </a:extLst>
            </p:cNvPr>
            <p:cNvCxnSpPr>
              <a:cxnSpLocks/>
              <a:stCxn id="20" idx="1"/>
              <a:endCxn id="6" idx="3"/>
            </p:cNvCxnSpPr>
            <p:nvPr/>
          </p:nvCxnSpPr>
          <p:spPr>
            <a:xfrm flipH="1">
              <a:off x="9789122" y="3549888"/>
              <a:ext cx="907435" cy="3726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4" name="グループ化 13">
              <a:extLst>
                <a:ext uri="{FF2B5EF4-FFF2-40B4-BE49-F238E27FC236}">
                  <a16:creationId xmlns:a16="http://schemas.microsoft.com/office/drawing/2014/main" id="{D4BF51E6-92E7-A290-8AC1-0642BDA47B24}"/>
                </a:ext>
              </a:extLst>
            </p:cNvPr>
            <p:cNvGrpSpPr/>
            <p:nvPr/>
          </p:nvGrpSpPr>
          <p:grpSpPr>
            <a:xfrm>
              <a:off x="9916778" y="3346832"/>
              <a:ext cx="653467" cy="402889"/>
              <a:chOff x="838200" y="3429000"/>
              <a:chExt cx="1253765" cy="772998"/>
            </a:xfrm>
          </p:grpSpPr>
          <p:sp>
            <p:nvSpPr>
              <p:cNvPr id="15" name="楕円 14">
                <a:extLst>
                  <a:ext uri="{FF2B5EF4-FFF2-40B4-BE49-F238E27FC236}">
                    <a16:creationId xmlns:a16="http://schemas.microsoft.com/office/drawing/2014/main" id="{170D1D1D-1988-95A1-D6D8-554D858C1E7B}"/>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5999E748-C2D2-36BD-9896-B2C93DCFB81D}"/>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F8D6815F-B29B-DDDC-F891-D8DB9BA902F6}"/>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cxnSp>
        <p:nvCxnSpPr>
          <p:cNvPr id="45" name="直線矢印コネクタ 44">
            <a:extLst>
              <a:ext uri="{FF2B5EF4-FFF2-40B4-BE49-F238E27FC236}">
                <a16:creationId xmlns:a16="http://schemas.microsoft.com/office/drawing/2014/main" id="{ABD6983A-01D9-0501-5DCA-3F3B3FD225FA}"/>
              </a:ext>
            </a:extLst>
          </p:cNvPr>
          <p:cNvCxnSpPr>
            <a:cxnSpLocks/>
            <a:stCxn id="5" idx="3"/>
            <a:endCxn id="33" idx="1"/>
          </p:cNvCxnSpPr>
          <p:nvPr/>
        </p:nvCxnSpPr>
        <p:spPr>
          <a:xfrm flipV="1">
            <a:off x="4052747" y="2734458"/>
            <a:ext cx="284495" cy="247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78" name="グループ化 77">
            <a:extLst>
              <a:ext uri="{FF2B5EF4-FFF2-40B4-BE49-F238E27FC236}">
                <a16:creationId xmlns:a16="http://schemas.microsoft.com/office/drawing/2014/main" id="{8732BA22-18E3-0E49-7DD3-5DBCDE609CCB}"/>
              </a:ext>
            </a:extLst>
          </p:cNvPr>
          <p:cNvGrpSpPr/>
          <p:nvPr/>
        </p:nvGrpSpPr>
        <p:grpSpPr>
          <a:xfrm>
            <a:off x="281647" y="2410446"/>
            <a:ext cx="3771100" cy="688170"/>
            <a:chOff x="281647" y="2410446"/>
            <a:chExt cx="3771100" cy="688170"/>
          </a:xfrm>
        </p:grpSpPr>
        <p:sp>
          <p:nvSpPr>
            <p:cNvPr id="5" name="四角形: 角を丸くする 4">
              <a:extLst>
                <a:ext uri="{FF2B5EF4-FFF2-40B4-BE49-F238E27FC236}">
                  <a16:creationId xmlns:a16="http://schemas.microsoft.com/office/drawing/2014/main" id="{70887ACE-35F3-717D-048C-3892178D5FF9}"/>
                </a:ext>
              </a:extLst>
            </p:cNvPr>
            <p:cNvSpPr/>
            <p:nvPr/>
          </p:nvSpPr>
          <p:spPr>
            <a:xfrm>
              <a:off x="2601020" y="2419887"/>
              <a:ext cx="1451727" cy="678729"/>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pic>
          <p:nvPicPr>
            <p:cNvPr id="19" name="図 18" descr="ゲームの画面&#10;&#10;AI 生成コンテンツは誤りを含む可能性があります。">
              <a:extLst>
                <a:ext uri="{FF2B5EF4-FFF2-40B4-BE49-F238E27FC236}">
                  <a16:creationId xmlns:a16="http://schemas.microsoft.com/office/drawing/2014/main" id="{DE34013B-CC11-94A3-E56F-18A486651284}"/>
                </a:ext>
              </a:extLst>
            </p:cNvPr>
            <p:cNvPicPr>
              <a:picLocks noChangeAspect="1"/>
            </p:cNvPicPr>
            <p:nvPr/>
          </p:nvPicPr>
          <p:blipFill>
            <a:blip r:embed="rId4"/>
            <a:stretch>
              <a:fillRect/>
            </a:stretch>
          </p:blipFill>
          <p:spPr>
            <a:xfrm>
              <a:off x="352767" y="2410446"/>
              <a:ext cx="1369994" cy="652222"/>
            </a:xfrm>
            <a:prstGeom prst="rect">
              <a:avLst/>
            </a:prstGeom>
          </p:spPr>
        </p:pic>
        <p:cxnSp>
          <p:nvCxnSpPr>
            <p:cNvPr id="23" name="直線矢印コネクタ 22">
              <a:extLst>
                <a:ext uri="{FF2B5EF4-FFF2-40B4-BE49-F238E27FC236}">
                  <a16:creationId xmlns:a16="http://schemas.microsoft.com/office/drawing/2014/main" id="{55E0D737-E142-AB70-215E-896961A34F87}"/>
                </a:ext>
              </a:extLst>
            </p:cNvPr>
            <p:cNvCxnSpPr>
              <a:stCxn id="19" idx="3"/>
              <a:endCxn id="5" idx="1"/>
            </p:cNvCxnSpPr>
            <p:nvPr/>
          </p:nvCxnSpPr>
          <p:spPr>
            <a:xfrm>
              <a:off x="1722761" y="2736557"/>
              <a:ext cx="878259" cy="226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3" name="グループ化 12">
              <a:extLst>
                <a:ext uri="{FF2B5EF4-FFF2-40B4-BE49-F238E27FC236}">
                  <a16:creationId xmlns:a16="http://schemas.microsoft.com/office/drawing/2014/main" id="{1FCAC090-A21C-F39C-CE77-BC636C72B1EE}"/>
                </a:ext>
              </a:extLst>
            </p:cNvPr>
            <p:cNvGrpSpPr/>
            <p:nvPr/>
          </p:nvGrpSpPr>
          <p:grpSpPr>
            <a:xfrm>
              <a:off x="1825081" y="2549892"/>
              <a:ext cx="626881" cy="386498"/>
              <a:chOff x="838200" y="3429000"/>
              <a:chExt cx="1253765" cy="772998"/>
            </a:xfrm>
          </p:grpSpPr>
          <p:sp>
            <p:nvSpPr>
              <p:cNvPr id="12" name="楕円 11">
                <a:extLst>
                  <a:ext uri="{FF2B5EF4-FFF2-40B4-BE49-F238E27FC236}">
                    <a16:creationId xmlns:a16="http://schemas.microsoft.com/office/drawing/2014/main" id="{26E2E794-A29D-294D-E6C8-B1F4363E4F63}"/>
                  </a:ext>
                </a:extLst>
              </p:cNvPr>
              <p:cNvSpPr/>
              <p:nvPr/>
            </p:nvSpPr>
            <p:spPr>
              <a:xfrm>
                <a:off x="838200" y="3429000"/>
                <a:ext cx="1253765" cy="772998"/>
              </a:xfrm>
              <a:prstGeom prst="ellipse">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828A0ED8-7B1C-7FFF-3E06-156339246E10}"/>
                  </a:ext>
                </a:extLst>
              </p:cNvPr>
              <p:cNvSpPr/>
              <p:nvPr/>
            </p:nvSpPr>
            <p:spPr>
              <a:xfrm>
                <a:off x="1097824" y="3559005"/>
                <a:ext cx="734518" cy="5129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D8A8D5FA-6C06-42CB-4AF5-DD0123A384F6}"/>
                  </a:ext>
                </a:extLst>
              </p:cNvPr>
              <p:cNvSpPr/>
              <p:nvPr/>
            </p:nvSpPr>
            <p:spPr>
              <a:xfrm>
                <a:off x="1097824" y="3566032"/>
                <a:ext cx="370695" cy="258894"/>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3" name="四角形: 角を丸くする 62">
              <a:extLst>
                <a:ext uri="{FF2B5EF4-FFF2-40B4-BE49-F238E27FC236}">
                  <a16:creationId xmlns:a16="http://schemas.microsoft.com/office/drawing/2014/main" id="{6BDBD090-C13A-D3E0-9A2C-F2666166CF54}"/>
                </a:ext>
              </a:extLst>
            </p:cNvPr>
            <p:cNvSpPr/>
            <p:nvPr/>
          </p:nvSpPr>
          <p:spPr>
            <a:xfrm>
              <a:off x="281647" y="2419887"/>
              <a:ext cx="2319373" cy="652223"/>
            </a:xfrm>
            <a:prstGeom prst="roundRect">
              <a:avLst/>
            </a:prstGeom>
            <a:solidFill>
              <a:srgbClr val="FFFFFF">
                <a:alpha val="85098"/>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p>
          </p:txBody>
        </p:sp>
      </p:grpSp>
      <p:sp>
        <p:nvSpPr>
          <p:cNvPr id="3" name="楕円 2">
            <a:extLst>
              <a:ext uri="{FF2B5EF4-FFF2-40B4-BE49-F238E27FC236}">
                <a16:creationId xmlns:a16="http://schemas.microsoft.com/office/drawing/2014/main" id="{AC79B91F-5497-84A7-6C02-4ACC03EF2B2C}"/>
              </a:ext>
            </a:extLst>
          </p:cNvPr>
          <p:cNvSpPr/>
          <p:nvPr/>
        </p:nvSpPr>
        <p:spPr>
          <a:xfrm>
            <a:off x="2628580" y="2030054"/>
            <a:ext cx="7059452" cy="2078434"/>
          </a:xfrm>
          <a:prstGeom prst="ellipse">
            <a:avLst/>
          </a:prstGeom>
          <a:noFill/>
          <a:ln w="38100">
            <a:solidFill>
              <a:schemeClr val="accent5"/>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F25C42A-63FA-D354-8190-01D153ABD891}"/>
              </a:ext>
            </a:extLst>
          </p:cNvPr>
          <p:cNvSpPr/>
          <p:nvPr/>
        </p:nvSpPr>
        <p:spPr>
          <a:xfrm>
            <a:off x="5035172" y="1822074"/>
            <a:ext cx="2179480" cy="373316"/>
          </a:xfrm>
          <a:prstGeom prst="roundRect">
            <a:avLst/>
          </a:prstGeom>
          <a:solidFill>
            <a:schemeClr val="bg1"/>
          </a:solidFill>
          <a:ln>
            <a:solidFill>
              <a:schemeClr val="accent5"/>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dirty="0"/>
              <a:t>VPN</a:t>
            </a:r>
            <a:r>
              <a:rPr lang="ja-JP" altLang="en-US" dirty="0"/>
              <a:t>（</a:t>
            </a:r>
            <a:r>
              <a:rPr lang="en-US" altLang="ja-JP" b="1" dirty="0" err="1"/>
              <a:t>Tailscale</a:t>
            </a:r>
            <a:r>
              <a:rPr lang="ja-JP" altLang="en-US" dirty="0"/>
              <a:t>）</a:t>
            </a:r>
            <a:endParaRPr kumimoji="1" lang="ja-JP" altLang="en-US" dirty="0"/>
          </a:p>
        </p:txBody>
      </p:sp>
      <p:cxnSp>
        <p:nvCxnSpPr>
          <p:cNvPr id="27" name="直線コネクタ 26">
            <a:extLst>
              <a:ext uri="{FF2B5EF4-FFF2-40B4-BE49-F238E27FC236}">
                <a16:creationId xmlns:a16="http://schemas.microsoft.com/office/drawing/2014/main" id="{6053F9A8-FEBE-8628-F569-6B1C7F892490}"/>
              </a:ext>
            </a:extLst>
          </p:cNvPr>
          <p:cNvCxnSpPr/>
          <p:nvPr/>
        </p:nvCxnSpPr>
        <p:spPr>
          <a:xfrm>
            <a:off x="125450" y="4251820"/>
            <a:ext cx="11874872" cy="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31" name="四角形: 角を丸くする 30">
            <a:extLst>
              <a:ext uri="{FF2B5EF4-FFF2-40B4-BE49-F238E27FC236}">
                <a16:creationId xmlns:a16="http://schemas.microsoft.com/office/drawing/2014/main" id="{259BEB3B-4D58-983A-9FCF-2972A2540AB8}"/>
              </a:ext>
            </a:extLst>
          </p:cNvPr>
          <p:cNvSpPr/>
          <p:nvPr/>
        </p:nvSpPr>
        <p:spPr>
          <a:xfrm>
            <a:off x="125449" y="4631805"/>
            <a:ext cx="4512537" cy="1872003"/>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endParaRPr kumimoji="1" lang="ja-JP" altLang="en-US" dirty="0"/>
          </a:p>
        </p:txBody>
      </p:sp>
      <p:sp>
        <p:nvSpPr>
          <p:cNvPr id="36" name="四角形: 角を丸くする 35">
            <a:extLst>
              <a:ext uri="{FF2B5EF4-FFF2-40B4-BE49-F238E27FC236}">
                <a16:creationId xmlns:a16="http://schemas.microsoft.com/office/drawing/2014/main" id="{556048EE-D455-E821-E953-1F09BA5A568E}"/>
              </a:ext>
            </a:extLst>
          </p:cNvPr>
          <p:cNvSpPr/>
          <p:nvPr/>
        </p:nvSpPr>
        <p:spPr>
          <a:xfrm>
            <a:off x="7686160" y="4662603"/>
            <a:ext cx="4465233" cy="1830265"/>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endParaRPr kumimoji="1" lang="ja-JP" altLang="en-US" dirty="0"/>
          </a:p>
        </p:txBody>
      </p:sp>
      <p:cxnSp>
        <p:nvCxnSpPr>
          <p:cNvPr id="40" name="直線矢印コネクタ 39">
            <a:extLst>
              <a:ext uri="{FF2B5EF4-FFF2-40B4-BE49-F238E27FC236}">
                <a16:creationId xmlns:a16="http://schemas.microsoft.com/office/drawing/2014/main" id="{6C634B68-1877-54BB-9A34-FC4E3BBCA984}"/>
              </a:ext>
            </a:extLst>
          </p:cNvPr>
          <p:cNvCxnSpPr>
            <a:cxnSpLocks/>
            <a:stCxn id="36" idx="1"/>
            <a:endCxn id="31" idx="3"/>
          </p:cNvCxnSpPr>
          <p:nvPr/>
        </p:nvCxnSpPr>
        <p:spPr>
          <a:xfrm flipH="1" flipV="1">
            <a:off x="4637986" y="5567807"/>
            <a:ext cx="3048174" cy="9929"/>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44" name="四角形: 角を丸くする 43">
            <a:extLst>
              <a:ext uri="{FF2B5EF4-FFF2-40B4-BE49-F238E27FC236}">
                <a16:creationId xmlns:a16="http://schemas.microsoft.com/office/drawing/2014/main" id="{ACE1F900-A792-B665-79A4-C496C43E89EC}"/>
              </a:ext>
            </a:extLst>
          </p:cNvPr>
          <p:cNvSpPr/>
          <p:nvPr/>
        </p:nvSpPr>
        <p:spPr>
          <a:xfrm>
            <a:off x="313266" y="4015165"/>
            <a:ext cx="876692" cy="473309"/>
          </a:xfrm>
          <a:prstGeom prst="round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ja-JP" altLang="en-US" dirty="0"/>
              <a:t>仮想</a:t>
            </a:r>
            <a:endParaRPr kumimoji="1" lang="ja-JP" altLang="en-US" dirty="0"/>
          </a:p>
        </p:txBody>
      </p:sp>
      <p:sp>
        <p:nvSpPr>
          <p:cNvPr id="57" name="四角形: 角を丸くする 56">
            <a:extLst>
              <a:ext uri="{FF2B5EF4-FFF2-40B4-BE49-F238E27FC236}">
                <a16:creationId xmlns:a16="http://schemas.microsoft.com/office/drawing/2014/main" id="{4C47C061-4288-8B4C-A33B-8DAFB848D7CE}"/>
              </a:ext>
            </a:extLst>
          </p:cNvPr>
          <p:cNvSpPr/>
          <p:nvPr/>
        </p:nvSpPr>
        <p:spPr>
          <a:xfrm>
            <a:off x="1453811" y="1571034"/>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評価側（大学）</a:t>
            </a:r>
            <a:endParaRPr kumimoji="1" lang="ja-JP" altLang="en-US" dirty="0"/>
          </a:p>
        </p:txBody>
      </p:sp>
      <p:cxnSp>
        <p:nvCxnSpPr>
          <p:cNvPr id="49" name="直線矢印コネクタ 48">
            <a:extLst>
              <a:ext uri="{FF2B5EF4-FFF2-40B4-BE49-F238E27FC236}">
                <a16:creationId xmlns:a16="http://schemas.microsoft.com/office/drawing/2014/main" id="{F39E0012-2240-EFD9-0414-07AAB87F5962}"/>
              </a:ext>
            </a:extLst>
          </p:cNvPr>
          <p:cNvCxnSpPr>
            <a:cxnSpLocks/>
            <a:stCxn id="30" idx="2"/>
            <a:endCxn id="55" idx="0"/>
          </p:cNvCxnSpPr>
          <p:nvPr/>
        </p:nvCxnSpPr>
        <p:spPr>
          <a:xfrm>
            <a:off x="6116384" y="3140331"/>
            <a:ext cx="22037" cy="325429"/>
          </a:xfrm>
          <a:prstGeom prst="straightConnector1">
            <a:avLst/>
          </a:prstGeom>
          <a:ln>
            <a:prstDash val="dash"/>
            <a:headEnd type="triangle"/>
            <a:tailEnd type="triangle"/>
          </a:ln>
        </p:spPr>
        <p:style>
          <a:lnRef idx="2">
            <a:schemeClr val="accent2"/>
          </a:lnRef>
          <a:fillRef idx="0">
            <a:schemeClr val="accent2"/>
          </a:fillRef>
          <a:effectRef idx="1">
            <a:schemeClr val="accent2"/>
          </a:effectRef>
          <a:fontRef idx="minor">
            <a:schemeClr val="tx1"/>
          </a:fontRef>
        </p:style>
      </p:cxnSp>
      <p:sp>
        <p:nvSpPr>
          <p:cNvPr id="55" name="四角形: 角を丸くする 54">
            <a:extLst>
              <a:ext uri="{FF2B5EF4-FFF2-40B4-BE49-F238E27FC236}">
                <a16:creationId xmlns:a16="http://schemas.microsoft.com/office/drawing/2014/main" id="{A3671214-5A3A-39A4-7A18-F0B948BCE3B1}"/>
              </a:ext>
            </a:extLst>
          </p:cNvPr>
          <p:cNvSpPr/>
          <p:nvPr/>
        </p:nvSpPr>
        <p:spPr>
          <a:xfrm>
            <a:off x="5048681" y="3465760"/>
            <a:ext cx="2179480" cy="514903"/>
          </a:xfrm>
          <a:prstGeom prst="roundRect">
            <a:avLst/>
          </a:prstGeom>
          <a:solidFill>
            <a:schemeClr val="bg1"/>
          </a:solidFill>
          <a:ln>
            <a:solidFill>
              <a:schemeClr val="accent5"/>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b="1" dirty="0" err="1"/>
              <a:t>Tailscale</a:t>
            </a:r>
            <a:endParaRPr lang="en-US" altLang="ja-JP" b="1" dirty="0"/>
          </a:p>
          <a:p>
            <a:pPr algn="ctr"/>
            <a:r>
              <a:rPr lang="en-US" altLang="ja-JP" b="1" dirty="0"/>
              <a:t>VPN</a:t>
            </a:r>
            <a:r>
              <a:rPr lang="ja-JP" altLang="en-US" b="1" dirty="0"/>
              <a:t>サーバー</a:t>
            </a:r>
            <a:endParaRPr kumimoji="1" lang="ja-JP" altLang="en-US" dirty="0"/>
          </a:p>
        </p:txBody>
      </p:sp>
      <p:sp>
        <p:nvSpPr>
          <p:cNvPr id="77" name="四角形: 角を丸くする 76">
            <a:extLst>
              <a:ext uri="{FF2B5EF4-FFF2-40B4-BE49-F238E27FC236}">
                <a16:creationId xmlns:a16="http://schemas.microsoft.com/office/drawing/2014/main" id="{BD3DEA25-1B76-8D8C-61C1-22F46DBFA5CB}"/>
              </a:ext>
            </a:extLst>
          </p:cNvPr>
          <p:cNvSpPr/>
          <p:nvPr/>
        </p:nvSpPr>
        <p:spPr>
          <a:xfrm>
            <a:off x="4901859" y="4962332"/>
            <a:ext cx="2446106" cy="450982"/>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dirty="0" err="1"/>
              <a:t>Tailscale</a:t>
            </a:r>
            <a:r>
              <a:rPr kumimoji="1" lang="ja-JP" altLang="en-US" dirty="0"/>
              <a:t> </a:t>
            </a:r>
            <a:r>
              <a:rPr kumimoji="1" lang="en-US" altLang="ja-JP" dirty="0"/>
              <a:t>VPN</a:t>
            </a:r>
            <a:r>
              <a:rPr kumimoji="1" lang="ja-JP" altLang="en-US" dirty="0"/>
              <a:t>による仮想</a:t>
            </a:r>
            <a:r>
              <a:rPr kumimoji="1" lang="en-US" altLang="ja-JP" dirty="0"/>
              <a:t>LAN</a:t>
            </a:r>
            <a:endParaRPr kumimoji="1" lang="ja-JP" altLang="en-US" dirty="0"/>
          </a:p>
        </p:txBody>
      </p:sp>
      <p:pic>
        <p:nvPicPr>
          <p:cNvPr id="80" name="図 79">
            <a:extLst>
              <a:ext uri="{FF2B5EF4-FFF2-40B4-BE49-F238E27FC236}">
                <a16:creationId xmlns:a16="http://schemas.microsoft.com/office/drawing/2014/main" id="{884313DD-2CEE-B41E-1478-AD8F2779C6DC}"/>
              </a:ext>
            </a:extLst>
          </p:cNvPr>
          <p:cNvPicPr>
            <a:picLocks noChangeAspect="1"/>
          </p:cNvPicPr>
          <p:nvPr/>
        </p:nvPicPr>
        <p:blipFill>
          <a:blip r:embed="rId5"/>
          <a:srcRect l="13187" t="10285" r="5246" b="10995"/>
          <a:stretch>
            <a:fillRect/>
          </a:stretch>
        </p:blipFill>
        <p:spPr>
          <a:xfrm>
            <a:off x="5095875" y="3571875"/>
            <a:ext cx="295275" cy="299961"/>
          </a:xfrm>
          <a:prstGeom prst="rect">
            <a:avLst/>
          </a:prstGeom>
        </p:spPr>
      </p:pic>
      <p:pic>
        <p:nvPicPr>
          <p:cNvPr id="81" name="図 80">
            <a:extLst>
              <a:ext uri="{FF2B5EF4-FFF2-40B4-BE49-F238E27FC236}">
                <a16:creationId xmlns:a16="http://schemas.microsoft.com/office/drawing/2014/main" id="{4E1D169C-365E-DDD7-305C-1F58332E2E11}"/>
              </a:ext>
            </a:extLst>
          </p:cNvPr>
          <p:cNvPicPr>
            <a:picLocks noChangeAspect="1"/>
          </p:cNvPicPr>
          <p:nvPr/>
        </p:nvPicPr>
        <p:blipFill>
          <a:blip r:embed="rId5"/>
          <a:srcRect l="13187" t="10285" r="5246" b="10995"/>
          <a:stretch>
            <a:fillRect/>
          </a:stretch>
        </p:blipFill>
        <p:spPr>
          <a:xfrm>
            <a:off x="8204804" y="5348605"/>
            <a:ext cx="732793" cy="744422"/>
          </a:xfrm>
          <a:prstGeom prst="rect">
            <a:avLst/>
          </a:prstGeom>
        </p:spPr>
      </p:pic>
      <p:sp>
        <p:nvSpPr>
          <p:cNvPr id="82" name="四角形: 角を丸くする 81">
            <a:extLst>
              <a:ext uri="{FF2B5EF4-FFF2-40B4-BE49-F238E27FC236}">
                <a16:creationId xmlns:a16="http://schemas.microsoft.com/office/drawing/2014/main" id="{A0762C05-502D-F435-C3C1-1736BAEF2819}"/>
              </a:ext>
            </a:extLst>
          </p:cNvPr>
          <p:cNvSpPr/>
          <p:nvPr/>
        </p:nvSpPr>
        <p:spPr>
          <a:xfrm>
            <a:off x="9157828" y="5257462"/>
            <a:ext cx="2827943" cy="736698"/>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dirty="0" err="1"/>
              <a:t>Tailscale</a:t>
            </a:r>
            <a:r>
              <a:rPr lang="en-US" altLang="ja-JP" dirty="0"/>
              <a:t> </a:t>
            </a:r>
            <a:r>
              <a:rPr lang="ja-JP" altLang="en-US" dirty="0"/>
              <a:t>を利用した</a:t>
            </a:r>
            <a:r>
              <a:rPr lang="en-US" altLang="ja-JP" dirty="0"/>
              <a:t>VPN</a:t>
            </a:r>
            <a:r>
              <a:rPr kumimoji="1" lang="ja-JP" altLang="en-US" dirty="0"/>
              <a:t>のための専用アプリをインストール</a:t>
            </a:r>
            <a:endParaRPr kumimoji="1" lang="en-US" altLang="ja-JP" dirty="0"/>
          </a:p>
          <a:p>
            <a:pPr algn="ctr"/>
            <a:r>
              <a:rPr lang="en-US" altLang="ja-JP" dirty="0" err="1"/>
              <a:t>Tailscale</a:t>
            </a:r>
            <a:r>
              <a:rPr lang="ja-JP" altLang="en-US" dirty="0"/>
              <a:t>のアカウントにログイン</a:t>
            </a:r>
            <a:endParaRPr kumimoji="1" lang="ja-JP" altLang="en-US" dirty="0"/>
          </a:p>
        </p:txBody>
      </p:sp>
      <p:pic>
        <p:nvPicPr>
          <p:cNvPr id="83" name="図 82">
            <a:extLst>
              <a:ext uri="{FF2B5EF4-FFF2-40B4-BE49-F238E27FC236}">
                <a16:creationId xmlns:a16="http://schemas.microsoft.com/office/drawing/2014/main" id="{C2AEB9CE-B4A6-563C-1860-6C4D8F866C6A}"/>
              </a:ext>
            </a:extLst>
          </p:cNvPr>
          <p:cNvPicPr>
            <a:picLocks noChangeAspect="1"/>
          </p:cNvPicPr>
          <p:nvPr/>
        </p:nvPicPr>
        <p:blipFill>
          <a:blip r:embed="rId5"/>
          <a:srcRect l="13187" t="10285" r="5246" b="10995"/>
          <a:stretch>
            <a:fillRect/>
          </a:stretch>
        </p:blipFill>
        <p:spPr>
          <a:xfrm>
            <a:off x="816144" y="5370435"/>
            <a:ext cx="732793" cy="744422"/>
          </a:xfrm>
          <a:prstGeom prst="rect">
            <a:avLst/>
          </a:prstGeom>
        </p:spPr>
      </p:pic>
      <p:sp>
        <p:nvSpPr>
          <p:cNvPr id="84" name="四角形: 角を丸くする 83">
            <a:extLst>
              <a:ext uri="{FF2B5EF4-FFF2-40B4-BE49-F238E27FC236}">
                <a16:creationId xmlns:a16="http://schemas.microsoft.com/office/drawing/2014/main" id="{6DD6B7CA-CC0B-60A5-456E-9251043D4802}"/>
              </a:ext>
            </a:extLst>
          </p:cNvPr>
          <p:cNvSpPr/>
          <p:nvPr/>
        </p:nvSpPr>
        <p:spPr>
          <a:xfrm>
            <a:off x="1524658" y="5286966"/>
            <a:ext cx="2827943" cy="736698"/>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dirty="0" err="1"/>
              <a:t>Tailscale</a:t>
            </a:r>
            <a:r>
              <a:rPr lang="en-US" altLang="ja-JP" dirty="0"/>
              <a:t> </a:t>
            </a:r>
            <a:r>
              <a:rPr lang="ja-JP" altLang="en-US" dirty="0"/>
              <a:t>を利用した</a:t>
            </a:r>
            <a:r>
              <a:rPr lang="en-US" altLang="ja-JP" dirty="0"/>
              <a:t>VPN</a:t>
            </a:r>
            <a:r>
              <a:rPr kumimoji="1" lang="ja-JP" altLang="en-US" dirty="0"/>
              <a:t>のための専用アプリをインストール</a:t>
            </a:r>
            <a:endParaRPr kumimoji="1" lang="en-US" altLang="ja-JP" dirty="0"/>
          </a:p>
          <a:p>
            <a:pPr algn="ctr"/>
            <a:r>
              <a:rPr kumimoji="1" lang="en-US" altLang="ja-JP" dirty="0" err="1"/>
              <a:t>Tailscale</a:t>
            </a:r>
            <a:r>
              <a:rPr kumimoji="1" lang="ja-JP" altLang="en-US" dirty="0"/>
              <a:t>のアカウントにログイン</a:t>
            </a:r>
          </a:p>
        </p:txBody>
      </p:sp>
      <p:sp>
        <p:nvSpPr>
          <p:cNvPr id="85" name="四角形: 角を丸くする 84">
            <a:extLst>
              <a:ext uri="{FF2B5EF4-FFF2-40B4-BE49-F238E27FC236}">
                <a16:creationId xmlns:a16="http://schemas.microsoft.com/office/drawing/2014/main" id="{668A2E94-6217-5190-5306-6E60CF76AAC7}"/>
              </a:ext>
            </a:extLst>
          </p:cNvPr>
          <p:cNvSpPr/>
          <p:nvPr/>
        </p:nvSpPr>
        <p:spPr>
          <a:xfrm>
            <a:off x="4754174" y="6093027"/>
            <a:ext cx="2884681" cy="450982"/>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b="1" dirty="0"/>
              <a:t>個人の</a:t>
            </a:r>
            <a:r>
              <a:rPr kumimoji="1" lang="en-US" altLang="ja-JP" b="1" dirty="0"/>
              <a:t>Google</a:t>
            </a:r>
            <a:r>
              <a:rPr kumimoji="1" lang="ja-JP" altLang="en-US" b="1" dirty="0"/>
              <a:t>アカウントで</a:t>
            </a:r>
            <a:r>
              <a:rPr kumimoji="1" lang="en-US" altLang="ja-JP" b="1" dirty="0" err="1"/>
              <a:t>Tailscale</a:t>
            </a:r>
            <a:r>
              <a:rPr kumimoji="1" lang="ja-JP" altLang="en-US" b="1" dirty="0"/>
              <a:t>のアカウントを作成</a:t>
            </a:r>
          </a:p>
        </p:txBody>
      </p:sp>
      <p:sp>
        <p:nvSpPr>
          <p:cNvPr id="4" name="四角形: 角を丸くする 3">
            <a:extLst>
              <a:ext uri="{FF2B5EF4-FFF2-40B4-BE49-F238E27FC236}">
                <a16:creationId xmlns:a16="http://schemas.microsoft.com/office/drawing/2014/main" id="{008C0F7C-7E80-AA6A-997A-0BA389762EE4}"/>
              </a:ext>
            </a:extLst>
          </p:cNvPr>
          <p:cNvSpPr/>
          <p:nvPr/>
        </p:nvSpPr>
        <p:spPr>
          <a:xfrm>
            <a:off x="1505610" y="4373183"/>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sp>
        <p:nvSpPr>
          <p:cNvPr id="9" name="四角形: 角を丸くする 8">
            <a:extLst>
              <a:ext uri="{FF2B5EF4-FFF2-40B4-BE49-F238E27FC236}">
                <a16:creationId xmlns:a16="http://schemas.microsoft.com/office/drawing/2014/main" id="{E138DCA7-2D6D-6DC4-F8D1-5512F9EC8919}"/>
              </a:ext>
            </a:extLst>
          </p:cNvPr>
          <p:cNvSpPr/>
          <p:nvPr/>
        </p:nvSpPr>
        <p:spPr>
          <a:xfrm>
            <a:off x="8972424" y="4373183"/>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専用</a:t>
            </a:r>
            <a:r>
              <a:rPr kumimoji="1" lang="en-US" altLang="ja-JP" dirty="0"/>
              <a:t>PC</a:t>
            </a:r>
            <a:endParaRPr kumimoji="1" lang="ja-JP" altLang="en-US" dirty="0"/>
          </a:p>
        </p:txBody>
      </p:sp>
    </p:spTree>
    <p:extLst>
      <p:ext uri="{BB962C8B-B14F-4D97-AF65-F5344CB8AC3E}">
        <p14:creationId xmlns:p14="http://schemas.microsoft.com/office/powerpoint/2010/main" val="24791926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F2D5DF-ADC6-71D6-289C-41654A8F21F9}"/>
              </a:ext>
            </a:extLst>
          </p:cNvPr>
          <p:cNvSpPr>
            <a:spLocks noGrp="1"/>
          </p:cNvSpPr>
          <p:nvPr>
            <p:ph type="title"/>
          </p:nvPr>
        </p:nvSpPr>
        <p:spPr/>
        <p:txBody>
          <a:bodyPr/>
          <a:lstStyle/>
          <a:p>
            <a:r>
              <a:rPr kumimoji="1" lang="en-US" altLang="ja-JP" dirty="0"/>
              <a:t>WebRTC(Real-Time Communication)</a:t>
            </a:r>
            <a:endParaRPr kumimoji="1" lang="ja-JP" altLang="en-US" dirty="0"/>
          </a:p>
        </p:txBody>
      </p:sp>
      <p:sp>
        <p:nvSpPr>
          <p:cNvPr id="3" name="コンテンツ プレースホルダー 2">
            <a:extLst>
              <a:ext uri="{FF2B5EF4-FFF2-40B4-BE49-F238E27FC236}">
                <a16:creationId xmlns:a16="http://schemas.microsoft.com/office/drawing/2014/main" id="{2E627E6E-546C-F197-4A37-E0C76CAC20F8}"/>
              </a:ext>
            </a:extLst>
          </p:cNvPr>
          <p:cNvSpPr>
            <a:spLocks noGrp="1"/>
          </p:cNvSpPr>
          <p:nvPr>
            <p:ph idx="1"/>
          </p:nvPr>
        </p:nvSpPr>
        <p:spPr>
          <a:xfrm>
            <a:off x="838200" y="1825624"/>
            <a:ext cx="10515600" cy="4822825"/>
          </a:xfrm>
        </p:spPr>
        <p:txBody>
          <a:bodyPr>
            <a:normAutofit fontScale="85000" lnSpcReduction="10000"/>
          </a:bodyPr>
          <a:lstStyle/>
          <a:p>
            <a:r>
              <a:rPr kumimoji="1" lang="ja-JP" altLang="en-US" dirty="0"/>
              <a:t>既存の</a:t>
            </a:r>
            <a:r>
              <a:rPr kumimoji="1" lang="en-US" altLang="ja-JP" dirty="0"/>
              <a:t>Web</a:t>
            </a:r>
            <a:r>
              <a:rPr kumimoji="1" lang="ja-JP" altLang="en-US" dirty="0"/>
              <a:t>ブラウザのみを使ってリアルタイムで音声・ビデオ・データ通信を可能にする技術（オンライン会議に利用される技術）</a:t>
            </a:r>
            <a:endParaRPr kumimoji="1" lang="en-US" altLang="ja-JP" dirty="0"/>
          </a:p>
          <a:p>
            <a:r>
              <a:rPr kumimoji="1" lang="ja-JP" altLang="en-US" dirty="0"/>
              <a:t>通信を行うブラウザ間で直接データをやり取りするため（</a:t>
            </a:r>
            <a:r>
              <a:rPr kumimoji="1" lang="en-US" altLang="ja-JP" dirty="0"/>
              <a:t>P2P</a:t>
            </a:r>
            <a:r>
              <a:rPr kumimoji="1" lang="ja-JP" altLang="en-US" dirty="0"/>
              <a:t>）データを流すためのサーバは不要</a:t>
            </a:r>
            <a:endParaRPr lang="en-US" altLang="ja-JP" dirty="0"/>
          </a:p>
          <a:p>
            <a:r>
              <a:rPr lang="ja-JP" altLang="en-US" dirty="0"/>
              <a:t>通信は暗号化済み（</a:t>
            </a:r>
            <a:r>
              <a:rPr lang="en-US" altLang="ja-JP" b="1" dirty="0"/>
              <a:t>VPN</a:t>
            </a:r>
            <a:r>
              <a:rPr lang="ja-JP" altLang="en-US" b="1" dirty="0"/>
              <a:t>を使わなくても最初から暗号化される</a:t>
            </a:r>
            <a:r>
              <a:rPr lang="ja-JP" altLang="en-US" dirty="0"/>
              <a:t>）</a:t>
            </a:r>
            <a:endParaRPr lang="en-US" altLang="ja-JP" dirty="0"/>
          </a:p>
          <a:p>
            <a:r>
              <a:rPr lang="ja-JP" altLang="en-US" dirty="0"/>
              <a:t>オープンソース</a:t>
            </a:r>
            <a:endParaRPr lang="en-US" altLang="ja-JP" dirty="0"/>
          </a:p>
          <a:p>
            <a:r>
              <a:rPr lang="ja-JP" altLang="en-US" dirty="0"/>
              <a:t>活用例：</a:t>
            </a:r>
            <a:r>
              <a:rPr lang="en-US" altLang="ja-JP" dirty="0" err="1"/>
              <a:t>GoogleMeet</a:t>
            </a:r>
            <a:r>
              <a:rPr lang="en-US" altLang="ja-JP" dirty="0"/>
              <a:t>,</a:t>
            </a:r>
            <a:r>
              <a:rPr lang="ja-JP" altLang="en-US" dirty="0"/>
              <a:t> </a:t>
            </a:r>
            <a:r>
              <a:rPr lang="en-US" altLang="ja-JP" dirty="0"/>
              <a:t>Web</a:t>
            </a:r>
            <a:r>
              <a:rPr lang="ja-JP" altLang="en-US" dirty="0"/>
              <a:t>版の</a:t>
            </a:r>
            <a:r>
              <a:rPr lang="en-US" altLang="ja-JP" dirty="0"/>
              <a:t>Zoom</a:t>
            </a:r>
            <a:r>
              <a:rPr lang="ja-JP" altLang="en-US" dirty="0"/>
              <a:t>など</a:t>
            </a:r>
            <a:endParaRPr lang="en-US" altLang="ja-JP" dirty="0"/>
          </a:p>
          <a:p>
            <a:endParaRPr kumimoji="1" lang="en-US" altLang="ja-JP" dirty="0"/>
          </a:p>
          <a:p>
            <a:r>
              <a:rPr kumimoji="1" lang="en-US" altLang="ja-JP" dirty="0"/>
              <a:t>1</a:t>
            </a:r>
            <a:r>
              <a:rPr kumimoji="1" lang="ja-JP" altLang="en-US" dirty="0"/>
              <a:t>対</a:t>
            </a:r>
            <a:r>
              <a:rPr kumimoji="1" lang="en-US" altLang="ja-JP" dirty="0"/>
              <a:t>1</a:t>
            </a:r>
            <a:r>
              <a:rPr lang="ja-JP" altLang="en-US" dirty="0"/>
              <a:t>が</a:t>
            </a:r>
            <a:r>
              <a:rPr kumimoji="1" lang="ja-JP" altLang="en-US" dirty="0"/>
              <a:t>前提　複数人は基本的に不可</a:t>
            </a:r>
            <a:endParaRPr kumimoji="1" lang="en-US" altLang="ja-JP" dirty="0"/>
          </a:p>
          <a:p>
            <a:r>
              <a:rPr lang="ja-JP" altLang="en-US" dirty="0"/>
              <a:t>ブラウザ</a:t>
            </a:r>
            <a:r>
              <a:rPr kumimoji="1" lang="ja-JP" altLang="en-US" dirty="0"/>
              <a:t>同士の通信のため</a:t>
            </a:r>
            <a:r>
              <a:rPr lang="ja-JP" altLang="en-US" dirty="0"/>
              <a:t>古い</a:t>
            </a:r>
            <a:r>
              <a:rPr lang="en-US" altLang="ja-JP" dirty="0"/>
              <a:t>PC</a:t>
            </a:r>
            <a:r>
              <a:rPr lang="ja-JP" altLang="en-US" dirty="0"/>
              <a:t>では動作が重くなる</a:t>
            </a:r>
            <a:endParaRPr lang="en-US" altLang="ja-JP" dirty="0"/>
          </a:p>
          <a:p>
            <a:endParaRPr lang="en-US" altLang="ja-JP" dirty="0"/>
          </a:p>
          <a:p>
            <a:pPr marL="0" indent="0" algn="ctr">
              <a:buNone/>
            </a:pPr>
            <a:r>
              <a:rPr kumimoji="1" lang="ja-JP" altLang="en-US" dirty="0">
                <a:solidFill>
                  <a:srgbClr val="FF0000"/>
                </a:solidFill>
              </a:rPr>
              <a:t>安定した既存技術でありサーバー不要という点で導入・維持しやすい？</a:t>
            </a:r>
            <a:endParaRPr kumimoji="1" lang="en-US" altLang="ja-JP" dirty="0">
              <a:solidFill>
                <a:srgbClr val="FF0000"/>
              </a:solidFill>
            </a:endParaRPr>
          </a:p>
        </p:txBody>
      </p:sp>
    </p:spTree>
    <p:extLst>
      <p:ext uri="{BB962C8B-B14F-4D97-AF65-F5344CB8AC3E}">
        <p14:creationId xmlns:p14="http://schemas.microsoft.com/office/powerpoint/2010/main" val="23883114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E9CE9E8-BB49-30C8-4EF8-655EAF778967}"/>
              </a:ext>
            </a:extLst>
          </p:cNvPr>
          <p:cNvSpPr>
            <a:spLocks noGrp="1"/>
          </p:cNvSpPr>
          <p:nvPr>
            <p:ph type="title"/>
          </p:nvPr>
        </p:nvSpPr>
        <p:spPr/>
        <p:txBody>
          <a:bodyPr/>
          <a:lstStyle/>
          <a:p>
            <a:r>
              <a:rPr lang="en-US" altLang="ja-JP" dirty="0"/>
              <a:t>WebRTC(Real-Time Communication)</a:t>
            </a:r>
            <a:endParaRPr kumimoji="1" lang="ja-JP" altLang="en-US" dirty="0"/>
          </a:p>
        </p:txBody>
      </p:sp>
      <p:sp>
        <p:nvSpPr>
          <p:cNvPr id="3" name="コンテンツ プレースホルダー 2">
            <a:extLst>
              <a:ext uri="{FF2B5EF4-FFF2-40B4-BE49-F238E27FC236}">
                <a16:creationId xmlns:a16="http://schemas.microsoft.com/office/drawing/2014/main" id="{8DD431F7-C256-E0D9-7BD6-22DA998733A1}"/>
              </a:ext>
            </a:extLst>
          </p:cNvPr>
          <p:cNvSpPr>
            <a:spLocks noGrp="1"/>
          </p:cNvSpPr>
          <p:nvPr>
            <p:ph idx="1"/>
          </p:nvPr>
        </p:nvSpPr>
        <p:spPr/>
        <p:txBody>
          <a:bodyPr>
            <a:normAutofit fontScale="85000" lnSpcReduction="10000"/>
          </a:bodyPr>
          <a:lstStyle/>
          <a:p>
            <a:r>
              <a:rPr lang="ja-JP" altLang="en-US" dirty="0"/>
              <a:t>サーバーが完全に不要なわけではない</a:t>
            </a:r>
            <a:endParaRPr lang="en-US" altLang="ja-JP" dirty="0"/>
          </a:p>
          <a:p>
            <a:pPr lvl="1"/>
            <a:r>
              <a:rPr lang="ja-JP" altLang="en-US" dirty="0"/>
              <a:t>①シグナリング：接続開始時には互いの接続方法を確認するためのサーバーが必要</a:t>
            </a:r>
            <a:endParaRPr lang="en-US" altLang="ja-JP" dirty="0"/>
          </a:p>
          <a:p>
            <a:pPr marL="457200" lvl="1" indent="0">
              <a:buNone/>
            </a:pPr>
            <a:r>
              <a:rPr lang="ja-JP" altLang="en-US" dirty="0"/>
              <a:t>（動画を渡すわけではないため低負荷，外部サービスを使用可能？）</a:t>
            </a:r>
            <a:endParaRPr lang="en-US" altLang="ja-JP" dirty="0"/>
          </a:p>
          <a:p>
            <a:pPr lvl="1"/>
            <a:r>
              <a:rPr lang="ja-JP" altLang="en-US" dirty="0"/>
              <a:t>②</a:t>
            </a:r>
            <a:r>
              <a:rPr lang="en-US" altLang="ja-JP" dirty="0"/>
              <a:t>STUN</a:t>
            </a:r>
            <a:r>
              <a:rPr lang="ja-JP" altLang="en-US" dirty="0"/>
              <a:t>・</a:t>
            </a:r>
            <a:r>
              <a:rPr lang="en-US" altLang="ja-JP" dirty="0"/>
              <a:t>TURN</a:t>
            </a:r>
            <a:r>
              <a:rPr lang="ja-JP" altLang="en-US" dirty="0"/>
              <a:t>：ローカルネットワーク内の</a:t>
            </a:r>
            <a:r>
              <a:rPr lang="en-US" altLang="ja-JP" dirty="0"/>
              <a:t>IP</a:t>
            </a:r>
            <a:r>
              <a:rPr lang="ja-JP" altLang="en-US" dirty="0"/>
              <a:t>アドレスを外部から見えるように変換する，大学のセキュリティを正常に通過する，大学のセキュリティ設定を変更する必要がある（</a:t>
            </a:r>
            <a:r>
              <a:rPr lang="en-US" altLang="ja-JP" dirty="0"/>
              <a:t>VPN</a:t>
            </a:r>
            <a:r>
              <a:rPr lang="ja-JP" altLang="en-US" dirty="0"/>
              <a:t>サービスによってはここも考慮してくれる）</a:t>
            </a:r>
            <a:endParaRPr lang="en-US" altLang="ja-JP" dirty="0"/>
          </a:p>
          <a:p>
            <a:pPr lvl="1"/>
            <a:endParaRPr lang="en-US" altLang="ja-JP" dirty="0"/>
          </a:p>
          <a:p>
            <a:pPr marL="457200" lvl="1" indent="0">
              <a:buNone/>
            </a:pPr>
            <a:r>
              <a:rPr lang="en-US" altLang="ja-JP" dirty="0">
                <a:hlinkClick r:id="rId2"/>
              </a:rPr>
              <a:t>https://jp.vcube.com/sdk/blog/webrtc-general-server-configuration-signaling-turn-sfu.html#section2</a:t>
            </a:r>
            <a:endParaRPr lang="en-US" altLang="ja-JP" dirty="0"/>
          </a:p>
          <a:p>
            <a:pPr marL="457200" lvl="1" indent="0">
              <a:buNone/>
            </a:pPr>
            <a:endParaRPr kumimoji="1" lang="en-US" altLang="ja-JP" dirty="0"/>
          </a:p>
          <a:p>
            <a:pPr marL="0" indent="0" algn="ctr">
              <a:buNone/>
            </a:pPr>
            <a:r>
              <a:rPr lang="ja-JP" altLang="en-US" dirty="0">
                <a:solidFill>
                  <a:srgbClr val="FF0000"/>
                </a:solidFill>
              </a:rPr>
              <a:t>課題</a:t>
            </a:r>
            <a:endParaRPr kumimoji="1" lang="en-US" altLang="ja-JP" dirty="0">
              <a:solidFill>
                <a:srgbClr val="FF0000"/>
              </a:solidFill>
            </a:endParaRPr>
          </a:p>
          <a:p>
            <a:pPr marL="0" indent="0">
              <a:buNone/>
            </a:pPr>
            <a:r>
              <a:rPr kumimoji="1" lang="ja-JP" altLang="en-US" dirty="0">
                <a:solidFill>
                  <a:srgbClr val="FF0000"/>
                </a:solidFill>
              </a:rPr>
              <a:t>①シグナリング　　→　通信する</a:t>
            </a:r>
            <a:r>
              <a:rPr kumimoji="1" lang="en-US" altLang="ja-JP" dirty="0">
                <a:solidFill>
                  <a:srgbClr val="FF0000"/>
                </a:solidFill>
              </a:rPr>
              <a:t>2</a:t>
            </a:r>
            <a:r>
              <a:rPr kumimoji="1" lang="ja-JP" altLang="en-US" dirty="0">
                <a:solidFill>
                  <a:srgbClr val="FF0000"/>
                </a:solidFill>
              </a:rPr>
              <a:t>台のうちどちらか</a:t>
            </a:r>
            <a:r>
              <a:rPr kumimoji="1" lang="en-US" altLang="ja-JP" dirty="0">
                <a:solidFill>
                  <a:srgbClr val="FF0000"/>
                </a:solidFill>
              </a:rPr>
              <a:t>(</a:t>
            </a:r>
            <a:r>
              <a:rPr kumimoji="1" lang="ja-JP" altLang="en-US" dirty="0">
                <a:solidFill>
                  <a:srgbClr val="FF0000"/>
                </a:solidFill>
              </a:rPr>
              <a:t>大学側</a:t>
            </a:r>
            <a:r>
              <a:rPr kumimoji="1" lang="en-US" altLang="ja-JP" dirty="0">
                <a:solidFill>
                  <a:srgbClr val="FF0000"/>
                </a:solidFill>
              </a:rPr>
              <a:t>)</a:t>
            </a:r>
            <a:r>
              <a:rPr kumimoji="1" lang="ja-JP" altLang="en-US" dirty="0">
                <a:solidFill>
                  <a:srgbClr val="FF0000"/>
                </a:solidFill>
              </a:rPr>
              <a:t>に実行させる</a:t>
            </a:r>
            <a:endParaRPr kumimoji="1" lang="en-US" altLang="ja-JP" dirty="0">
              <a:solidFill>
                <a:srgbClr val="FF0000"/>
              </a:solidFill>
            </a:endParaRPr>
          </a:p>
          <a:p>
            <a:pPr marL="0" indent="0">
              <a:buNone/>
            </a:pPr>
            <a:r>
              <a:rPr kumimoji="1" lang="ja-JP" altLang="en-US" dirty="0">
                <a:solidFill>
                  <a:srgbClr val="FF0000"/>
                </a:solidFill>
              </a:rPr>
              <a:t>②</a:t>
            </a:r>
            <a:r>
              <a:rPr lang="en-US" altLang="ja-JP" dirty="0">
                <a:solidFill>
                  <a:srgbClr val="FF0000"/>
                </a:solidFill>
              </a:rPr>
              <a:t> STUN</a:t>
            </a:r>
            <a:r>
              <a:rPr lang="ja-JP" altLang="en-US" dirty="0">
                <a:solidFill>
                  <a:srgbClr val="FF0000"/>
                </a:solidFill>
              </a:rPr>
              <a:t>・</a:t>
            </a:r>
            <a:r>
              <a:rPr lang="en-US" altLang="ja-JP" dirty="0">
                <a:solidFill>
                  <a:srgbClr val="FF0000"/>
                </a:solidFill>
              </a:rPr>
              <a:t>TURN </a:t>
            </a:r>
            <a:r>
              <a:rPr lang="ja-JP" altLang="en-US" dirty="0">
                <a:solidFill>
                  <a:srgbClr val="FF0000"/>
                </a:solidFill>
              </a:rPr>
              <a:t>　→　</a:t>
            </a:r>
            <a:r>
              <a:rPr lang="en-US" altLang="ja-JP" dirty="0" err="1">
                <a:solidFill>
                  <a:srgbClr val="FF0000"/>
                </a:solidFill>
              </a:rPr>
              <a:t>Tailscale</a:t>
            </a:r>
            <a:r>
              <a:rPr lang="ja-JP" altLang="en-US" dirty="0">
                <a:solidFill>
                  <a:srgbClr val="FF0000"/>
                </a:solidFill>
              </a:rPr>
              <a:t>を利用すれば自動的に行ってくれる？</a:t>
            </a:r>
            <a:endParaRPr kumimoji="1" lang="ja-JP" altLang="en-US" dirty="0">
              <a:solidFill>
                <a:srgbClr val="FF0000"/>
              </a:solidFill>
            </a:endParaRPr>
          </a:p>
        </p:txBody>
      </p:sp>
    </p:spTree>
    <p:extLst>
      <p:ext uri="{BB962C8B-B14F-4D97-AF65-F5344CB8AC3E}">
        <p14:creationId xmlns:p14="http://schemas.microsoft.com/office/powerpoint/2010/main" val="31849141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B5B58F-DE9A-B5B9-B8F8-7E3F986DE4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9B5CC1B-3F53-C091-2218-830A2CF09487}"/>
              </a:ext>
            </a:extLst>
          </p:cNvPr>
          <p:cNvSpPr>
            <a:spLocks noGrp="1"/>
          </p:cNvSpPr>
          <p:nvPr>
            <p:ph type="title"/>
          </p:nvPr>
        </p:nvSpPr>
        <p:spPr/>
        <p:txBody>
          <a:bodyPr/>
          <a:lstStyle/>
          <a:p>
            <a:r>
              <a:rPr kumimoji="1" lang="en-US" altLang="ja-JP" dirty="0"/>
              <a:t>WebRTC</a:t>
            </a:r>
            <a:r>
              <a:rPr kumimoji="1" lang="ja-JP" altLang="en-US" dirty="0"/>
              <a:t>を使った会議システム</a:t>
            </a:r>
          </a:p>
        </p:txBody>
      </p:sp>
      <p:sp>
        <p:nvSpPr>
          <p:cNvPr id="3" name="コンテンツ プレースホルダー 2">
            <a:extLst>
              <a:ext uri="{FF2B5EF4-FFF2-40B4-BE49-F238E27FC236}">
                <a16:creationId xmlns:a16="http://schemas.microsoft.com/office/drawing/2014/main" id="{8EEFECB3-986C-D378-976F-82A07DFD3DF8}"/>
              </a:ext>
            </a:extLst>
          </p:cNvPr>
          <p:cNvSpPr>
            <a:spLocks noGrp="1"/>
          </p:cNvSpPr>
          <p:nvPr>
            <p:ph idx="1"/>
          </p:nvPr>
        </p:nvSpPr>
        <p:spPr>
          <a:xfrm>
            <a:off x="838200" y="1825624"/>
            <a:ext cx="10515600" cy="4822825"/>
          </a:xfrm>
        </p:spPr>
        <p:txBody>
          <a:bodyPr>
            <a:normAutofit/>
          </a:bodyPr>
          <a:lstStyle/>
          <a:p>
            <a:r>
              <a:rPr lang="ja-JP" altLang="en-US" dirty="0"/>
              <a:t>無料のオンライン会議システム</a:t>
            </a:r>
            <a:endParaRPr lang="en-US" altLang="ja-JP" dirty="0"/>
          </a:p>
          <a:p>
            <a:pPr lvl="1"/>
            <a:r>
              <a:rPr lang="en-US" altLang="ja-JP" dirty="0" err="1"/>
              <a:t>jami</a:t>
            </a:r>
            <a:r>
              <a:rPr lang="ja-JP" altLang="en-US" dirty="0"/>
              <a:t>　</a:t>
            </a:r>
            <a:r>
              <a:rPr lang="en-US" altLang="ja-JP" dirty="0">
                <a:hlinkClick r:id="rId2"/>
              </a:rPr>
              <a:t>https://jami.net/ja/</a:t>
            </a:r>
            <a:endParaRPr lang="en-US" altLang="ja-JP" dirty="0"/>
          </a:p>
          <a:p>
            <a:pPr lvl="1"/>
            <a:r>
              <a:rPr lang="ja-JP" altLang="en-US" dirty="0"/>
              <a:t>いつまでサポートされるのか，開発が継続されるのか，信用できるのか？</a:t>
            </a:r>
            <a:endParaRPr lang="en-US" altLang="ja-JP" dirty="0"/>
          </a:p>
          <a:p>
            <a:pPr lvl="1"/>
            <a:r>
              <a:rPr lang="ja-JP" altLang="en-US" dirty="0"/>
              <a:t>①シグナリングは自動的に行われる</a:t>
            </a:r>
            <a:endParaRPr lang="en-US" altLang="ja-JP" dirty="0"/>
          </a:p>
          <a:p>
            <a:pPr marL="457200" lvl="1" indent="0">
              <a:buNone/>
            </a:pPr>
            <a:endParaRPr lang="en-US" altLang="ja-JP" dirty="0"/>
          </a:p>
          <a:p>
            <a:r>
              <a:rPr kumimoji="1" lang="ja-JP" altLang="en-US" dirty="0"/>
              <a:t>自分で実装</a:t>
            </a:r>
            <a:endParaRPr kumimoji="1" lang="en-US" altLang="ja-JP" dirty="0"/>
          </a:p>
          <a:p>
            <a:pPr lvl="1"/>
            <a:r>
              <a:rPr lang="ja-JP" altLang="en-US" dirty="0"/>
              <a:t>手間がかかる，機能が制限される</a:t>
            </a:r>
            <a:endParaRPr lang="en-US" altLang="ja-JP" dirty="0"/>
          </a:p>
          <a:p>
            <a:pPr lvl="1"/>
            <a:endParaRPr lang="en-US" altLang="ja-JP" dirty="0"/>
          </a:p>
          <a:p>
            <a:pPr lvl="1"/>
            <a:endParaRPr lang="en-US" altLang="ja-JP" dirty="0"/>
          </a:p>
          <a:p>
            <a:pPr marL="457200" lvl="1" indent="0" algn="ctr">
              <a:buNone/>
            </a:pPr>
            <a:r>
              <a:rPr lang="en-US" altLang="ja-JP" dirty="0">
                <a:solidFill>
                  <a:srgbClr val="FF0000"/>
                </a:solidFill>
              </a:rPr>
              <a:t>Gemini</a:t>
            </a:r>
            <a:r>
              <a:rPr lang="ja-JP" altLang="en-US" dirty="0">
                <a:solidFill>
                  <a:srgbClr val="FF0000"/>
                </a:solidFill>
              </a:rPr>
              <a:t>で映像のやり取りだけ行う機能を試しに実装しました</a:t>
            </a:r>
            <a:endParaRPr kumimoji="1" lang="en-US" altLang="ja-JP" dirty="0">
              <a:solidFill>
                <a:srgbClr val="FF0000"/>
              </a:solidFill>
            </a:endParaRPr>
          </a:p>
        </p:txBody>
      </p:sp>
    </p:spTree>
    <p:extLst>
      <p:ext uri="{BB962C8B-B14F-4D97-AF65-F5344CB8AC3E}">
        <p14:creationId xmlns:p14="http://schemas.microsoft.com/office/powerpoint/2010/main" val="32294132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F1240-0CCD-3FA7-7717-1E0EAA4BE3B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EE0BB51-DDC3-1639-FD6E-C35616711BD1}"/>
              </a:ext>
            </a:extLst>
          </p:cNvPr>
          <p:cNvSpPr>
            <a:spLocks noGrp="1"/>
          </p:cNvSpPr>
          <p:nvPr>
            <p:ph type="title"/>
          </p:nvPr>
        </p:nvSpPr>
        <p:spPr>
          <a:xfrm>
            <a:off x="838200" y="365125"/>
            <a:ext cx="11353800" cy="1325563"/>
          </a:xfrm>
        </p:spPr>
        <p:txBody>
          <a:bodyPr/>
          <a:lstStyle/>
          <a:p>
            <a:r>
              <a:rPr lang="ja-JP" altLang="en-US" dirty="0"/>
              <a:t>内部実装</a:t>
            </a:r>
            <a:endParaRPr kumimoji="1" lang="ja-JP" altLang="en-US" dirty="0"/>
          </a:p>
        </p:txBody>
      </p:sp>
      <p:sp>
        <p:nvSpPr>
          <p:cNvPr id="31" name="四角形: 角を丸くする 30">
            <a:extLst>
              <a:ext uri="{FF2B5EF4-FFF2-40B4-BE49-F238E27FC236}">
                <a16:creationId xmlns:a16="http://schemas.microsoft.com/office/drawing/2014/main" id="{04B17D90-5995-FEFA-7607-770B2DE44B4E}"/>
              </a:ext>
            </a:extLst>
          </p:cNvPr>
          <p:cNvSpPr/>
          <p:nvPr/>
        </p:nvSpPr>
        <p:spPr>
          <a:xfrm>
            <a:off x="125448" y="1725104"/>
            <a:ext cx="7708225" cy="3674985"/>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kumimoji="1" lang="ja-JP" altLang="en-US" dirty="0"/>
              <a:t>専用</a:t>
            </a:r>
            <a:r>
              <a:rPr kumimoji="1" lang="en-US" altLang="ja-JP" dirty="0"/>
              <a:t>PC</a:t>
            </a:r>
            <a:endParaRPr kumimoji="1" lang="ja-JP" altLang="en-US" dirty="0"/>
          </a:p>
        </p:txBody>
      </p:sp>
      <p:sp>
        <p:nvSpPr>
          <p:cNvPr id="36" name="四角形: 角を丸くする 35">
            <a:extLst>
              <a:ext uri="{FF2B5EF4-FFF2-40B4-BE49-F238E27FC236}">
                <a16:creationId xmlns:a16="http://schemas.microsoft.com/office/drawing/2014/main" id="{6802EC2B-ED0D-9BDE-DA3B-2AD35AB86818}"/>
              </a:ext>
            </a:extLst>
          </p:cNvPr>
          <p:cNvSpPr/>
          <p:nvPr/>
        </p:nvSpPr>
        <p:spPr>
          <a:xfrm>
            <a:off x="9252205" y="1731328"/>
            <a:ext cx="2899187" cy="3670082"/>
          </a:xfrm>
          <a:prstGeom prst="roundRect">
            <a:avLst/>
          </a:prstGeom>
        </p:spPr>
        <p:style>
          <a:lnRef idx="2">
            <a:schemeClr val="accent1"/>
          </a:lnRef>
          <a:fillRef idx="1">
            <a:schemeClr val="lt1"/>
          </a:fillRef>
          <a:effectRef idx="0">
            <a:schemeClr val="accent1"/>
          </a:effectRef>
          <a:fontRef idx="minor">
            <a:schemeClr val="dk1"/>
          </a:fontRef>
        </p:style>
        <p:txBody>
          <a:bodyPr rtlCol="0" anchor="b"/>
          <a:lstStyle/>
          <a:p>
            <a:pPr algn="ctr"/>
            <a:r>
              <a:rPr kumimoji="1" lang="ja-JP" altLang="en-US" dirty="0"/>
              <a:t>専用</a:t>
            </a:r>
            <a:r>
              <a:rPr kumimoji="1" lang="en-US" altLang="ja-JP" dirty="0"/>
              <a:t>PC</a:t>
            </a:r>
            <a:endParaRPr kumimoji="1" lang="ja-JP" altLang="en-US" dirty="0"/>
          </a:p>
        </p:txBody>
      </p:sp>
      <p:cxnSp>
        <p:nvCxnSpPr>
          <p:cNvPr id="40" name="直線矢印コネクタ 39">
            <a:extLst>
              <a:ext uri="{FF2B5EF4-FFF2-40B4-BE49-F238E27FC236}">
                <a16:creationId xmlns:a16="http://schemas.microsoft.com/office/drawing/2014/main" id="{87AF71CB-89C5-C6FA-AF97-A078342BE291}"/>
              </a:ext>
            </a:extLst>
          </p:cNvPr>
          <p:cNvCxnSpPr>
            <a:cxnSpLocks/>
            <a:stCxn id="28" idx="1"/>
            <a:endCxn id="32" idx="3"/>
          </p:cNvCxnSpPr>
          <p:nvPr/>
        </p:nvCxnSpPr>
        <p:spPr>
          <a:xfrm flipH="1">
            <a:off x="7499322" y="4088840"/>
            <a:ext cx="1792028" cy="0"/>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77" name="四角形: 角を丸くする 76">
            <a:extLst>
              <a:ext uri="{FF2B5EF4-FFF2-40B4-BE49-F238E27FC236}">
                <a16:creationId xmlns:a16="http://schemas.microsoft.com/office/drawing/2014/main" id="{58DD2949-BA10-3A51-D571-6E38FDE00773}"/>
              </a:ext>
            </a:extLst>
          </p:cNvPr>
          <p:cNvSpPr/>
          <p:nvPr/>
        </p:nvSpPr>
        <p:spPr>
          <a:xfrm>
            <a:off x="7908139" y="2826877"/>
            <a:ext cx="1219669" cy="1123980"/>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en-US" altLang="ja-JP" sz="1600" dirty="0" err="1"/>
              <a:t>Tailscale</a:t>
            </a:r>
            <a:r>
              <a:rPr kumimoji="1" lang="ja-JP" altLang="en-US" sz="1600" dirty="0"/>
              <a:t> </a:t>
            </a:r>
            <a:r>
              <a:rPr kumimoji="1" lang="en-US" altLang="ja-JP" sz="1600" dirty="0"/>
              <a:t>VPN</a:t>
            </a:r>
          </a:p>
          <a:p>
            <a:pPr algn="ctr"/>
            <a:r>
              <a:rPr kumimoji="1" lang="ja-JP" altLang="en-US" sz="1600" dirty="0"/>
              <a:t>による仮想</a:t>
            </a:r>
            <a:r>
              <a:rPr kumimoji="1" lang="en-US" altLang="ja-JP" sz="1600" dirty="0"/>
              <a:t>LAN</a:t>
            </a:r>
            <a:endParaRPr kumimoji="1" lang="ja-JP" altLang="en-US" sz="1600" dirty="0"/>
          </a:p>
        </p:txBody>
      </p:sp>
      <p:sp>
        <p:nvSpPr>
          <p:cNvPr id="9" name="四角形: 角を丸くする 8">
            <a:extLst>
              <a:ext uri="{FF2B5EF4-FFF2-40B4-BE49-F238E27FC236}">
                <a16:creationId xmlns:a16="http://schemas.microsoft.com/office/drawing/2014/main" id="{5CB26D93-23F3-D9E7-2869-266CBC616B2E}"/>
              </a:ext>
            </a:extLst>
          </p:cNvPr>
          <p:cNvSpPr/>
          <p:nvPr/>
        </p:nvSpPr>
        <p:spPr>
          <a:xfrm>
            <a:off x="1453811" y="1457910"/>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ja-JP" altLang="en-US" dirty="0"/>
              <a:t>評価側（大学）</a:t>
            </a:r>
            <a:endParaRPr kumimoji="1" lang="ja-JP" altLang="en-US" dirty="0"/>
          </a:p>
        </p:txBody>
      </p:sp>
      <p:sp>
        <p:nvSpPr>
          <p:cNvPr id="18" name="四角形: 角を丸くする 17">
            <a:extLst>
              <a:ext uri="{FF2B5EF4-FFF2-40B4-BE49-F238E27FC236}">
                <a16:creationId xmlns:a16="http://schemas.microsoft.com/office/drawing/2014/main" id="{6B06C58B-C3EF-2F92-A1AC-4801BA197894}"/>
              </a:ext>
            </a:extLst>
          </p:cNvPr>
          <p:cNvSpPr/>
          <p:nvPr/>
        </p:nvSpPr>
        <p:spPr>
          <a:xfrm>
            <a:off x="9768621" y="1506127"/>
            <a:ext cx="1892704" cy="542724"/>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dirty="0"/>
              <a:t>相談側</a:t>
            </a:r>
          </a:p>
        </p:txBody>
      </p:sp>
      <p:pic>
        <p:nvPicPr>
          <p:cNvPr id="28" name="図 27">
            <a:extLst>
              <a:ext uri="{FF2B5EF4-FFF2-40B4-BE49-F238E27FC236}">
                <a16:creationId xmlns:a16="http://schemas.microsoft.com/office/drawing/2014/main" id="{0EB09089-C30A-AE1B-6DBF-AC23ADB533BB}"/>
              </a:ext>
            </a:extLst>
          </p:cNvPr>
          <p:cNvPicPr>
            <a:picLocks noChangeAspect="1"/>
          </p:cNvPicPr>
          <p:nvPr/>
        </p:nvPicPr>
        <p:blipFill>
          <a:blip r:embed="rId2"/>
          <a:srcRect l="13187" t="10285" r="5246" b="10995"/>
          <a:stretch>
            <a:fillRect/>
          </a:stretch>
        </p:blipFill>
        <p:spPr>
          <a:xfrm>
            <a:off x="9291350" y="3716629"/>
            <a:ext cx="732793" cy="744422"/>
          </a:xfrm>
          <a:prstGeom prst="rect">
            <a:avLst/>
          </a:prstGeom>
        </p:spPr>
      </p:pic>
      <p:pic>
        <p:nvPicPr>
          <p:cNvPr id="32" name="図 31">
            <a:extLst>
              <a:ext uri="{FF2B5EF4-FFF2-40B4-BE49-F238E27FC236}">
                <a16:creationId xmlns:a16="http://schemas.microsoft.com/office/drawing/2014/main" id="{027C7E70-51AA-61CC-6CAB-D5A06D808AD7}"/>
              </a:ext>
            </a:extLst>
          </p:cNvPr>
          <p:cNvPicPr>
            <a:picLocks noChangeAspect="1"/>
          </p:cNvPicPr>
          <p:nvPr/>
        </p:nvPicPr>
        <p:blipFill>
          <a:blip r:embed="rId2"/>
          <a:srcRect l="13187" t="10285" r="5246" b="10995"/>
          <a:stretch>
            <a:fillRect/>
          </a:stretch>
        </p:blipFill>
        <p:spPr>
          <a:xfrm>
            <a:off x="6766529" y="3716629"/>
            <a:ext cx="732793" cy="744422"/>
          </a:xfrm>
          <a:prstGeom prst="rect">
            <a:avLst/>
          </a:prstGeom>
        </p:spPr>
      </p:pic>
      <p:sp>
        <p:nvSpPr>
          <p:cNvPr id="35" name="四角形: 角を丸くする 34">
            <a:extLst>
              <a:ext uri="{FF2B5EF4-FFF2-40B4-BE49-F238E27FC236}">
                <a16:creationId xmlns:a16="http://schemas.microsoft.com/office/drawing/2014/main" id="{E81135C7-B4EF-BE61-5130-48CA6C873F15}"/>
              </a:ext>
            </a:extLst>
          </p:cNvPr>
          <p:cNvSpPr/>
          <p:nvPr/>
        </p:nvSpPr>
        <p:spPr>
          <a:xfrm>
            <a:off x="2989680" y="2274846"/>
            <a:ext cx="4387818" cy="965300"/>
          </a:xfrm>
          <a:prstGeom prst="roundRect">
            <a:avLst/>
          </a:prstGeom>
        </p:spPr>
        <p:style>
          <a:lnRef idx="2">
            <a:schemeClr val="accent1"/>
          </a:lnRef>
          <a:fillRef idx="1">
            <a:schemeClr val="lt1"/>
          </a:fillRef>
          <a:effectRef idx="0">
            <a:schemeClr val="accent1"/>
          </a:effectRef>
          <a:fontRef idx="minor">
            <a:schemeClr val="dk1"/>
          </a:fontRef>
        </p:style>
        <p:txBody>
          <a:bodyPr rtlCol="0" anchor="ctr"/>
          <a:lstStyle/>
          <a:p>
            <a:r>
              <a:rPr kumimoji="1" lang="ja-JP" altLang="en-US" dirty="0"/>
              <a:t>シグナリング・</a:t>
            </a:r>
            <a:r>
              <a:rPr kumimoji="1" lang="en-US" altLang="ja-JP" dirty="0"/>
              <a:t>Web</a:t>
            </a:r>
            <a:r>
              <a:rPr kumimoji="1" lang="ja-JP" altLang="en-US" dirty="0"/>
              <a:t>サーバー</a:t>
            </a:r>
            <a:endParaRPr kumimoji="1" lang="en-US" altLang="ja-JP" dirty="0"/>
          </a:p>
          <a:p>
            <a:r>
              <a:rPr kumimoji="1" lang="ja-JP" altLang="en-US" dirty="0"/>
              <a:t>（バックグラウンドで動かしておく）</a:t>
            </a:r>
          </a:p>
        </p:txBody>
      </p:sp>
      <p:sp>
        <p:nvSpPr>
          <p:cNvPr id="41" name="四角形: 角を丸くする 40">
            <a:extLst>
              <a:ext uri="{FF2B5EF4-FFF2-40B4-BE49-F238E27FC236}">
                <a16:creationId xmlns:a16="http://schemas.microsoft.com/office/drawing/2014/main" id="{B3F195ED-B1B5-78ED-B99A-43C1731A2285}"/>
              </a:ext>
            </a:extLst>
          </p:cNvPr>
          <p:cNvSpPr/>
          <p:nvPr/>
        </p:nvSpPr>
        <p:spPr>
          <a:xfrm>
            <a:off x="729399" y="3289022"/>
            <a:ext cx="1633591" cy="1583291"/>
          </a:xfrm>
          <a:prstGeom prst="roundRect">
            <a:avLst/>
          </a:prstGeom>
        </p:spPr>
        <p:style>
          <a:lnRef idx="2">
            <a:schemeClr val="accent1"/>
          </a:lnRef>
          <a:fillRef idx="1">
            <a:schemeClr val="lt1"/>
          </a:fillRef>
          <a:effectRef idx="0">
            <a:schemeClr val="accent1"/>
          </a:effectRef>
          <a:fontRef idx="minor">
            <a:schemeClr val="dk1"/>
          </a:fontRef>
        </p:style>
        <p:txBody>
          <a:bodyPr rtlCol="0" anchor="t"/>
          <a:lstStyle/>
          <a:p>
            <a:pPr algn="ctr"/>
            <a:r>
              <a:rPr kumimoji="1" lang="ja-JP" altLang="en-US" dirty="0"/>
              <a:t>ブラウザ</a:t>
            </a:r>
            <a:endParaRPr kumimoji="1" lang="en-US" altLang="ja-JP" dirty="0"/>
          </a:p>
          <a:p>
            <a:pPr algn="ctr"/>
            <a:endParaRPr lang="en-US" altLang="ja-JP" dirty="0"/>
          </a:p>
          <a:p>
            <a:pPr algn="ctr"/>
            <a:endParaRPr kumimoji="1" lang="en-US" altLang="ja-JP" dirty="0"/>
          </a:p>
          <a:p>
            <a:pPr algn="ctr"/>
            <a:endParaRPr lang="en-US" altLang="ja-JP" dirty="0"/>
          </a:p>
          <a:p>
            <a:pPr algn="ctr"/>
            <a:r>
              <a:rPr kumimoji="1" lang="ja-JP" altLang="en-US" dirty="0"/>
              <a:t>自分　相手</a:t>
            </a:r>
          </a:p>
        </p:txBody>
      </p:sp>
      <p:sp>
        <p:nvSpPr>
          <p:cNvPr id="4" name="四角形: 角を丸くする 3">
            <a:extLst>
              <a:ext uri="{FF2B5EF4-FFF2-40B4-BE49-F238E27FC236}">
                <a16:creationId xmlns:a16="http://schemas.microsoft.com/office/drawing/2014/main" id="{FEB05E93-9AA1-EB18-85D4-2311E9EDA88B}"/>
              </a:ext>
            </a:extLst>
          </p:cNvPr>
          <p:cNvSpPr/>
          <p:nvPr/>
        </p:nvSpPr>
        <p:spPr>
          <a:xfrm>
            <a:off x="10432960" y="3280851"/>
            <a:ext cx="1633591" cy="1583291"/>
          </a:xfrm>
          <a:prstGeom prst="roundRect">
            <a:avLst/>
          </a:prstGeom>
        </p:spPr>
        <p:style>
          <a:lnRef idx="2">
            <a:schemeClr val="accent1"/>
          </a:lnRef>
          <a:fillRef idx="1">
            <a:schemeClr val="lt1"/>
          </a:fillRef>
          <a:effectRef idx="0">
            <a:schemeClr val="accent1"/>
          </a:effectRef>
          <a:fontRef idx="minor">
            <a:schemeClr val="dk1"/>
          </a:fontRef>
        </p:style>
        <p:txBody>
          <a:bodyPr rtlCol="0" anchor="t"/>
          <a:lstStyle/>
          <a:p>
            <a:pPr algn="ctr"/>
            <a:r>
              <a:rPr kumimoji="1" lang="ja-JP" altLang="en-US" dirty="0"/>
              <a:t>ブラウザ</a:t>
            </a:r>
            <a:endParaRPr kumimoji="1" lang="en-US" altLang="ja-JP" dirty="0"/>
          </a:p>
          <a:p>
            <a:pPr algn="ctr"/>
            <a:endParaRPr lang="en-US" altLang="ja-JP" dirty="0"/>
          </a:p>
          <a:p>
            <a:pPr algn="ctr"/>
            <a:endParaRPr kumimoji="1" lang="en-US" altLang="ja-JP" dirty="0"/>
          </a:p>
          <a:p>
            <a:pPr algn="ctr"/>
            <a:endParaRPr lang="en-US" altLang="ja-JP" dirty="0"/>
          </a:p>
          <a:p>
            <a:pPr algn="ctr"/>
            <a:r>
              <a:rPr kumimoji="1" lang="ja-JP" altLang="en-US" dirty="0"/>
              <a:t>自分　相手</a:t>
            </a:r>
          </a:p>
        </p:txBody>
      </p:sp>
      <p:grpSp>
        <p:nvGrpSpPr>
          <p:cNvPr id="7" name="グループ化 6">
            <a:extLst>
              <a:ext uri="{FF2B5EF4-FFF2-40B4-BE49-F238E27FC236}">
                <a16:creationId xmlns:a16="http://schemas.microsoft.com/office/drawing/2014/main" id="{97F2AB93-36EA-503F-0ABB-F1608CB4B5E5}"/>
              </a:ext>
            </a:extLst>
          </p:cNvPr>
          <p:cNvGrpSpPr/>
          <p:nvPr/>
        </p:nvGrpSpPr>
        <p:grpSpPr>
          <a:xfrm>
            <a:off x="11255604" y="3988390"/>
            <a:ext cx="540631" cy="377576"/>
            <a:chOff x="9985866" y="2582587"/>
            <a:chExt cx="382834" cy="267371"/>
          </a:xfrm>
        </p:grpSpPr>
        <p:sp>
          <p:nvSpPr>
            <p:cNvPr id="5" name="正方形/長方形 4">
              <a:extLst>
                <a:ext uri="{FF2B5EF4-FFF2-40B4-BE49-F238E27FC236}">
                  <a16:creationId xmlns:a16="http://schemas.microsoft.com/office/drawing/2014/main" id="{8D258F73-6EAF-1D71-D777-4D0A76639DC5}"/>
                </a:ext>
              </a:extLst>
            </p:cNvPr>
            <p:cNvSpPr/>
            <p:nvPr/>
          </p:nvSpPr>
          <p:spPr>
            <a:xfrm>
              <a:off x="9985866" y="2582587"/>
              <a:ext cx="382834" cy="267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3EB5908-A0F6-BD75-74D3-A1C4E9B25FC2}"/>
                </a:ext>
              </a:extLst>
            </p:cNvPr>
            <p:cNvSpPr/>
            <p:nvPr/>
          </p:nvSpPr>
          <p:spPr>
            <a:xfrm>
              <a:off x="9985866" y="2586250"/>
              <a:ext cx="193208" cy="13493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1D6712EF-09F2-0D06-B72A-C14FBFD22A5C}"/>
              </a:ext>
            </a:extLst>
          </p:cNvPr>
          <p:cNvGrpSpPr/>
          <p:nvPr/>
        </p:nvGrpSpPr>
        <p:grpSpPr>
          <a:xfrm>
            <a:off x="10630131" y="3988390"/>
            <a:ext cx="540631" cy="377576"/>
            <a:chOff x="9985866" y="2582587"/>
            <a:chExt cx="382834" cy="267371"/>
          </a:xfrm>
        </p:grpSpPr>
        <p:sp>
          <p:nvSpPr>
            <p:cNvPr id="10" name="正方形/長方形 9">
              <a:extLst>
                <a:ext uri="{FF2B5EF4-FFF2-40B4-BE49-F238E27FC236}">
                  <a16:creationId xmlns:a16="http://schemas.microsoft.com/office/drawing/2014/main" id="{7102AD42-0A9C-2AE9-6EA4-118D3BC8B3C9}"/>
                </a:ext>
              </a:extLst>
            </p:cNvPr>
            <p:cNvSpPr/>
            <p:nvPr/>
          </p:nvSpPr>
          <p:spPr>
            <a:xfrm>
              <a:off x="9985866" y="2582587"/>
              <a:ext cx="382834" cy="267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正方形/長方形 10">
              <a:extLst>
                <a:ext uri="{FF2B5EF4-FFF2-40B4-BE49-F238E27FC236}">
                  <a16:creationId xmlns:a16="http://schemas.microsoft.com/office/drawing/2014/main" id="{7467BCC9-3D12-7C03-DE32-51E17516A25F}"/>
                </a:ext>
              </a:extLst>
            </p:cNvPr>
            <p:cNvSpPr/>
            <p:nvPr/>
          </p:nvSpPr>
          <p:spPr>
            <a:xfrm>
              <a:off x="9985866" y="2586250"/>
              <a:ext cx="193208" cy="134936"/>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7C0F2DB1-0E86-B38F-B163-122EEA7FF430}"/>
              </a:ext>
            </a:extLst>
          </p:cNvPr>
          <p:cNvGrpSpPr/>
          <p:nvPr/>
        </p:nvGrpSpPr>
        <p:grpSpPr>
          <a:xfrm>
            <a:off x="1577284" y="3858577"/>
            <a:ext cx="540631" cy="377576"/>
            <a:chOff x="9985866" y="2582587"/>
            <a:chExt cx="382834" cy="267371"/>
          </a:xfrm>
        </p:grpSpPr>
        <p:sp>
          <p:nvSpPr>
            <p:cNvPr id="13" name="正方形/長方形 12">
              <a:extLst>
                <a:ext uri="{FF2B5EF4-FFF2-40B4-BE49-F238E27FC236}">
                  <a16:creationId xmlns:a16="http://schemas.microsoft.com/office/drawing/2014/main" id="{1F4AD4AD-D785-67AC-30AC-1F6FA3DC1502}"/>
                </a:ext>
              </a:extLst>
            </p:cNvPr>
            <p:cNvSpPr/>
            <p:nvPr/>
          </p:nvSpPr>
          <p:spPr>
            <a:xfrm>
              <a:off x="9985866" y="2582587"/>
              <a:ext cx="382834" cy="267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FE2551D1-FB1F-FBEE-0834-E03A6B52F150}"/>
                </a:ext>
              </a:extLst>
            </p:cNvPr>
            <p:cNvSpPr/>
            <p:nvPr/>
          </p:nvSpPr>
          <p:spPr>
            <a:xfrm>
              <a:off x="9985866" y="2586250"/>
              <a:ext cx="193208" cy="134936"/>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5" name="グループ化 14">
            <a:extLst>
              <a:ext uri="{FF2B5EF4-FFF2-40B4-BE49-F238E27FC236}">
                <a16:creationId xmlns:a16="http://schemas.microsoft.com/office/drawing/2014/main" id="{229EA825-7EC3-23F8-DB53-760D56F34B17}"/>
              </a:ext>
            </a:extLst>
          </p:cNvPr>
          <p:cNvGrpSpPr/>
          <p:nvPr/>
        </p:nvGrpSpPr>
        <p:grpSpPr>
          <a:xfrm>
            <a:off x="951811" y="3858577"/>
            <a:ext cx="540631" cy="377576"/>
            <a:chOff x="9985866" y="2582587"/>
            <a:chExt cx="382834" cy="267371"/>
          </a:xfrm>
        </p:grpSpPr>
        <p:sp>
          <p:nvSpPr>
            <p:cNvPr id="16" name="正方形/長方形 15">
              <a:extLst>
                <a:ext uri="{FF2B5EF4-FFF2-40B4-BE49-F238E27FC236}">
                  <a16:creationId xmlns:a16="http://schemas.microsoft.com/office/drawing/2014/main" id="{FDCD1748-4398-8162-52D6-EBB3EC619412}"/>
                </a:ext>
              </a:extLst>
            </p:cNvPr>
            <p:cNvSpPr/>
            <p:nvPr/>
          </p:nvSpPr>
          <p:spPr>
            <a:xfrm>
              <a:off x="9985866" y="2582587"/>
              <a:ext cx="382834" cy="267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正方形/長方形 16">
              <a:extLst>
                <a:ext uri="{FF2B5EF4-FFF2-40B4-BE49-F238E27FC236}">
                  <a16:creationId xmlns:a16="http://schemas.microsoft.com/office/drawing/2014/main" id="{652B57C2-D474-7E9D-E231-A6D18B4C4215}"/>
                </a:ext>
              </a:extLst>
            </p:cNvPr>
            <p:cNvSpPr/>
            <p:nvPr/>
          </p:nvSpPr>
          <p:spPr>
            <a:xfrm>
              <a:off x="9985866" y="2586250"/>
              <a:ext cx="193208" cy="13493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0" name="直線矢印コネクタ 19">
            <a:extLst>
              <a:ext uri="{FF2B5EF4-FFF2-40B4-BE49-F238E27FC236}">
                <a16:creationId xmlns:a16="http://schemas.microsoft.com/office/drawing/2014/main" id="{FE6E4770-4792-32AC-3F07-C8B49340DCEA}"/>
              </a:ext>
            </a:extLst>
          </p:cNvPr>
          <p:cNvCxnSpPr>
            <a:cxnSpLocks/>
            <a:stCxn id="32" idx="1"/>
            <a:endCxn id="41" idx="3"/>
          </p:cNvCxnSpPr>
          <p:nvPr/>
        </p:nvCxnSpPr>
        <p:spPr>
          <a:xfrm flipH="1" flipV="1">
            <a:off x="2362990" y="4080668"/>
            <a:ext cx="4403539" cy="8172"/>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581EECF8-C529-15F2-05DD-9624A52DE436}"/>
              </a:ext>
            </a:extLst>
          </p:cNvPr>
          <p:cNvCxnSpPr>
            <a:cxnSpLocks/>
            <a:stCxn id="28" idx="3"/>
            <a:endCxn id="4" idx="1"/>
          </p:cNvCxnSpPr>
          <p:nvPr/>
        </p:nvCxnSpPr>
        <p:spPr>
          <a:xfrm flipV="1">
            <a:off x="10024143" y="4072497"/>
            <a:ext cx="408817" cy="16343"/>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DA44337B-3B26-14F9-7988-D314DE43FC3C}"/>
              </a:ext>
            </a:extLst>
          </p:cNvPr>
          <p:cNvCxnSpPr>
            <a:cxnSpLocks/>
            <a:stCxn id="32" idx="1"/>
            <a:endCxn id="35" idx="2"/>
          </p:cNvCxnSpPr>
          <p:nvPr/>
        </p:nvCxnSpPr>
        <p:spPr>
          <a:xfrm flipH="1" flipV="1">
            <a:off x="5183589" y="3240146"/>
            <a:ext cx="1582940" cy="848694"/>
          </a:xfrm>
          <a:prstGeom prst="straightConnector1">
            <a:avLst/>
          </a:prstGeom>
          <a:ln>
            <a:headEnd type="triangl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42" name="直線矢印コネクタ 41">
            <a:extLst>
              <a:ext uri="{FF2B5EF4-FFF2-40B4-BE49-F238E27FC236}">
                <a16:creationId xmlns:a16="http://schemas.microsoft.com/office/drawing/2014/main" id="{62C40609-072C-6DE3-7D13-386EE537C056}"/>
              </a:ext>
            </a:extLst>
          </p:cNvPr>
          <p:cNvCxnSpPr>
            <a:cxnSpLocks/>
            <a:stCxn id="35" idx="2"/>
            <a:endCxn id="41" idx="3"/>
          </p:cNvCxnSpPr>
          <p:nvPr/>
        </p:nvCxnSpPr>
        <p:spPr>
          <a:xfrm flipH="1">
            <a:off x="2362990" y="3240146"/>
            <a:ext cx="2820599" cy="840522"/>
          </a:xfrm>
          <a:prstGeom prst="straightConnector1">
            <a:avLst/>
          </a:prstGeom>
          <a:ln>
            <a:headEnd type="triangle" w="med" len="med"/>
            <a:tailEnd type="triangle" w="med" len="med"/>
          </a:ln>
        </p:spPr>
        <p:style>
          <a:lnRef idx="2">
            <a:schemeClr val="accent2"/>
          </a:lnRef>
          <a:fillRef idx="0">
            <a:schemeClr val="accent2"/>
          </a:fillRef>
          <a:effectRef idx="1">
            <a:schemeClr val="accent2"/>
          </a:effectRef>
          <a:fontRef idx="minor">
            <a:schemeClr val="tx1"/>
          </a:fontRef>
        </p:style>
      </p:cxnSp>
      <p:sp>
        <p:nvSpPr>
          <p:cNvPr id="66" name="テキスト ボックス 65">
            <a:extLst>
              <a:ext uri="{FF2B5EF4-FFF2-40B4-BE49-F238E27FC236}">
                <a16:creationId xmlns:a16="http://schemas.microsoft.com/office/drawing/2014/main" id="{B9A972F9-59D9-B97E-E351-F9490A511D12}"/>
              </a:ext>
            </a:extLst>
          </p:cNvPr>
          <p:cNvSpPr txBox="1"/>
          <p:nvPr/>
        </p:nvSpPr>
        <p:spPr>
          <a:xfrm>
            <a:off x="0" y="5798878"/>
            <a:ext cx="11941102" cy="923330"/>
          </a:xfrm>
          <a:prstGeom prst="rect">
            <a:avLst/>
          </a:prstGeom>
          <a:noFill/>
        </p:spPr>
        <p:txBody>
          <a:bodyPr wrap="square">
            <a:spAutoFit/>
          </a:bodyPr>
          <a:lstStyle/>
          <a:p>
            <a:pPr marL="457200" lvl="1" indent="0" algn="ctr">
              <a:buNone/>
            </a:pPr>
            <a:r>
              <a:rPr lang="ja-JP" altLang="en-US" dirty="0"/>
              <a:t>シグナリング・</a:t>
            </a:r>
            <a:r>
              <a:rPr lang="en-US" altLang="ja-JP" dirty="0"/>
              <a:t>Web</a:t>
            </a:r>
            <a:r>
              <a:rPr kumimoji="1" lang="ja-JP" altLang="en-US" dirty="0"/>
              <a:t>サーバーを評価側の</a:t>
            </a:r>
            <a:r>
              <a:rPr kumimoji="1" lang="en-US" altLang="ja-JP" dirty="0"/>
              <a:t>PC</a:t>
            </a:r>
            <a:r>
              <a:rPr kumimoji="1" lang="ja-JP" altLang="en-US" dirty="0"/>
              <a:t>に兼任させて，</a:t>
            </a:r>
            <a:r>
              <a:rPr kumimoji="1" lang="en-US" altLang="ja-JP" dirty="0"/>
              <a:t>PC</a:t>
            </a:r>
            <a:r>
              <a:rPr kumimoji="1" lang="ja-JP" altLang="en-US" dirty="0"/>
              <a:t>が</a:t>
            </a:r>
            <a:r>
              <a:rPr kumimoji="1" lang="en-US" altLang="ja-JP" dirty="0"/>
              <a:t>1</a:t>
            </a:r>
            <a:r>
              <a:rPr kumimoji="1" lang="ja-JP" altLang="en-US" dirty="0"/>
              <a:t>対</a:t>
            </a:r>
            <a:r>
              <a:rPr kumimoji="1" lang="en-US" altLang="ja-JP" dirty="0"/>
              <a:t>1</a:t>
            </a:r>
            <a:r>
              <a:rPr kumimoji="1" lang="ja-JP" altLang="en-US" dirty="0"/>
              <a:t>になるように実装</a:t>
            </a:r>
            <a:endParaRPr kumimoji="1" lang="en-US" altLang="ja-JP" dirty="0"/>
          </a:p>
          <a:p>
            <a:pPr lvl="1" algn="ctr"/>
            <a:r>
              <a:rPr kumimoji="1" lang="ja-JP" altLang="en-US" dirty="0"/>
              <a:t>（相談側は</a:t>
            </a:r>
            <a:r>
              <a:rPr kumimoji="1" lang="en-US" altLang="ja-JP" dirty="0"/>
              <a:t>Web</a:t>
            </a:r>
            <a:r>
              <a:rPr kumimoji="1" lang="ja-JP" altLang="en-US" dirty="0"/>
              <a:t>ブラウザでページ</a:t>
            </a:r>
            <a:r>
              <a:rPr kumimoji="1" lang="en-US" altLang="ja-JP" dirty="0"/>
              <a:t>(</a:t>
            </a:r>
            <a:r>
              <a:rPr lang="en-US" altLang="ja-JP" dirty="0"/>
              <a:t>http://</a:t>
            </a:r>
            <a:r>
              <a:rPr lang="ja-JP" altLang="en-US" dirty="0"/>
              <a:t>100.98.229.112:3000</a:t>
            </a:r>
            <a:r>
              <a:rPr kumimoji="1" lang="en-US" altLang="ja-JP" dirty="0"/>
              <a:t>)</a:t>
            </a:r>
            <a:r>
              <a:rPr kumimoji="1" lang="ja-JP" altLang="en-US" dirty="0"/>
              <a:t>を開くだけ</a:t>
            </a:r>
            <a:r>
              <a:rPr kumimoji="1" lang="en-US" altLang="ja-JP" dirty="0"/>
              <a:t>)(</a:t>
            </a:r>
            <a:r>
              <a:rPr kumimoji="1" lang="ja-JP" altLang="en-US" dirty="0"/>
              <a:t>証明書がないためスマホは不可）</a:t>
            </a:r>
            <a:endParaRPr kumimoji="1" lang="en-US" altLang="ja-JP" dirty="0"/>
          </a:p>
          <a:p>
            <a:pPr marL="457200" lvl="1" indent="0" algn="ctr">
              <a:buNone/>
            </a:pPr>
            <a:r>
              <a:rPr lang="ja-JP" altLang="en-US" dirty="0"/>
              <a:t>１．　　　シグナリングによる通信の確保　　　　　　　２．　　　暗号化した映像のやり取り</a:t>
            </a:r>
            <a:endParaRPr kumimoji="1" lang="en-US" altLang="ja-JP" dirty="0"/>
          </a:p>
        </p:txBody>
      </p:sp>
      <p:cxnSp>
        <p:nvCxnSpPr>
          <p:cNvPr id="68" name="直線矢印コネクタ 67">
            <a:extLst>
              <a:ext uri="{FF2B5EF4-FFF2-40B4-BE49-F238E27FC236}">
                <a16:creationId xmlns:a16="http://schemas.microsoft.com/office/drawing/2014/main" id="{5AF756B4-7F9B-02D6-2E4A-44538A24E01A}"/>
              </a:ext>
            </a:extLst>
          </p:cNvPr>
          <p:cNvCxnSpPr>
            <a:cxnSpLocks/>
          </p:cNvCxnSpPr>
          <p:nvPr/>
        </p:nvCxnSpPr>
        <p:spPr>
          <a:xfrm flipH="1">
            <a:off x="7509038" y="3981074"/>
            <a:ext cx="1767628" cy="0"/>
          </a:xfrm>
          <a:prstGeom prst="straightConnector1">
            <a:avLst/>
          </a:prstGeom>
          <a:ln>
            <a:headEnd type="triangl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72" name="直線矢印コネクタ 71">
            <a:extLst>
              <a:ext uri="{FF2B5EF4-FFF2-40B4-BE49-F238E27FC236}">
                <a16:creationId xmlns:a16="http://schemas.microsoft.com/office/drawing/2014/main" id="{FA4477B0-A5E7-2AB3-A3DA-2C5154B6099B}"/>
              </a:ext>
            </a:extLst>
          </p:cNvPr>
          <p:cNvCxnSpPr>
            <a:cxnSpLocks/>
          </p:cNvCxnSpPr>
          <p:nvPr/>
        </p:nvCxnSpPr>
        <p:spPr>
          <a:xfrm flipH="1">
            <a:off x="10024143" y="3981074"/>
            <a:ext cx="408817" cy="7316"/>
          </a:xfrm>
          <a:prstGeom prst="straightConnector1">
            <a:avLst/>
          </a:prstGeom>
          <a:ln>
            <a:headEnd type="triangl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74" name="直線矢印コネクタ 73">
            <a:extLst>
              <a:ext uri="{FF2B5EF4-FFF2-40B4-BE49-F238E27FC236}">
                <a16:creationId xmlns:a16="http://schemas.microsoft.com/office/drawing/2014/main" id="{ABA362DC-B311-73AE-1F5D-5D5362452766}"/>
              </a:ext>
            </a:extLst>
          </p:cNvPr>
          <p:cNvCxnSpPr>
            <a:cxnSpLocks/>
          </p:cNvCxnSpPr>
          <p:nvPr/>
        </p:nvCxnSpPr>
        <p:spPr>
          <a:xfrm flipH="1">
            <a:off x="1680358" y="6548308"/>
            <a:ext cx="719805" cy="0"/>
          </a:xfrm>
          <a:prstGeom prst="straightConnector1">
            <a:avLst/>
          </a:prstGeom>
          <a:ln>
            <a:headEnd type="triangle" w="med" len="med"/>
            <a:tailEnd type="triangle" w="med" len="med"/>
          </a:ln>
        </p:spPr>
        <p:style>
          <a:lnRef idx="2">
            <a:schemeClr val="accent2"/>
          </a:lnRef>
          <a:fillRef idx="0">
            <a:schemeClr val="accent2"/>
          </a:fillRef>
          <a:effectRef idx="1">
            <a:schemeClr val="accent2"/>
          </a:effectRef>
          <a:fontRef idx="minor">
            <a:schemeClr val="tx1"/>
          </a:fontRef>
        </p:style>
      </p:cxnSp>
      <p:cxnSp>
        <p:nvCxnSpPr>
          <p:cNvPr id="78" name="直線矢印コネクタ 77">
            <a:extLst>
              <a:ext uri="{FF2B5EF4-FFF2-40B4-BE49-F238E27FC236}">
                <a16:creationId xmlns:a16="http://schemas.microsoft.com/office/drawing/2014/main" id="{E6BADBB6-0983-6001-A7A4-CF514CFB0560}"/>
              </a:ext>
            </a:extLst>
          </p:cNvPr>
          <p:cNvCxnSpPr>
            <a:cxnSpLocks/>
          </p:cNvCxnSpPr>
          <p:nvPr/>
        </p:nvCxnSpPr>
        <p:spPr>
          <a:xfrm flipH="1">
            <a:off x="7606911" y="6548308"/>
            <a:ext cx="715918" cy="0"/>
          </a:xfrm>
          <a:prstGeom prst="straightConnector1">
            <a:avLst/>
          </a:prstGeom>
          <a:ln>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nvGrpSpPr>
          <p:cNvPr id="87" name="グループ化 86">
            <a:extLst>
              <a:ext uri="{FF2B5EF4-FFF2-40B4-BE49-F238E27FC236}">
                <a16:creationId xmlns:a16="http://schemas.microsoft.com/office/drawing/2014/main" id="{4614F553-953B-DEA0-AF6F-6EE5EF8484F9}"/>
              </a:ext>
            </a:extLst>
          </p:cNvPr>
          <p:cNvGrpSpPr/>
          <p:nvPr/>
        </p:nvGrpSpPr>
        <p:grpSpPr>
          <a:xfrm>
            <a:off x="1518751" y="2333244"/>
            <a:ext cx="540631" cy="377576"/>
            <a:chOff x="9985866" y="2582587"/>
            <a:chExt cx="382834" cy="267371"/>
          </a:xfrm>
        </p:grpSpPr>
        <p:sp>
          <p:nvSpPr>
            <p:cNvPr id="88" name="正方形/長方形 87">
              <a:extLst>
                <a:ext uri="{FF2B5EF4-FFF2-40B4-BE49-F238E27FC236}">
                  <a16:creationId xmlns:a16="http://schemas.microsoft.com/office/drawing/2014/main" id="{9499300C-EEF3-89A4-BB81-04C8B9D1DDAA}"/>
                </a:ext>
              </a:extLst>
            </p:cNvPr>
            <p:cNvSpPr/>
            <p:nvPr/>
          </p:nvSpPr>
          <p:spPr>
            <a:xfrm>
              <a:off x="9985866" y="2582587"/>
              <a:ext cx="382834" cy="267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正方形/長方形 88">
              <a:extLst>
                <a:ext uri="{FF2B5EF4-FFF2-40B4-BE49-F238E27FC236}">
                  <a16:creationId xmlns:a16="http://schemas.microsoft.com/office/drawing/2014/main" id="{346FD2D0-B02A-E425-B568-C64DBD8A9A1E}"/>
                </a:ext>
              </a:extLst>
            </p:cNvPr>
            <p:cNvSpPr/>
            <p:nvPr/>
          </p:nvSpPr>
          <p:spPr>
            <a:xfrm>
              <a:off x="9985866" y="2586250"/>
              <a:ext cx="193208" cy="134936"/>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90" name="グループ化 89">
            <a:extLst>
              <a:ext uri="{FF2B5EF4-FFF2-40B4-BE49-F238E27FC236}">
                <a16:creationId xmlns:a16="http://schemas.microsoft.com/office/drawing/2014/main" id="{2F220CA6-52B3-B952-2A16-1426697A355E}"/>
              </a:ext>
            </a:extLst>
          </p:cNvPr>
          <p:cNvGrpSpPr/>
          <p:nvPr/>
        </p:nvGrpSpPr>
        <p:grpSpPr>
          <a:xfrm>
            <a:off x="10792440" y="2316761"/>
            <a:ext cx="540631" cy="377576"/>
            <a:chOff x="9985866" y="2582587"/>
            <a:chExt cx="382834" cy="267371"/>
          </a:xfrm>
        </p:grpSpPr>
        <p:sp>
          <p:nvSpPr>
            <p:cNvPr id="91" name="正方形/長方形 90">
              <a:extLst>
                <a:ext uri="{FF2B5EF4-FFF2-40B4-BE49-F238E27FC236}">
                  <a16:creationId xmlns:a16="http://schemas.microsoft.com/office/drawing/2014/main" id="{87B9E437-06B7-315A-C526-02C556FF8FBE}"/>
                </a:ext>
              </a:extLst>
            </p:cNvPr>
            <p:cNvSpPr/>
            <p:nvPr/>
          </p:nvSpPr>
          <p:spPr>
            <a:xfrm>
              <a:off x="9985866" y="2582587"/>
              <a:ext cx="382834" cy="26737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2" name="正方形/長方形 91">
              <a:extLst>
                <a:ext uri="{FF2B5EF4-FFF2-40B4-BE49-F238E27FC236}">
                  <a16:creationId xmlns:a16="http://schemas.microsoft.com/office/drawing/2014/main" id="{33CAFFEF-A179-3E8E-EA73-1E5AA09EBD9F}"/>
                </a:ext>
              </a:extLst>
            </p:cNvPr>
            <p:cNvSpPr/>
            <p:nvPr/>
          </p:nvSpPr>
          <p:spPr>
            <a:xfrm>
              <a:off x="9985866" y="2586250"/>
              <a:ext cx="193208" cy="134936"/>
            </a:xfrm>
            <a:prstGeom prst="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96" name="グラフィックス 95" descr="Web カメラ 単色塗りつぶし">
            <a:extLst>
              <a:ext uri="{FF2B5EF4-FFF2-40B4-BE49-F238E27FC236}">
                <a16:creationId xmlns:a16="http://schemas.microsoft.com/office/drawing/2014/main" id="{1A3BD87B-6B91-7735-3283-29EF329975B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99369" y="2000579"/>
            <a:ext cx="914400" cy="914400"/>
          </a:xfrm>
          <a:prstGeom prst="rect">
            <a:avLst/>
          </a:prstGeom>
        </p:spPr>
      </p:pic>
      <p:pic>
        <p:nvPicPr>
          <p:cNvPr id="97" name="グラフィックス 96" descr="Web カメラ 単色塗りつぶし">
            <a:extLst>
              <a:ext uri="{FF2B5EF4-FFF2-40B4-BE49-F238E27FC236}">
                <a16:creationId xmlns:a16="http://schemas.microsoft.com/office/drawing/2014/main" id="{E303D573-67C2-BEAE-3AB7-290477D456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917158" y="1997330"/>
            <a:ext cx="914400" cy="914400"/>
          </a:xfrm>
          <a:prstGeom prst="rect">
            <a:avLst/>
          </a:prstGeom>
        </p:spPr>
      </p:pic>
      <p:sp>
        <p:nvSpPr>
          <p:cNvPr id="98" name="四角形: 角を丸くする 97">
            <a:extLst>
              <a:ext uri="{FF2B5EF4-FFF2-40B4-BE49-F238E27FC236}">
                <a16:creationId xmlns:a16="http://schemas.microsoft.com/office/drawing/2014/main" id="{8868FDB6-304E-852D-FBEC-52DC79942756}"/>
              </a:ext>
            </a:extLst>
          </p:cNvPr>
          <p:cNvSpPr/>
          <p:nvPr/>
        </p:nvSpPr>
        <p:spPr>
          <a:xfrm>
            <a:off x="264848" y="2794851"/>
            <a:ext cx="2662634" cy="338008"/>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dirty="0" err="1"/>
              <a:t>FullHD</a:t>
            </a:r>
            <a:r>
              <a:rPr lang="ja-JP" altLang="en-US" dirty="0"/>
              <a:t> </a:t>
            </a:r>
            <a:r>
              <a:rPr lang="en-US" altLang="ja-JP" dirty="0"/>
              <a:t>Web</a:t>
            </a:r>
            <a:r>
              <a:rPr lang="ja-JP" altLang="en-US" dirty="0"/>
              <a:t>カメラ映像</a:t>
            </a:r>
            <a:endParaRPr kumimoji="1" lang="ja-JP" altLang="en-US" dirty="0"/>
          </a:p>
        </p:txBody>
      </p:sp>
      <p:sp>
        <p:nvSpPr>
          <p:cNvPr id="99" name="四角形: 角を丸くする 98">
            <a:extLst>
              <a:ext uri="{FF2B5EF4-FFF2-40B4-BE49-F238E27FC236}">
                <a16:creationId xmlns:a16="http://schemas.microsoft.com/office/drawing/2014/main" id="{4903C81A-A904-AABE-3254-1DCCDD1B6739}"/>
              </a:ext>
            </a:extLst>
          </p:cNvPr>
          <p:cNvSpPr/>
          <p:nvPr/>
        </p:nvSpPr>
        <p:spPr>
          <a:xfrm>
            <a:off x="9403862" y="2794851"/>
            <a:ext cx="2662634" cy="338008"/>
          </a:xfrm>
          <a:prstGeom prst="roundRect">
            <a:avLst/>
          </a:prstGeom>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ja-JP" dirty="0" err="1"/>
              <a:t>FullHD</a:t>
            </a:r>
            <a:r>
              <a:rPr lang="ja-JP" altLang="en-US" dirty="0"/>
              <a:t> </a:t>
            </a:r>
            <a:r>
              <a:rPr lang="en-US" altLang="ja-JP" dirty="0"/>
              <a:t>Web</a:t>
            </a:r>
            <a:r>
              <a:rPr lang="ja-JP" altLang="en-US" dirty="0"/>
              <a:t>カメラ映像</a:t>
            </a:r>
            <a:endParaRPr kumimoji="1" lang="ja-JP" altLang="en-US" dirty="0"/>
          </a:p>
        </p:txBody>
      </p:sp>
      <p:sp>
        <p:nvSpPr>
          <p:cNvPr id="101" name="テキスト ボックス 100">
            <a:extLst>
              <a:ext uri="{FF2B5EF4-FFF2-40B4-BE49-F238E27FC236}">
                <a16:creationId xmlns:a16="http://schemas.microsoft.com/office/drawing/2014/main" id="{85CC41AE-68D4-5349-AB29-158835F1F1FE}"/>
              </a:ext>
            </a:extLst>
          </p:cNvPr>
          <p:cNvSpPr txBox="1"/>
          <p:nvPr/>
        </p:nvSpPr>
        <p:spPr>
          <a:xfrm>
            <a:off x="6041643" y="4444707"/>
            <a:ext cx="1792029" cy="369332"/>
          </a:xfrm>
          <a:prstGeom prst="rect">
            <a:avLst/>
          </a:prstGeom>
          <a:noFill/>
        </p:spPr>
        <p:txBody>
          <a:bodyPr wrap="square">
            <a:spAutoFit/>
          </a:bodyPr>
          <a:lstStyle/>
          <a:p>
            <a:r>
              <a:rPr lang="ja-JP" altLang="en-US" dirty="0"/>
              <a:t>100.98.229.112</a:t>
            </a:r>
          </a:p>
        </p:txBody>
      </p:sp>
      <p:sp>
        <p:nvSpPr>
          <p:cNvPr id="102" name="テキスト ボックス 101">
            <a:extLst>
              <a:ext uri="{FF2B5EF4-FFF2-40B4-BE49-F238E27FC236}">
                <a16:creationId xmlns:a16="http://schemas.microsoft.com/office/drawing/2014/main" id="{1461049F-604F-E256-63A0-18DE8EA0D056}"/>
              </a:ext>
            </a:extLst>
          </p:cNvPr>
          <p:cNvSpPr txBox="1"/>
          <p:nvPr/>
        </p:nvSpPr>
        <p:spPr>
          <a:xfrm>
            <a:off x="8322829" y="4545158"/>
            <a:ext cx="1792029" cy="369332"/>
          </a:xfrm>
          <a:prstGeom prst="rect">
            <a:avLst/>
          </a:prstGeom>
          <a:noFill/>
        </p:spPr>
        <p:txBody>
          <a:bodyPr wrap="square">
            <a:spAutoFit/>
          </a:bodyPr>
          <a:lstStyle/>
          <a:p>
            <a:r>
              <a:rPr lang="ja-JP" altLang="en-US" dirty="0"/>
              <a:t>100.</a:t>
            </a:r>
            <a:r>
              <a:rPr lang="en-US" altLang="ja-JP" dirty="0"/>
              <a:t>127.57.72</a:t>
            </a:r>
            <a:endParaRPr lang="ja-JP" altLang="en-US" dirty="0"/>
          </a:p>
        </p:txBody>
      </p:sp>
    </p:spTree>
    <p:extLst>
      <p:ext uri="{BB962C8B-B14F-4D97-AF65-F5344CB8AC3E}">
        <p14:creationId xmlns:p14="http://schemas.microsoft.com/office/powerpoint/2010/main" val="27161475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9B1B65-E067-D2C9-CFF8-3D73D0A15A1E}"/>
              </a:ext>
            </a:extLst>
          </p:cNvPr>
          <p:cNvSpPr>
            <a:spLocks noGrp="1"/>
          </p:cNvSpPr>
          <p:nvPr>
            <p:ph type="title"/>
          </p:nvPr>
        </p:nvSpPr>
        <p:spPr/>
        <p:txBody>
          <a:bodyPr/>
          <a:lstStyle/>
          <a:p>
            <a:r>
              <a:rPr kumimoji="1" lang="ja-JP" altLang="en-US" dirty="0"/>
              <a:t>動作例（</a:t>
            </a:r>
            <a:r>
              <a:rPr kumimoji="1" lang="en-US" altLang="ja-JP" dirty="0"/>
              <a:t>PC</a:t>
            </a:r>
            <a:r>
              <a:rPr kumimoji="1" lang="ja-JP" altLang="en-US" dirty="0"/>
              <a:t>　↔　</a:t>
            </a:r>
            <a:r>
              <a:rPr kumimoji="1" lang="en-US" altLang="ja-JP" dirty="0"/>
              <a:t>iPhone</a:t>
            </a:r>
            <a:r>
              <a:rPr kumimoji="1" lang="ja-JP" altLang="en-US" dirty="0"/>
              <a:t>）</a:t>
            </a:r>
          </a:p>
        </p:txBody>
      </p:sp>
      <p:sp>
        <p:nvSpPr>
          <p:cNvPr id="3" name="コンテンツ プレースホルダー 2">
            <a:extLst>
              <a:ext uri="{FF2B5EF4-FFF2-40B4-BE49-F238E27FC236}">
                <a16:creationId xmlns:a16="http://schemas.microsoft.com/office/drawing/2014/main" id="{191D9A9E-0AD8-FF9E-8511-73D5F77EE8DA}"/>
              </a:ext>
            </a:extLst>
          </p:cNvPr>
          <p:cNvSpPr>
            <a:spLocks noGrp="1"/>
          </p:cNvSpPr>
          <p:nvPr>
            <p:ph idx="1"/>
          </p:nvPr>
        </p:nvSpPr>
        <p:spPr>
          <a:xfrm>
            <a:off x="838200" y="5865500"/>
            <a:ext cx="10515600" cy="900113"/>
          </a:xfrm>
        </p:spPr>
        <p:txBody>
          <a:bodyPr>
            <a:normAutofit fontScale="92500" lnSpcReduction="10000"/>
          </a:bodyPr>
          <a:lstStyle/>
          <a:p>
            <a:pPr marL="0" indent="0">
              <a:buNone/>
            </a:pPr>
            <a:r>
              <a:rPr kumimoji="1" lang="ja-JP" altLang="en-US" dirty="0"/>
              <a:t>医学部のフリー</a:t>
            </a:r>
            <a:r>
              <a:rPr kumimoji="1" lang="en-US" altLang="ja-JP" dirty="0" err="1"/>
              <a:t>Wifi</a:t>
            </a:r>
            <a:r>
              <a:rPr kumimoji="1" lang="ja-JP" altLang="en-US" dirty="0"/>
              <a:t>を使用</a:t>
            </a:r>
            <a:endParaRPr kumimoji="1" lang="en-US" altLang="ja-JP" dirty="0"/>
          </a:p>
          <a:p>
            <a:pPr marL="0" indent="0">
              <a:buNone/>
            </a:pPr>
            <a:r>
              <a:rPr kumimoji="1" lang="ja-JP" altLang="en-US" dirty="0"/>
              <a:t>両デバイス，上り・下りともに</a:t>
            </a:r>
            <a:r>
              <a:rPr kumimoji="1" lang="en-US" altLang="ja-JP" dirty="0"/>
              <a:t>3Mbps</a:t>
            </a:r>
            <a:r>
              <a:rPr kumimoji="1" lang="ja-JP" altLang="en-US" dirty="0"/>
              <a:t>程度の通信速度</a:t>
            </a:r>
          </a:p>
        </p:txBody>
      </p:sp>
      <p:pic>
        <p:nvPicPr>
          <p:cNvPr id="5" name="図 4" descr="テレビの画面のスクリーンショット&#10;&#10;AI 生成コンテンツは誤りを含む可能性があります。">
            <a:extLst>
              <a:ext uri="{FF2B5EF4-FFF2-40B4-BE49-F238E27FC236}">
                <a16:creationId xmlns:a16="http://schemas.microsoft.com/office/drawing/2014/main" id="{E2220F93-23AF-99C0-B662-C252183219DE}"/>
              </a:ext>
            </a:extLst>
          </p:cNvPr>
          <p:cNvPicPr>
            <a:picLocks noChangeAspect="1"/>
          </p:cNvPicPr>
          <p:nvPr/>
        </p:nvPicPr>
        <p:blipFill>
          <a:blip r:embed="rId2"/>
          <a:stretch>
            <a:fillRect/>
          </a:stretch>
        </p:blipFill>
        <p:spPr>
          <a:xfrm>
            <a:off x="2228850" y="1825625"/>
            <a:ext cx="3471056" cy="3904938"/>
          </a:xfrm>
          <a:prstGeom prst="rect">
            <a:avLst/>
          </a:prstGeom>
        </p:spPr>
      </p:pic>
      <p:pic>
        <p:nvPicPr>
          <p:cNvPr id="7" name="図 6" descr="グラフィカル ユーザー インターフェイス&#10;&#10;AI 生成コンテンツは誤りを含む可能性があります。">
            <a:extLst>
              <a:ext uri="{FF2B5EF4-FFF2-40B4-BE49-F238E27FC236}">
                <a16:creationId xmlns:a16="http://schemas.microsoft.com/office/drawing/2014/main" id="{18F71D7F-36A0-42F9-AA31-FDDEAB2A08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244662" y="1615919"/>
            <a:ext cx="1996814" cy="4324350"/>
          </a:xfrm>
          <a:prstGeom prst="rect">
            <a:avLst/>
          </a:prstGeom>
        </p:spPr>
      </p:pic>
    </p:spTree>
    <p:extLst>
      <p:ext uri="{BB962C8B-B14F-4D97-AF65-F5344CB8AC3E}">
        <p14:creationId xmlns:p14="http://schemas.microsoft.com/office/powerpoint/2010/main" val="23391700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4EAF66-87B7-DB3F-69AB-6587150BA822}"/>
              </a:ext>
            </a:extLst>
          </p:cNvPr>
          <p:cNvSpPr>
            <a:spLocks noGrp="1"/>
          </p:cNvSpPr>
          <p:nvPr>
            <p:ph type="title"/>
          </p:nvPr>
        </p:nvSpPr>
        <p:spPr/>
        <p:txBody>
          <a:bodyPr/>
          <a:lstStyle/>
          <a:p>
            <a:r>
              <a:rPr kumimoji="1" lang="ja-JP" altLang="en-US" dirty="0"/>
              <a:t>課題</a:t>
            </a:r>
          </a:p>
        </p:txBody>
      </p:sp>
      <p:sp>
        <p:nvSpPr>
          <p:cNvPr id="3" name="コンテンツ プレースホルダー 2">
            <a:extLst>
              <a:ext uri="{FF2B5EF4-FFF2-40B4-BE49-F238E27FC236}">
                <a16:creationId xmlns:a16="http://schemas.microsoft.com/office/drawing/2014/main" id="{57B7DE20-9138-DE77-A662-5C1D81C5E829}"/>
              </a:ext>
            </a:extLst>
          </p:cNvPr>
          <p:cNvSpPr>
            <a:spLocks noGrp="1"/>
          </p:cNvSpPr>
          <p:nvPr>
            <p:ph idx="1"/>
          </p:nvPr>
        </p:nvSpPr>
        <p:spPr/>
        <p:txBody>
          <a:bodyPr>
            <a:normAutofit fontScale="92500" lnSpcReduction="10000"/>
          </a:bodyPr>
          <a:lstStyle/>
          <a:p>
            <a:r>
              <a:rPr kumimoji="1" lang="ja-JP" altLang="en-US" dirty="0"/>
              <a:t>大学のフリー</a:t>
            </a:r>
            <a:r>
              <a:rPr kumimoji="1" lang="en-US" altLang="ja-JP" dirty="0" err="1"/>
              <a:t>Wifi</a:t>
            </a:r>
            <a:r>
              <a:rPr kumimoji="1" lang="ja-JP" altLang="en-US" dirty="0"/>
              <a:t>同士や，フリー</a:t>
            </a:r>
            <a:r>
              <a:rPr kumimoji="1" lang="en-US" altLang="ja-JP" dirty="0" err="1"/>
              <a:t>Wifi</a:t>
            </a:r>
            <a:r>
              <a:rPr kumimoji="1" lang="ja-JP" altLang="en-US" dirty="0"/>
              <a:t>と携帯回線との通信でのみ動作を確認したため，正規の大学のネットワークからアクセスできるか不明（大学のセキュリティを</a:t>
            </a:r>
            <a:r>
              <a:rPr lang="en-US" altLang="ja-JP" dirty="0" err="1"/>
              <a:t>Tailscale</a:t>
            </a:r>
            <a:r>
              <a:rPr lang="ja-JP" altLang="en-US" dirty="0"/>
              <a:t>が突破できるか不明</a:t>
            </a:r>
            <a:r>
              <a:rPr kumimoji="1" lang="ja-JP" altLang="en-US" dirty="0"/>
              <a:t>）</a:t>
            </a:r>
            <a:endParaRPr kumimoji="1" lang="en-US" altLang="ja-JP" dirty="0"/>
          </a:p>
          <a:p>
            <a:r>
              <a:rPr kumimoji="1" lang="en-US" altLang="ja-JP" dirty="0"/>
              <a:t>VPN</a:t>
            </a:r>
            <a:r>
              <a:rPr lang="ja-JP" altLang="en-US" dirty="0"/>
              <a:t>の構築方法は使用したサービス以外の方法も考えられる</a:t>
            </a:r>
            <a:endParaRPr lang="en-US" altLang="ja-JP" dirty="0"/>
          </a:p>
          <a:p>
            <a:r>
              <a:rPr kumimoji="1" lang="en-US" altLang="ja-JP" dirty="0"/>
              <a:t>Gemini</a:t>
            </a:r>
            <a:r>
              <a:rPr kumimoji="1" lang="ja-JP" altLang="en-US" dirty="0"/>
              <a:t>で生成したコードのため特にシグナリング時において適切に暗号化されているか（同じ</a:t>
            </a:r>
            <a:r>
              <a:rPr kumimoji="1" lang="en-US" altLang="ja-JP" dirty="0"/>
              <a:t>VPN</a:t>
            </a:r>
            <a:r>
              <a:rPr kumimoji="1" lang="ja-JP" altLang="en-US" dirty="0"/>
              <a:t>ネットワーク内の他の</a:t>
            </a:r>
            <a:r>
              <a:rPr kumimoji="1" lang="en-US" altLang="ja-JP" dirty="0"/>
              <a:t>PC</a:t>
            </a:r>
            <a:r>
              <a:rPr kumimoji="1" lang="ja-JP" altLang="en-US" dirty="0"/>
              <a:t>から見えてしまわないか）などについては検証が必要</a:t>
            </a:r>
            <a:endParaRPr kumimoji="1" lang="en-US" altLang="ja-JP" dirty="0"/>
          </a:p>
          <a:p>
            <a:r>
              <a:rPr lang="ja-JP" altLang="en-US" dirty="0"/>
              <a:t>検証用</a:t>
            </a:r>
            <a:r>
              <a:rPr kumimoji="1" lang="ja-JP" altLang="en-US" dirty="0"/>
              <a:t>コードであるため動画をやり取りしているだけであり，カメラやマイクをミュートしたり，相談側が提示したカルテに評価側がメモを行ったりといった機能はっ存在しない</a:t>
            </a:r>
            <a:endParaRPr kumimoji="1" lang="en-US" altLang="ja-JP" dirty="0"/>
          </a:p>
          <a:p>
            <a:r>
              <a:rPr kumimoji="1" lang="ja-JP" altLang="en-US" dirty="0"/>
              <a:t>等々．．．</a:t>
            </a:r>
          </a:p>
        </p:txBody>
      </p:sp>
    </p:spTree>
    <p:extLst>
      <p:ext uri="{BB962C8B-B14F-4D97-AF65-F5344CB8AC3E}">
        <p14:creationId xmlns:p14="http://schemas.microsoft.com/office/powerpoint/2010/main" val="356409907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TotalTime>
  <Words>1046</Words>
  <Application>Microsoft Office PowerPoint</Application>
  <PresentationFormat>ワイド画面</PresentationFormat>
  <Paragraphs>154</Paragraphs>
  <Slides>13</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13</vt:i4>
      </vt:variant>
    </vt:vector>
  </HeadingPairs>
  <TitlesOfParts>
    <vt:vector size="17" baseType="lpstr">
      <vt:lpstr>游ゴシック</vt:lpstr>
      <vt:lpstr>游ゴシック Light</vt:lpstr>
      <vt:lpstr>Arial</vt:lpstr>
      <vt:lpstr>Office テーマ</vt:lpstr>
      <vt:lpstr>VPN上での映像共有案</vt:lpstr>
      <vt:lpstr>前提（ネットワークのイメージ）</vt:lpstr>
      <vt:lpstr>前提（情報を暗号化してやり取りしたい）</vt:lpstr>
      <vt:lpstr>前提（VPNで仮想的な専用線を用意）</vt:lpstr>
      <vt:lpstr>VPN（インターネットVPNの場合）</vt:lpstr>
      <vt:lpstr>VPNの実現方法</vt:lpstr>
      <vt:lpstr>実装（VPN）</vt:lpstr>
      <vt:lpstr>WebRTC(Real-Time Communication)</vt:lpstr>
      <vt:lpstr>WebRTC(Real-Time Communication)</vt:lpstr>
      <vt:lpstr>WebRTCを使った会議システム</vt:lpstr>
      <vt:lpstr>内部実装</vt:lpstr>
      <vt:lpstr>動作例（PC　↔　iPhone）</vt:lpstr>
      <vt:lpstr>課題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yudai itou</dc:creator>
  <cp:lastModifiedBy>yudai itou</cp:lastModifiedBy>
  <cp:revision>36</cp:revision>
  <dcterms:created xsi:type="dcterms:W3CDTF">2025-12-25T00:00:26Z</dcterms:created>
  <dcterms:modified xsi:type="dcterms:W3CDTF">2025-12-26T07:30:05Z</dcterms:modified>
</cp:coreProperties>
</file>